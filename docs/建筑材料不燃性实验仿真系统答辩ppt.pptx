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633F99-0AFC-44FE-9070-D7DD1D2C2C79}" v="44" dt="2026-07-04T14:49:12.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10"/>
  </p:normalViewPr>
  <p:slideViewPr>
    <p:cSldViewPr snapToGrid="0" snapToObjects="1">
      <p:cViewPr varScale="1">
        <p:scale>
          <a:sx n="66" d="100"/>
          <a:sy n="66" d="100"/>
        </p:scale>
        <p:origin x="45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932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D08"/>
        </a:solidFill>
        <a:effectLst/>
      </p:bgPr>
    </p:bg>
    <p:spTree>
      <p:nvGrpSpPr>
        <p:cNvPr id="1" name=""/>
        <p:cNvGrpSpPr/>
        <p:nvPr/>
      </p:nvGrpSpPr>
      <p:grpSpPr>
        <a:xfrm>
          <a:off x="0" y="0"/>
          <a:ext cx="0" cy="0"/>
          <a:chOff x="0" y="0"/>
          <a:chExt cx="0" cy="0"/>
        </a:xfrm>
      </p:grpSpPr>
      <p:sp>
        <p:nvSpPr>
          <p:cNvPr id="2" name="Shape 0"/>
          <p:cNvSpPr/>
          <p:nvPr/>
        </p:nvSpPr>
        <p:spPr>
          <a:xfrm>
            <a:off x="8686800" y="0"/>
            <a:ext cx="3504895" cy="6858000"/>
          </a:xfrm>
          <a:prstGeom prst="rect">
            <a:avLst/>
          </a:prstGeom>
          <a:solidFill>
            <a:srgbClr val="96281B">
              <a:alpha val="70000"/>
            </a:srgbClr>
          </a:solidFill>
          <a:ln/>
        </p:spPr>
        <p:txBody>
          <a:bodyPr/>
          <a:lstStyle/>
          <a:p>
            <a:endParaRPr lang="zh-CN" altLang="en-US"/>
          </a:p>
        </p:txBody>
      </p:sp>
      <p:sp>
        <p:nvSpPr>
          <p:cNvPr id="3" name="Shape 1"/>
          <p:cNvSpPr/>
          <p:nvPr/>
        </p:nvSpPr>
        <p:spPr>
          <a:xfrm>
            <a:off x="9601200" y="0"/>
            <a:ext cx="2590495" cy="6858000"/>
          </a:xfrm>
          <a:prstGeom prst="rect">
            <a:avLst/>
          </a:prstGeom>
          <a:solidFill>
            <a:srgbClr val="C0392B">
              <a:alpha val="80000"/>
            </a:srgbClr>
          </a:solidFill>
          <a:ln/>
        </p:spPr>
        <p:txBody>
          <a:bodyPr/>
          <a:lstStyle/>
          <a:p>
            <a:endParaRPr lang="zh-CN" altLang="en-US"/>
          </a:p>
        </p:txBody>
      </p:sp>
      <p:sp>
        <p:nvSpPr>
          <p:cNvPr id="4" name="Shape 2"/>
          <p:cNvSpPr/>
          <p:nvPr/>
        </p:nvSpPr>
        <p:spPr>
          <a:xfrm>
            <a:off x="10972800" y="0"/>
            <a:ext cx="1218895" cy="6858000"/>
          </a:xfrm>
          <a:prstGeom prst="rect">
            <a:avLst/>
          </a:prstGeom>
          <a:solidFill>
            <a:srgbClr val="D35400">
              <a:alpha val="90000"/>
            </a:srgbClr>
          </a:solidFill>
          <a:ln/>
        </p:spPr>
        <p:txBody>
          <a:bodyPr/>
          <a:lstStyle/>
          <a:p>
            <a:endParaRPr lang="zh-CN" altLang="en-US"/>
          </a:p>
        </p:txBody>
      </p:sp>
      <p:sp>
        <p:nvSpPr>
          <p:cNvPr id="5" name="Shape 3"/>
          <p:cNvSpPr/>
          <p:nvPr/>
        </p:nvSpPr>
        <p:spPr>
          <a:xfrm>
            <a:off x="0" y="0"/>
            <a:ext cx="12191695" cy="54864"/>
          </a:xfrm>
          <a:prstGeom prst="rect">
            <a:avLst/>
          </a:prstGeom>
          <a:solidFill>
            <a:srgbClr val="C0392B"/>
          </a:solidFill>
          <a:ln/>
        </p:spPr>
        <p:txBody>
          <a:bodyPr/>
          <a:lstStyle/>
          <a:p>
            <a:endParaRPr lang="zh-CN" altLang="en-US"/>
          </a:p>
        </p:txBody>
      </p:sp>
      <p:sp>
        <p:nvSpPr>
          <p:cNvPr id="6" name="Shape 4"/>
          <p:cNvSpPr/>
          <p:nvPr/>
        </p:nvSpPr>
        <p:spPr>
          <a:xfrm>
            <a:off x="0" y="54864"/>
            <a:ext cx="12191695" cy="27432"/>
          </a:xfrm>
          <a:prstGeom prst="rect">
            <a:avLst/>
          </a:prstGeom>
          <a:solidFill>
            <a:srgbClr val="E67E22"/>
          </a:solidFill>
          <a:ln/>
        </p:spPr>
        <p:txBody>
          <a:bodyPr/>
          <a:lstStyle/>
          <a:p>
            <a:endParaRPr lang="zh-CN" altLang="en-US"/>
          </a:p>
        </p:txBody>
      </p:sp>
      <p:sp>
        <p:nvSpPr>
          <p:cNvPr id="7" name="Shape 5"/>
          <p:cNvSpPr/>
          <p:nvPr/>
        </p:nvSpPr>
        <p:spPr>
          <a:xfrm>
            <a:off x="0" y="82296"/>
            <a:ext cx="12191695" cy="18288"/>
          </a:xfrm>
          <a:prstGeom prst="rect">
            <a:avLst/>
          </a:prstGeom>
          <a:solidFill>
            <a:srgbClr val="F39C12"/>
          </a:solidFill>
          <a:ln/>
        </p:spPr>
        <p:txBody>
          <a:bodyPr/>
          <a:lstStyle/>
          <a:p>
            <a:endParaRPr lang="zh-CN" altLang="en-US"/>
          </a:p>
        </p:txBody>
      </p:sp>
      <p:sp>
        <p:nvSpPr>
          <p:cNvPr id="8" name="Shape 6"/>
          <p:cNvSpPr/>
          <p:nvPr/>
        </p:nvSpPr>
        <p:spPr>
          <a:xfrm>
            <a:off x="731520" y="1463040"/>
            <a:ext cx="1097280" cy="36576"/>
          </a:xfrm>
          <a:prstGeom prst="rect">
            <a:avLst/>
          </a:prstGeom>
          <a:solidFill>
            <a:srgbClr val="C0392B"/>
          </a:solidFill>
          <a:ln/>
        </p:spPr>
        <p:txBody>
          <a:bodyPr/>
          <a:lstStyle/>
          <a:p>
            <a:endParaRPr lang="zh-CN" altLang="en-US"/>
          </a:p>
        </p:txBody>
      </p:sp>
      <p:sp>
        <p:nvSpPr>
          <p:cNvPr id="9" name="Text 7"/>
          <p:cNvSpPr/>
          <p:nvPr/>
        </p:nvSpPr>
        <p:spPr>
          <a:xfrm>
            <a:off x="731520" y="1645920"/>
            <a:ext cx="7315200" cy="1097280"/>
          </a:xfrm>
          <a:prstGeom prst="rect">
            <a:avLst/>
          </a:prstGeom>
          <a:noFill/>
          <a:ln/>
        </p:spPr>
        <p:txBody>
          <a:bodyPr wrap="square" rtlCol="0" anchor="ctr"/>
          <a:lstStyle/>
          <a:p>
            <a:pPr marL="0" indent="0">
              <a:buNone/>
            </a:pPr>
            <a:r>
              <a:rPr lang="en-US" sz="5400" b="1" dirty="0">
                <a:solidFill>
                  <a:srgbClr val="FAFAF7"/>
                </a:solidFill>
                <a:latin typeface="Arial Black" pitchFamily="34" charset="0"/>
                <a:ea typeface="Arial Black" pitchFamily="34" charset="-122"/>
                <a:cs typeface="Arial Black" pitchFamily="34" charset="-120"/>
              </a:rPr>
              <a:t>ISO 11820</a:t>
            </a:r>
            <a:endParaRPr lang="en-US" sz="5400" dirty="0"/>
          </a:p>
        </p:txBody>
      </p:sp>
      <p:sp>
        <p:nvSpPr>
          <p:cNvPr id="10" name="Text 8"/>
          <p:cNvSpPr/>
          <p:nvPr/>
        </p:nvSpPr>
        <p:spPr>
          <a:xfrm>
            <a:off x="731520" y="2743200"/>
            <a:ext cx="7772400" cy="822960"/>
          </a:xfrm>
          <a:prstGeom prst="rect">
            <a:avLst/>
          </a:prstGeom>
          <a:noFill/>
          <a:ln/>
        </p:spPr>
        <p:txBody>
          <a:bodyPr wrap="square" rtlCol="0" anchor="ctr"/>
          <a:lstStyle/>
          <a:p>
            <a:pPr marL="0" indent="0">
              <a:buNone/>
            </a:pPr>
            <a:r>
              <a:rPr lang="en-US" sz="3400" b="1" dirty="0">
                <a:solidFill>
                  <a:srgbClr val="FAFAF7"/>
                </a:solidFill>
                <a:latin typeface="Microsoft YaHei" pitchFamily="34" charset="0"/>
                <a:ea typeface="Microsoft YaHei" pitchFamily="34" charset="-122"/>
                <a:cs typeface="Microsoft YaHei" pitchFamily="34" charset="-120"/>
              </a:rPr>
              <a:t>建筑材料不燃性试验仿真系统</a:t>
            </a:r>
            <a:endParaRPr lang="en-US" sz="3400" dirty="0"/>
          </a:p>
        </p:txBody>
      </p:sp>
      <p:sp>
        <p:nvSpPr>
          <p:cNvPr id="11" name="Text 9"/>
          <p:cNvSpPr/>
          <p:nvPr/>
        </p:nvSpPr>
        <p:spPr>
          <a:xfrm>
            <a:off x="731520" y="3566160"/>
            <a:ext cx="7772400" cy="457200"/>
          </a:xfrm>
          <a:prstGeom prst="rect">
            <a:avLst/>
          </a:prstGeom>
          <a:noFill/>
          <a:ln/>
        </p:spPr>
        <p:txBody>
          <a:bodyPr wrap="square" rtlCol="0" anchor="ctr"/>
          <a:lstStyle/>
          <a:p>
            <a:pPr marL="0" indent="0">
              <a:buNone/>
            </a:pPr>
            <a:r>
              <a:rPr lang="en-US" sz="1200" kern="0" spc="200" dirty="0">
                <a:solidFill>
                  <a:srgbClr val="E67E22"/>
                </a:solidFill>
                <a:latin typeface="Calibri" pitchFamily="34" charset="0"/>
                <a:ea typeface="Calibri" pitchFamily="34" charset="-122"/>
                <a:cs typeface="Calibri" pitchFamily="34" charset="-120"/>
              </a:rPr>
              <a:t>Building Material Non-Combustibility Test Simulation System</a:t>
            </a:r>
            <a:endParaRPr lang="en-US" sz="1200" dirty="0"/>
          </a:p>
        </p:txBody>
      </p:sp>
      <p:sp>
        <p:nvSpPr>
          <p:cNvPr id="12" name="Shape 10"/>
          <p:cNvSpPr/>
          <p:nvPr/>
        </p:nvSpPr>
        <p:spPr>
          <a:xfrm>
            <a:off x="731520" y="5120640"/>
            <a:ext cx="3200400" cy="13716"/>
          </a:xfrm>
          <a:prstGeom prst="rect">
            <a:avLst/>
          </a:prstGeom>
          <a:solidFill>
            <a:srgbClr val="E67E22"/>
          </a:solidFill>
          <a:ln/>
        </p:spPr>
        <p:txBody>
          <a:bodyPr/>
          <a:lstStyle/>
          <a:p>
            <a:endParaRPr lang="zh-CN" altLang="en-US"/>
          </a:p>
        </p:txBody>
      </p:sp>
      <p:sp>
        <p:nvSpPr>
          <p:cNvPr id="13" name="Text 11"/>
          <p:cNvSpPr/>
          <p:nvPr/>
        </p:nvSpPr>
        <p:spPr>
          <a:xfrm>
            <a:off x="731520" y="5303520"/>
            <a:ext cx="4572000" cy="457200"/>
          </a:xfrm>
          <a:prstGeom prst="rect">
            <a:avLst/>
          </a:prstGeom>
          <a:noFill/>
          <a:ln/>
        </p:spPr>
        <p:txBody>
          <a:bodyPr wrap="square" rtlCol="0" anchor="ctr"/>
          <a:lstStyle/>
          <a:p>
            <a:pPr marL="0" indent="0">
              <a:buNone/>
            </a:pPr>
            <a:r>
              <a:rPr lang="en-US" sz="1600" dirty="0">
                <a:solidFill>
                  <a:srgbClr val="A09088"/>
                </a:solidFill>
                <a:latin typeface="Microsoft YaHei" pitchFamily="34" charset="0"/>
                <a:ea typeface="Microsoft YaHei" pitchFamily="34" charset="-122"/>
                <a:cs typeface="Microsoft YaHei" pitchFamily="34" charset="-120"/>
              </a:rPr>
              <a:t>课程实践项目答辩</a:t>
            </a:r>
            <a:endParaRPr lang="en-US" sz="1600" dirty="0"/>
          </a:p>
        </p:txBody>
      </p:sp>
      <p:sp>
        <p:nvSpPr>
          <p:cNvPr id="14" name="Text 12"/>
          <p:cNvSpPr/>
          <p:nvPr/>
        </p:nvSpPr>
        <p:spPr>
          <a:xfrm>
            <a:off x="731520" y="5760720"/>
            <a:ext cx="5486400" cy="365760"/>
          </a:xfrm>
          <a:prstGeom prst="rect">
            <a:avLst/>
          </a:prstGeom>
          <a:noFill/>
          <a:ln/>
        </p:spPr>
        <p:txBody>
          <a:bodyPr wrap="square" rtlCol="0" anchor="ctr"/>
          <a:lstStyle/>
          <a:p>
            <a:r>
              <a:rPr lang="en-US" sz="1200" dirty="0" err="1">
                <a:solidFill>
                  <a:srgbClr val="BFB5AF"/>
                </a:solidFill>
                <a:latin typeface="Calibri" pitchFamily="34" charset="0"/>
                <a:ea typeface="Calibri" pitchFamily="34" charset="-122"/>
                <a:cs typeface="Calibri" pitchFamily="34" charset="-120"/>
              </a:rPr>
              <a:t>团队</a:t>
            </a:r>
            <a:r>
              <a:rPr lang="en-US" sz="1200" dirty="0">
                <a:solidFill>
                  <a:srgbClr val="BFB5AF"/>
                </a:solidFill>
                <a:latin typeface="Calibri" pitchFamily="34" charset="0"/>
                <a:ea typeface="Calibri" pitchFamily="34" charset="-122"/>
                <a:cs typeface="Calibri" pitchFamily="34" charset="-120"/>
              </a:rPr>
              <a:t>：</a:t>
            </a:r>
            <a:r>
              <a:rPr lang="zh-CN" altLang="en-US" sz="1200" dirty="0">
                <a:solidFill>
                  <a:srgbClr val="BFB5AF"/>
                </a:solidFill>
                <a:latin typeface="Calibri" pitchFamily="34" charset="0"/>
                <a:ea typeface="Calibri" pitchFamily="34" charset="-122"/>
                <a:cs typeface="Calibri" pitchFamily="34" charset="-120"/>
              </a:rPr>
              <a:t>李孟鲜、兰竣雯、廖紫彤、龚小倩</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Text 1"/>
          <p:cNvSpPr/>
          <p:nvPr/>
        </p:nvSpPr>
        <p:spPr>
          <a:xfrm>
            <a:off x="731520" y="365760"/>
            <a:ext cx="2743200" cy="731520"/>
          </a:xfrm>
          <a:prstGeom prst="rect">
            <a:avLst/>
          </a:prstGeom>
          <a:noFill/>
          <a:ln/>
        </p:spPr>
        <p:txBody>
          <a:bodyPr wrap="square" rtlCol="0" anchor="ctr"/>
          <a:lstStyle/>
          <a:p>
            <a:pPr marL="0" indent="0">
              <a:buNone/>
            </a:pPr>
            <a:r>
              <a:rPr lang="en-US" sz="3200" b="1" dirty="0">
                <a:solidFill>
                  <a:srgbClr val="2C1810"/>
                </a:solidFill>
                <a:latin typeface="Microsoft YaHei" pitchFamily="34" charset="0"/>
                <a:ea typeface="Microsoft YaHei" pitchFamily="34" charset="-122"/>
                <a:cs typeface="Microsoft YaHei" pitchFamily="34" charset="-120"/>
              </a:rPr>
              <a:t>目 录</a:t>
            </a:r>
            <a:endParaRPr lang="en-US" sz="3200" dirty="0"/>
          </a:p>
        </p:txBody>
      </p:sp>
      <p:sp>
        <p:nvSpPr>
          <p:cNvPr id="4" name="Text 2"/>
          <p:cNvSpPr/>
          <p:nvPr/>
        </p:nvSpPr>
        <p:spPr>
          <a:xfrm>
            <a:off x="731520" y="1005840"/>
            <a:ext cx="2743200" cy="365760"/>
          </a:xfrm>
          <a:prstGeom prst="rect">
            <a:avLst/>
          </a:prstGeom>
          <a:noFill/>
          <a:ln/>
        </p:spPr>
        <p:txBody>
          <a:bodyPr wrap="square" rtlCol="0" anchor="ctr"/>
          <a:lstStyle/>
          <a:p>
            <a:pPr marL="0" indent="0">
              <a:buNone/>
            </a:pPr>
            <a:r>
              <a:rPr lang="en-US" sz="1200" kern="0" spc="400" dirty="0">
                <a:solidFill>
                  <a:srgbClr val="A09088"/>
                </a:solidFill>
                <a:latin typeface="Calibri" pitchFamily="34" charset="0"/>
                <a:ea typeface="Calibri" pitchFamily="34" charset="-122"/>
                <a:cs typeface="Calibri" pitchFamily="34" charset="-120"/>
              </a:rPr>
              <a:t>CONTENTS</a:t>
            </a:r>
            <a:endParaRPr lang="en-US" sz="1200" dirty="0"/>
          </a:p>
        </p:txBody>
      </p:sp>
      <p:sp>
        <p:nvSpPr>
          <p:cNvPr id="5" name="Shape 3"/>
          <p:cNvSpPr/>
          <p:nvPr/>
        </p:nvSpPr>
        <p:spPr>
          <a:xfrm>
            <a:off x="731520" y="1737360"/>
            <a:ext cx="502920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6" name="Text 4"/>
          <p:cNvSpPr/>
          <p:nvPr/>
        </p:nvSpPr>
        <p:spPr>
          <a:xfrm>
            <a:off x="1005840" y="1965960"/>
            <a:ext cx="1097280" cy="640080"/>
          </a:xfrm>
          <a:prstGeom prst="rect">
            <a:avLst/>
          </a:prstGeom>
          <a:noFill/>
          <a:ln/>
        </p:spPr>
        <p:txBody>
          <a:bodyPr wrap="square" rtlCol="0" anchor="ctr"/>
          <a:lstStyle/>
          <a:p>
            <a:pPr marL="0" indent="0">
              <a:buNone/>
            </a:pPr>
            <a:r>
              <a:rPr lang="en-US" sz="3600" b="1" dirty="0">
                <a:solidFill>
                  <a:srgbClr val="C0392B"/>
                </a:solidFill>
                <a:latin typeface="Impact" pitchFamily="34" charset="0"/>
                <a:ea typeface="Impact" pitchFamily="34" charset="-122"/>
                <a:cs typeface="Impact" pitchFamily="34" charset="-120"/>
              </a:rPr>
              <a:t>01</a:t>
            </a:r>
            <a:endParaRPr lang="en-US" sz="3600" dirty="0"/>
          </a:p>
        </p:txBody>
      </p:sp>
      <p:sp>
        <p:nvSpPr>
          <p:cNvPr id="7" name="Shape 5"/>
          <p:cNvSpPr/>
          <p:nvPr/>
        </p:nvSpPr>
        <p:spPr>
          <a:xfrm>
            <a:off x="2194560" y="2103120"/>
            <a:ext cx="27432" cy="457200"/>
          </a:xfrm>
          <a:prstGeom prst="rect">
            <a:avLst/>
          </a:prstGeom>
          <a:solidFill>
            <a:srgbClr val="E67E22"/>
          </a:solidFill>
          <a:ln/>
        </p:spPr>
        <p:txBody>
          <a:bodyPr/>
          <a:lstStyle/>
          <a:p>
            <a:endParaRPr lang="zh-CN" altLang="en-US"/>
          </a:p>
        </p:txBody>
      </p:sp>
      <p:sp>
        <p:nvSpPr>
          <p:cNvPr id="8" name="Text 6"/>
          <p:cNvSpPr/>
          <p:nvPr/>
        </p:nvSpPr>
        <p:spPr>
          <a:xfrm>
            <a:off x="2377440" y="2011680"/>
            <a:ext cx="2926080" cy="457200"/>
          </a:xfrm>
          <a:prstGeom prst="rect">
            <a:avLst/>
          </a:prstGeom>
          <a:noFill/>
          <a:ln/>
        </p:spPr>
        <p:txBody>
          <a:bodyPr wrap="square" rtlCol="0" anchor="ctr"/>
          <a:lstStyle/>
          <a:p>
            <a:pPr marL="0" indent="0">
              <a:buNone/>
            </a:pPr>
            <a:r>
              <a:rPr lang="en-US" sz="2000" b="1" dirty="0">
                <a:solidFill>
                  <a:srgbClr val="2C1810"/>
                </a:solidFill>
                <a:latin typeface="Microsoft YaHei" pitchFamily="34" charset="0"/>
                <a:ea typeface="Microsoft YaHei" pitchFamily="34" charset="-122"/>
                <a:cs typeface="Microsoft YaHei" pitchFamily="34" charset="-120"/>
              </a:rPr>
              <a:t>研究背景与意义</a:t>
            </a:r>
            <a:endParaRPr lang="en-US" sz="2000" dirty="0"/>
          </a:p>
        </p:txBody>
      </p:sp>
      <p:sp>
        <p:nvSpPr>
          <p:cNvPr id="9" name="Text 7"/>
          <p:cNvSpPr/>
          <p:nvPr/>
        </p:nvSpPr>
        <p:spPr>
          <a:xfrm>
            <a:off x="2377440" y="2468880"/>
            <a:ext cx="2926080" cy="320040"/>
          </a:xfrm>
          <a:prstGeom prst="rect">
            <a:avLst/>
          </a:prstGeom>
          <a:noFill/>
          <a:ln/>
        </p:spPr>
        <p:txBody>
          <a:bodyPr wrap="square" rtlCol="0" anchor="ctr"/>
          <a:lstStyle/>
          <a:p>
            <a:pPr marL="0" indent="0">
              <a:buNone/>
            </a:pPr>
            <a:r>
              <a:rPr lang="en-US" sz="1100" kern="0" spc="200" dirty="0">
                <a:solidFill>
                  <a:srgbClr val="5D4E44"/>
                </a:solidFill>
                <a:latin typeface="Calibri" pitchFamily="34" charset="0"/>
                <a:ea typeface="Calibri" pitchFamily="34" charset="-122"/>
                <a:cs typeface="Calibri" pitchFamily="34" charset="-120"/>
              </a:rPr>
              <a:t>Background</a:t>
            </a:r>
            <a:endParaRPr lang="en-US" sz="1100" dirty="0"/>
          </a:p>
        </p:txBody>
      </p:sp>
      <p:sp>
        <p:nvSpPr>
          <p:cNvPr id="10" name="Text 8"/>
          <p:cNvSpPr/>
          <p:nvPr/>
        </p:nvSpPr>
        <p:spPr>
          <a:xfrm>
            <a:off x="2377440" y="3200400"/>
            <a:ext cx="2926080" cy="320040"/>
          </a:xfrm>
          <a:prstGeom prst="rect">
            <a:avLst/>
          </a:prstGeom>
          <a:noFill/>
          <a:ln/>
        </p:spPr>
        <p:txBody>
          <a:bodyPr wrap="square" rtlCol="0" anchor="ctr"/>
          <a:lstStyle/>
          <a:p>
            <a:pPr marL="0" indent="0">
              <a:buNone/>
            </a:pPr>
            <a:r>
              <a:rPr lang="en-US" sz="1000" dirty="0">
                <a:solidFill>
                  <a:srgbClr val="E67E22"/>
                </a:solidFill>
                <a:latin typeface="Calibri" pitchFamily="34" charset="0"/>
                <a:ea typeface="Calibri" pitchFamily="34" charset="-122"/>
                <a:cs typeface="Calibri" pitchFamily="34" charset="-120"/>
              </a:rPr>
              <a:t>P3-P6</a:t>
            </a:r>
            <a:endParaRPr lang="en-US" sz="1000" dirty="0"/>
          </a:p>
        </p:txBody>
      </p:sp>
      <p:sp>
        <p:nvSpPr>
          <p:cNvPr id="11" name="Shape 9"/>
          <p:cNvSpPr/>
          <p:nvPr/>
        </p:nvSpPr>
        <p:spPr>
          <a:xfrm>
            <a:off x="6309360" y="1737360"/>
            <a:ext cx="502920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2" name="Text 10"/>
          <p:cNvSpPr/>
          <p:nvPr/>
        </p:nvSpPr>
        <p:spPr>
          <a:xfrm>
            <a:off x="6583680" y="1965960"/>
            <a:ext cx="1097280" cy="640080"/>
          </a:xfrm>
          <a:prstGeom prst="rect">
            <a:avLst/>
          </a:prstGeom>
          <a:noFill/>
          <a:ln/>
        </p:spPr>
        <p:txBody>
          <a:bodyPr wrap="square" rtlCol="0" anchor="ctr"/>
          <a:lstStyle/>
          <a:p>
            <a:pPr marL="0" indent="0">
              <a:buNone/>
            </a:pPr>
            <a:r>
              <a:rPr lang="en-US" sz="3600" b="1" dirty="0">
                <a:solidFill>
                  <a:srgbClr val="C0392B"/>
                </a:solidFill>
                <a:latin typeface="Impact" pitchFamily="34" charset="0"/>
                <a:ea typeface="Impact" pitchFamily="34" charset="-122"/>
                <a:cs typeface="Impact" pitchFamily="34" charset="-120"/>
              </a:rPr>
              <a:t>02</a:t>
            </a:r>
            <a:endParaRPr lang="en-US" sz="3600" dirty="0"/>
          </a:p>
        </p:txBody>
      </p:sp>
      <p:sp>
        <p:nvSpPr>
          <p:cNvPr id="13" name="Shape 11"/>
          <p:cNvSpPr/>
          <p:nvPr/>
        </p:nvSpPr>
        <p:spPr>
          <a:xfrm>
            <a:off x="7772400" y="2103120"/>
            <a:ext cx="27432" cy="457200"/>
          </a:xfrm>
          <a:prstGeom prst="rect">
            <a:avLst/>
          </a:prstGeom>
          <a:solidFill>
            <a:srgbClr val="E67E22"/>
          </a:solidFill>
          <a:ln/>
        </p:spPr>
        <p:txBody>
          <a:bodyPr/>
          <a:lstStyle/>
          <a:p>
            <a:endParaRPr lang="zh-CN" altLang="en-US"/>
          </a:p>
        </p:txBody>
      </p:sp>
      <p:sp>
        <p:nvSpPr>
          <p:cNvPr id="14" name="Text 12"/>
          <p:cNvSpPr/>
          <p:nvPr/>
        </p:nvSpPr>
        <p:spPr>
          <a:xfrm>
            <a:off x="7955280" y="2011680"/>
            <a:ext cx="2926080" cy="457200"/>
          </a:xfrm>
          <a:prstGeom prst="rect">
            <a:avLst/>
          </a:prstGeom>
          <a:noFill/>
          <a:ln/>
        </p:spPr>
        <p:txBody>
          <a:bodyPr wrap="square" rtlCol="0" anchor="ctr"/>
          <a:lstStyle/>
          <a:p>
            <a:pPr marL="0" indent="0">
              <a:buNone/>
            </a:pPr>
            <a:r>
              <a:rPr lang="en-US" sz="2000" b="1" dirty="0">
                <a:solidFill>
                  <a:srgbClr val="2C1810"/>
                </a:solidFill>
                <a:latin typeface="Microsoft YaHei" pitchFamily="34" charset="0"/>
                <a:ea typeface="Microsoft YaHei" pitchFamily="34" charset="-122"/>
                <a:cs typeface="Microsoft YaHei" pitchFamily="34" charset="-120"/>
              </a:rPr>
              <a:t>研究内容与技术路线</a:t>
            </a:r>
            <a:endParaRPr lang="en-US" sz="2000" dirty="0"/>
          </a:p>
        </p:txBody>
      </p:sp>
      <p:sp>
        <p:nvSpPr>
          <p:cNvPr id="15" name="Text 13"/>
          <p:cNvSpPr/>
          <p:nvPr/>
        </p:nvSpPr>
        <p:spPr>
          <a:xfrm>
            <a:off x="7955280" y="2468880"/>
            <a:ext cx="2926080" cy="320040"/>
          </a:xfrm>
          <a:prstGeom prst="rect">
            <a:avLst/>
          </a:prstGeom>
          <a:noFill/>
          <a:ln/>
        </p:spPr>
        <p:txBody>
          <a:bodyPr wrap="square" rtlCol="0" anchor="ctr"/>
          <a:lstStyle/>
          <a:p>
            <a:pPr marL="0" indent="0">
              <a:buNone/>
            </a:pPr>
            <a:r>
              <a:rPr lang="en-US" sz="1100" kern="0" spc="200" dirty="0">
                <a:solidFill>
                  <a:srgbClr val="5D4E44"/>
                </a:solidFill>
                <a:latin typeface="Calibri" pitchFamily="34" charset="0"/>
                <a:ea typeface="Calibri" pitchFamily="34" charset="-122"/>
                <a:cs typeface="Calibri" pitchFamily="34" charset="-120"/>
              </a:rPr>
              <a:t>Research Content</a:t>
            </a:r>
            <a:endParaRPr lang="en-US" sz="1100" dirty="0"/>
          </a:p>
        </p:txBody>
      </p:sp>
      <p:sp>
        <p:nvSpPr>
          <p:cNvPr id="16" name="Text 14"/>
          <p:cNvSpPr/>
          <p:nvPr/>
        </p:nvSpPr>
        <p:spPr>
          <a:xfrm>
            <a:off x="7955280" y="3200400"/>
            <a:ext cx="2926080" cy="320040"/>
          </a:xfrm>
          <a:prstGeom prst="rect">
            <a:avLst/>
          </a:prstGeom>
          <a:noFill/>
          <a:ln/>
        </p:spPr>
        <p:txBody>
          <a:bodyPr wrap="square" rtlCol="0" anchor="ctr"/>
          <a:lstStyle/>
          <a:p>
            <a:pPr marL="0" indent="0">
              <a:buNone/>
            </a:pPr>
            <a:r>
              <a:rPr lang="en-US" sz="1000" dirty="0">
                <a:solidFill>
                  <a:srgbClr val="E67E22"/>
                </a:solidFill>
                <a:latin typeface="Calibri" pitchFamily="34" charset="0"/>
                <a:ea typeface="Calibri" pitchFamily="34" charset="-122"/>
                <a:cs typeface="Calibri" pitchFamily="34" charset="-120"/>
              </a:rPr>
              <a:t>P7-P10</a:t>
            </a:r>
            <a:endParaRPr lang="en-US" sz="1000" dirty="0"/>
          </a:p>
        </p:txBody>
      </p:sp>
      <p:sp>
        <p:nvSpPr>
          <p:cNvPr id="17" name="Shape 15"/>
          <p:cNvSpPr/>
          <p:nvPr/>
        </p:nvSpPr>
        <p:spPr>
          <a:xfrm>
            <a:off x="731520" y="4297680"/>
            <a:ext cx="502920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8" name="Text 16"/>
          <p:cNvSpPr/>
          <p:nvPr/>
        </p:nvSpPr>
        <p:spPr>
          <a:xfrm>
            <a:off x="1005840" y="4526280"/>
            <a:ext cx="1097280" cy="640080"/>
          </a:xfrm>
          <a:prstGeom prst="rect">
            <a:avLst/>
          </a:prstGeom>
          <a:noFill/>
          <a:ln/>
        </p:spPr>
        <p:txBody>
          <a:bodyPr wrap="square" rtlCol="0" anchor="ctr"/>
          <a:lstStyle/>
          <a:p>
            <a:pPr marL="0" indent="0">
              <a:buNone/>
            </a:pPr>
            <a:r>
              <a:rPr lang="en-US" sz="3600" b="1" dirty="0">
                <a:solidFill>
                  <a:srgbClr val="C0392B"/>
                </a:solidFill>
                <a:latin typeface="Impact" pitchFamily="34" charset="0"/>
                <a:ea typeface="Impact" pitchFamily="34" charset="-122"/>
                <a:cs typeface="Impact" pitchFamily="34" charset="-120"/>
              </a:rPr>
              <a:t>03</a:t>
            </a:r>
            <a:endParaRPr lang="en-US" sz="3600" dirty="0"/>
          </a:p>
        </p:txBody>
      </p:sp>
      <p:sp>
        <p:nvSpPr>
          <p:cNvPr id="19" name="Shape 17"/>
          <p:cNvSpPr/>
          <p:nvPr/>
        </p:nvSpPr>
        <p:spPr>
          <a:xfrm>
            <a:off x="2194560" y="4663440"/>
            <a:ext cx="27432" cy="457200"/>
          </a:xfrm>
          <a:prstGeom prst="rect">
            <a:avLst/>
          </a:prstGeom>
          <a:solidFill>
            <a:srgbClr val="E67E22"/>
          </a:solidFill>
          <a:ln/>
        </p:spPr>
        <p:txBody>
          <a:bodyPr/>
          <a:lstStyle/>
          <a:p>
            <a:endParaRPr lang="zh-CN" altLang="en-US"/>
          </a:p>
        </p:txBody>
      </p:sp>
      <p:sp>
        <p:nvSpPr>
          <p:cNvPr id="20" name="Text 18"/>
          <p:cNvSpPr/>
          <p:nvPr/>
        </p:nvSpPr>
        <p:spPr>
          <a:xfrm>
            <a:off x="2377440" y="4572000"/>
            <a:ext cx="2926080" cy="457200"/>
          </a:xfrm>
          <a:prstGeom prst="rect">
            <a:avLst/>
          </a:prstGeom>
          <a:noFill/>
          <a:ln/>
        </p:spPr>
        <p:txBody>
          <a:bodyPr wrap="square" rtlCol="0" anchor="ctr"/>
          <a:lstStyle/>
          <a:p>
            <a:pPr marL="0" indent="0">
              <a:buNone/>
            </a:pPr>
            <a:r>
              <a:rPr lang="en-US" sz="2000" b="1" dirty="0">
                <a:solidFill>
                  <a:srgbClr val="2C1810"/>
                </a:solidFill>
                <a:latin typeface="Microsoft YaHei" pitchFamily="34" charset="0"/>
                <a:ea typeface="Microsoft YaHei" pitchFamily="34" charset="-122"/>
                <a:cs typeface="Microsoft YaHei" pitchFamily="34" charset="-120"/>
              </a:rPr>
              <a:t>系统设计与实现</a:t>
            </a:r>
            <a:endParaRPr lang="en-US" sz="2000" dirty="0"/>
          </a:p>
        </p:txBody>
      </p:sp>
      <p:sp>
        <p:nvSpPr>
          <p:cNvPr id="21" name="Text 19"/>
          <p:cNvSpPr/>
          <p:nvPr/>
        </p:nvSpPr>
        <p:spPr>
          <a:xfrm>
            <a:off x="2377440" y="5029200"/>
            <a:ext cx="2926080" cy="320040"/>
          </a:xfrm>
          <a:prstGeom prst="rect">
            <a:avLst/>
          </a:prstGeom>
          <a:noFill/>
          <a:ln/>
        </p:spPr>
        <p:txBody>
          <a:bodyPr wrap="square" rtlCol="0" anchor="ctr"/>
          <a:lstStyle/>
          <a:p>
            <a:pPr marL="0" indent="0">
              <a:buNone/>
            </a:pPr>
            <a:r>
              <a:rPr lang="en-US" sz="1100" kern="0" spc="200" dirty="0">
                <a:solidFill>
                  <a:srgbClr val="5D4E44"/>
                </a:solidFill>
                <a:latin typeface="Calibri" pitchFamily="34" charset="0"/>
                <a:ea typeface="Calibri" pitchFamily="34" charset="-122"/>
                <a:cs typeface="Calibri" pitchFamily="34" charset="-120"/>
              </a:rPr>
              <a:t>System Design</a:t>
            </a:r>
            <a:endParaRPr lang="en-US" sz="1100" dirty="0"/>
          </a:p>
        </p:txBody>
      </p:sp>
      <p:sp>
        <p:nvSpPr>
          <p:cNvPr id="22" name="Text 20"/>
          <p:cNvSpPr/>
          <p:nvPr/>
        </p:nvSpPr>
        <p:spPr>
          <a:xfrm>
            <a:off x="2377440" y="5760720"/>
            <a:ext cx="2926080" cy="320040"/>
          </a:xfrm>
          <a:prstGeom prst="rect">
            <a:avLst/>
          </a:prstGeom>
          <a:noFill/>
          <a:ln/>
        </p:spPr>
        <p:txBody>
          <a:bodyPr wrap="square" rtlCol="0" anchor="ctr"/>
          <a:lstStyle/>
          <a:p>
            <a:pPr marL="0" indent="0">
              <a:buNone/>
            </a:pPr>
            <a:r>
              <a:rPr lang="en-US" sz="1000" dirty="0">
                <a:solidFill>
                  <a:srgbClr val="E67E22"/>
                </a:solidFill>
                <a:latin typeface="Calibri" pitchFamily="34" charset="0"/>
                <a:ea typeface="Calibri" pitchFamily="34" charset="-122"/>
                <a:cs typeface="Calibri" pitchFamily="34" charset="-120"/>
              </a:rPr>
              <a:t>P11-P17</a:t>
            </a:r>
            <a:endParaRPr lang="en-US" sz="1000" dirty="0"/>
          </a:p>
        </p:txBody>
      </p:sp>
      <p:sp>
        <p:nvSpPr>
          <p:cNvPr id="23" name="Shape 21"/>
          <p:cNvSpPr/>
          <p:nvPr/>
        </p:nvSpPr>
        <p:spPr>
          <a:xfrm>
            <a:off x="6309360" y="4297680"/>
            <a:ext cx="502920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4" name="Text 22"/>
          <p:cNvSpPr/>
          <p:nvPr/>
        </p:nvSpPr>
        <p:spPr>
          <a:xfrm>
            <a:off x="6583680" y="4526280"/>
            <a:ext cx="1097280" cy="640080"/>
          </a:xfrm>
          <a:prstGeom prst="rect">
            <a:avLst/>
          </a:prstGeom>
          <a:noFill/>
          <a:ln/>
        </p:spPr>
        <p:txBody>
          <a:bodyPr wrap="square" rtlCol="0" anchor="ctr"/>
          <a:lstStyle/>
          <a:p>
            <a:pPr marL="0" indent="0">
              <a:buNone/>
            </a:pPr>
            <a:r>
              <a:rPr lang="en-US" sz="3600" b="1" dirty="0">
                <a:solidFill>
                  <a:srgbClr val="C0392B"/>
                </a:solidFill>
                <a:latin typeface="Impact" pitchFamily="34" charset="0"/>
                <a:ea typeface="Impact" pitchFamily="34" charset="-122"/>
                <a:cs typeface="Impact" pitchFamily="34" charset="-120"/>
              </a:rPr>
              <a:t>04</a:t>
            </a:r>
            <a:endParaRPr lang="en-US" sz="3600" dirty="0"/>
          </a:p>
        </p:txBody>
      </p:sp>
      <p:sp>
        <p:nvSpPr>
          <p:cNvPr id="25" name="Shape 23"/>
          <p:cNvSpPr/>
          <p:nvPr/>
        </p:nvSpPr>
        <p:spPr>
          <a:xfrm>
            <a:off x="7772400" y="4663440"/>
            <a:ext cx="27432" cy="457200"/>
          </a:xfrm>
          <a:prstGeom prst="rect">
            <a:avLst/>
          </a:prstGeom>
          <a:solidFill>
            <a:srgbClr val="E67E22"/>
          </a:solidFill>
          <a:ln/>
        </p:spPr>
        <p:txBody>
          <a:bodyPr/>
          <a:lstStyle/>
          <a:p>
            <a:endParaRPr lang="zh-CN" altLang="en-US"/>
          </a:p>
        </p:txBody>
      </p:sp>
      <p:sp>
        <p:nvSpPr>
          <p:cNvPr id="26" name="Text 24"/>
          <p:cNvSpPr/>
          <p:nvPr/>
        </p:nvSpPr>
        <p:spPr>
          <a:xfrm>
            <a:off x="7955280" y="4572000"/>
            <a:ext cx="2926080" cy="457200"/>
          </a:xfrm>
          <a:prstGeom prst="rect">
            <a:avLst/>
          </a:prstGeom>
          <a:noFill/>
          <a:ln/>
        </p:spPr>
        <p:txBody>
          <a:bodyPr wrap="square" rtlCol="0" anchor="ctr"/>
          <a:lstStyle/>
          <a:p>
            <a:pPr marL="0" indent="0">
              <a:buNone/>
            </a:pPr>
            <a:r>
              <a:rPr lang="en-US" sz="2000" b="1" dirty="0">
                <a:solidFill>
                  <a:srgbClr val="2C1810"/>
                </a:solidFill>
                <a:latin typeface="Microsoft YaHei" pitchFamily="34" charset="0"/>
                <a:ea typeface="Microsoft YaHei" pitchFamily="34" charset="-122"/>
                <a:cs typeface="Microsoft YaHei" pitchFamily="34" charset="-120"/>
              </a:rPr>
              <a:t>总结与展望</a:t>
            </a:r>
            <a:endParaRPr lang="en-US" sz="2000" dirty="0"/>
          </a:p>
        </p:txBody>
      </p:sp>
      <p:sp>
        <p:nvSpPr>
          <p:cNvPr id="27" name="Text 25"/>
          <p:cNvSpPr/>
          <p:nvPr/>
        </p:nvSpPr>
        <p:spPr>
          <a:xfrm>
            <a:off x="7955280" y="5029200"/>
            <a:ext cx="2926080" cy="320040"/>
          </a:xfrm>
          <a:prstGeom prst="rect">
            <a:avLst/>
          </a:prstGeom>
          <a:noFill/>
          <a:ln/>
        </p:spPr>
        <p:txBody>
          <a:bodyPr wrap="square" rtlCol="0" anchor="ctr"/>
          <a:lstStyle/>
          <a:p>
            <a:pPr marL="0" indent="0">
              <a:buNone/>
            </a:pPr>
            <a:r>
              <a:rPr lang="en-US" sz="1100" kern="0" spc="200" dirty="0">
                <a:solidFill>
                  <a:srgbClr val="5D4E44"/>
                </a:solidFill>
                <a:latin typeface="Calibri" pitchFamily="34" charset="0"/>
                <a:ea typeface="Calibri" pitchFamily="34" charset="-122"/>
                <a:cs typeface="Calibri" pitchFamily="34" charset="-120"/>
              </a:rPr>
              <a:t>Summary</a:t>
            </a:r>
            <a:endParaRPr lang="en-US" sz="1100" dirty="0"/>
          </a:p>
        </p:txBody>
      </p:sp>
      <p:sp>
        <p:nvSpPr>
          <p:cNvPr id="28" name="Text 26"/>
          <p:cNvSpPr/>
          <p:nvPr/>
        </p:nvSpPr>
        <p:spPr>
          <a:xfrm>
            <a:off x="7955280" y="5760720"/>
            <a:ext cx="2926080" cy="320040"/>
          </a:xfrm>
          <a:prstGeom prst="rect">
            <a:avLst/>
          </a:prstGeom>
          <a:noFill/>
          <a:ln/>
        </p:spPr>
        <p:txBody>
          <a:bodyPr wrap="square" rtlCol="0" anchor="ctr"/>
          <a:lstStyle/>
          <a:p>
            <a:pPr marL="0" indent="0">
              <a:buNone/>
            </a:pPr>
            <a:r>
              <a:rPr lang="en-US" sz="1000" dirty="0">
                <a:solidFill>
                  <a:srgbClr val="E67E22"/>
                </a:solidFill>
                <a:latin typeface="Calibri" pitchFamily="34" charset="0"/>
                <a:ea typeface="Calibri" pitchFamily="34" charset="-122"/>
                <a:cs typeface="Calibri" pitchFamily="34" charset="-120"/>
              </a:rPr>
              <a:t>P18-P20</a:t>
            </a:r>
            <a:endParaRPr lang="en-US" sz="1000" dirty="0"/>
          </a:p>
        </p:txBody>
      </p:sp>
      <p:sp>
        <p:nvSpPr>
          <p:cNvPr id="29" name="Text 27"/>
          <p:cNvSpPr/>
          <p:nvPr/>
        </p:nvSpPr>
        <p:spPr>
          <a:xfrm>
            <a:off x="731520" y="6492240"/>
            <a:ext cx="4572000" cy="27432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00E"/>
        </a:solidFill>
        <a:effectLst/>
      </p:bgPr>
    </p:bg>
    <p:spTree>
      <p:nvGrpSpPr>
        <p:cNvPr id="1" name=""/>
        <p:cNvGrpSpPr/>
        <p:nvPr/>
      </p:nvGrpSpPr>
      <p:grpSpPr>
        <a:xfrm>
          <a:off x="0" y="0"/>
          <a:ext cx="0" cy="0"/>
          <a:chOff x="0" y="0"/>
          <a:chExt cx="0" cy="0"/>
        </a:xfrm>
      </p:grpSpPr>
      <p:sp>
        <p:nvSpPr>
          <p:cNvPr id="2" name="Text 0"/>
          <p:cNvSpPr/>
          <p:nvPr/>
        </p:nvSpPr>
        <p:spPr>
          <a:xfrm>
            <a:off x="731520" y="1828800"/>
            <a:ext cx="2743200" cy="2011680"/>
          </a:xfrm>
          <a:prstGeom prst="rect">
            <a:avLst/>
          </a:prstGeom>
          <a:noFill/>
          <a:ln/>
        </p:spPr>
        <p:txBody>
          <a:bodyPr wrap="square" rtlCol="0" anchor="ctr"/>
          <a:lstStyle/>
          <a:p>
            <a:pPr marL="0" indent="0" algn="l">
              <a:buNone/>
            </a:pPr>
            <a:r>
              <a:rPr lang="en-US" sz="9600" b="1" dirty="0">
                <a:solidFill>
                  <a:srgbClr val="C0392B"/>
                </a:solidFill>
                <a:latin typeface="Impact" pitchFamily="34" charset="0"/>
                <a:ea typeface="Impact" pitchFamily="34" charset="-122"/>
                <a:cs typeface="Impact" pitchFamily="34" charset="-120"/>
              </a:rPr>
              <a:t>01</a:t>
            </a:r>
            <a:endParaRPr lang="en-US" sz="9600" dirty="0"/>
          </a:p>
        </p:txBody>
      </p:sp>
      <p:sp>
        <p:nvSpPr>
          <p:cNvPr id="3" name="Shape 1"/>
          <p:cNvSpPr/>
          <p:nvPr/>
        </p:nvSpPr>
        <p:spPr>
          <a:xfrm>
            <a:off x="731520" y="3931920"/>
            <a:ext cx="1645920" cy="45720"/>
          </a:xfrm>
          <a:prstGeom prst="rect">
            <a:avLst/>
          </a:prstGeom>
          <a:solidFill>
            <a:srgbClr val="E67E22"/>
          </a:solidFill>
          <a:ln/>
        </p:spPr>
        <p:txBody>
          <a:bodyPr/>
          <a:lstStyle/>
          <a:p>
            <a:endParaRPr lang="zh-CN" altLang="en-US"/>
          </a:p>
        </p:txBody>
      </p:sp>
      <p:sp>
        <p:nvSpPr>
          <p:cNvPr id="4" name="Text 2"/>
          <p:cNvSpPr/>
          <p:nvPr/>
        </p:nvSpPr>
        <p:spPr>
          <a:xfrm>
            <a:off x="731520" y="4206240"/>
            <a:ext cx="9144000" cy="914400"/>
          </a:xfrm>
          <a:prstGeom prst="rect">
            <a:avLst/>
          </a:prstGeom>
          <a:noFill/>
          <a:ln/>
        </p:spPr>
        <p:txBody>
          <a:bodyPr wrap="square" rtlCol="0" anchor="ctr"/>
          <a:lstStyle/>
          <a:p>
            <a:pPr marL="0" indent="0">
              <a:buNone/>
            </a:pPr>
            <a:r>
              <a:rPr lang="en-US" sz="3600" b="1" dirty="0">
                <a:solidFill>
                  <a:srgbClr val="FAFAF7"/>
                </a:solidFill>
                <a:latin typeface="Microsoft YaHei" pitchFamily="34" charset="0"/>
                <a:ea typeface="Microsoft YaHei" pitchFamily="34" charset="-122"/>
                <a:cs typeface="Microsoft YaHei" pitchFamily="34" charset="-120"/>
              </a:rPr>
              <a:t>研究背景与意义</a:t>
            </a:r>
            <a:endParaRPr lang="en-US" sz="3600" dirty="0"/>
          </a:p>
        </p:txBody>
      </p:sp>
      <p:sp>
        <p:nvSpPr>
          <p:cNvPr id="5" name="Text 3"/>
          <p:cNvSpPr/>
          <p:nvPr/>
        </p:nvSpPr>
        <p:spPr>
          <a:xfrm>
            <a:off x="731520" y="5029200"/>
            <a:ext cx="9144000" cy="731520"/>
          </a:xfrm>
          <a:prstGeom prst="rect">
            <a:avLst/>
          </a:prstGeom>
          <a:noFill/>
          <a:ln/>
        </p:spPr>
        <p:txBody>
          <a:bodyPr wrap="square" rtlCol="0" anchor="ctr"/>
          <a:lstStyle/>
          <a:p>
            <a:pPr marL="0" indent="0">
              <a:buNone/>
            </a:pPr>
            <a:r>
              <a:rPr lang="en-US" sz="1400" kern="0" spc="300" dirty="0">
                <a:solidFill>
                  <a:srgbClr val="A09088"/>
                </a:solidFill>
                <a:latin typeface="Calibri" pitchFamily="34" charset="0"/>
                <a:ea typeface="Calibri" pitchFamily="34" charset="-122"/>
                <a:cs typeface="Calibri" pitchFamily="34" charset="-120"/>
              </a:rPr>
              <a:t>RESEARCH BACKGROUND &amp; SIGNIFICANCE</a:t>
            </a:r>
            <a:endParaRPr lang="en-US" sz="1400" dirty="0"/>
          </a:p>
        </p:txBody>
      </p:sp>
      <p:sp>
        <p:nvSpPr>
          <p:cNvPr id="6" name="Shape 4"/>
          <p:cNvSpPr/>
          <p:nvPr/>
        </p:nvSpPr>
        <p:spPr>
          <a:xfrm>
            <a:off x="0" y="6492240"/>
            <a:ext cx="12191695" cy="54864"/>
          </a:xfrm>
          <a:prstGeom prst="rect">
            <a:avLst/>
          </a:prstGeom>
          <a:solidFill>
            <a:srgbClr val="C0392B"/>
          </a:solidFill>
          <a:ln/>
        </p:spPr>
        <p:txBody>
          <a:bodyPr/>
          <a:lstStyle/>
          <a:p>
            <a:endParaRPr lang="zh-CN" altLang="en-US"/>
          </a:p>
        </p:txBody>
      </p:sp>
      <p:sp>
        <p:nvSpPr>
          <p:cNvPr id="7" name="Shape 5"/>
          <p:cNvSpPr/>
          <p:nvPr/>
        </p:nvSpPr>
        <p:spPr>
          <a:xfrm>
            <a:off x="0" y="6565392"/>
            <a:ext cx="12191695" cy="36576"/>
          </a:xfrm>
          <a:prstGeom prst="rect">
            <a:avLst/>
          </a:prstGeom>
          <a:solidFill>
            <a:srgbClr val="E67E22"/>
          </a:solidFill>
          <a:ln/>
        </p:spPr>
        <p:txBody>
          <a:bodyPr/>
          <a:lstStyle/>
          <a:p>
            <a:endParaRPr lang="zh-CN" altLang="en-US"/>
          </a:p>
        </p:txBody>
      </p:sp>
      <p:sp>
        <p:nvSpPr>
          <p:cNvPr id="8" name="Shape 6"/>
          <p:cNvSpPr/>
          <p:nvPr/>
        </p:nvSpPr>
        <p:spPr>
          <a:xfrm>
            <a:off x="0" y="6620256"/>
            <a:ext cx="12191695" cy="27432"/>
          </a:xfrm>
          <a:prstGeom prst="rect">
            <a:avLst/>
          </a:prstGeom>
          <a:solidFill>
            <a:srgbClr val="F39C12"/>
          </a:solidFill>
          <a:ln/>
        </p:spPr>
        <p:txBody>
          <a:bodyPr/>
          <a:lstStyle/>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01</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研究背景与问题</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BACKGROUND ANALYSIS</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4</a:t>
            </a:r>
            <a:endParaRPr lang="en-US" sz="1000" dirty="0"/>
          </a:p>
        </p:txBody>
      </p:sp>
      <p:sp>
        <p:nvSpPr>
          <p:cNvPr id="11" name="Shape 9"/>
          <p:cNvSpPr/>
          <p:nvPr/>
        </p:nvSpPr>
        <p:spPr>
          <a:xfrm>
            <a:off x="548640" y="1554480"/>
            <a:ext cx="2651760" cy="237744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2" name="Shape 10"/>
          <p:cNvSpPr/>
          <p:nvPr/>
        </p:nvSpPr>
        <p:spPr>
          <a:xfrm>
            <a:off x="548640" y="1554480"/>
            <a:ext cx="2651760" cy="54864"/>
          </a:xfrm>
          <a:prstGeom prst="rect">
            <a:avLst/>
          </a:prstGeom>
          <a:solidFill>
            <a:srgbClr val="C0392B"/>
          </a:solidFill>
          <a:ln/>
        </p:spPr>
        <p:txBody>
          <a:bodyPr/>
          <a:lstStyle/>
          <a:p>
            <a:endParaRPr lang="zh-CN" altLang="en-US"/>
          </a:p>
        </p:txBody>
      </p:sp>
      <p:sp>
        <p:nvSpPr>
          <p:cNvPr id="13" name="Text 11"/>
          <p:cNvSpPr/>
          <p:nvPr/>
        </p:nvSpPr>
        <p:spPr>
          <a:xfrm>
            <a:off x="731520" y="1828800"/>
            <a:ext cx="2286000" cy="457200"/>
          </a:xfrm>
          <a:prstGeom prst="rect">
            <a:avLst/>
          </a:prstGeom>
          <a:noFill/>
          <a:ln/>
        </p:spPr>
        <p:txBody>
          <a:bodyPr wrap="square" rtlCol="0" anchor="ctr"/>
          <a:lstStyle/>
          <a:p>
            <a:pPr marL="0" indent="0">
              <a:buNone/>
            </a:pPr>
            <a:r>
              <a:rPr lang="en-US" sz="1800" b="1" dirty="0">
                <a:solidFill>
                  <a:srgbClr val="2C1810"/>
                </a:solidFill>
                <a:latin typeface="Microsoft YaHei" pitchFamily="34" charset="0"/>
                <a:ea typeface="Microsoft YaHei" pitchFamily="34" charset="-122"/>
                <a:cs typeface="Microsoft YaHei" pitchFamily="34" charset="-120"/>
              </a:rPr>
              <a:t>效率低下</a:t>
            </a:r>
            <a:endParaRPr lang="en-US" sz="1800" dirty="0"/>
          </a:p>
        </p:txBody>
      </p:sp>
      <p:sp>
        <p:nvSpPr>
          <p:cNvPr id="14" name="Text 12"/>
          <p:cNvSpPr/>
          <p:nvPr/>
        </p:nvSpPr>
        <p:spPr>
          <a:xfrm>
            <a:off x="731520" y="2377440"/>
            <a:ext cx="2286000" cy="1188720"/>
          </a:xfrm>
          <a:prstGeom prst="rect">
            <a:avLst/>
          </a:prstGeom>
          <a:noFill/>
          <a:ln/>
        </p:spPr>
        <p:txBody>
          <a:bodyPr wrap="square" rtlCol="0" anchor="ctr"/>
          <a:lstStyle/>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人工操作试验流程耗时</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单次完整试验需 60+ 分钟人工值守</a:t>
            </a:r>
            <a:endParaRPr lang="en-US" sz="1200" dirty="0"/>
          </a:p>
        </p:txBody>
      </p:sp>
      <p:sp>
        <p:nvSpPr>
          <p:cNvPr id="15" name="Shape 13"/>
          <p:cNvSpPr/>
          <p:nvPr/>
        </p:nvSpPr>
        <p:spPr>
          <a:xfrm>
            <a:off x="3429000" y="1554480"/>
            <a:ext cx="2651760" cy="237744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6" name="Shape 14"/>
          <p:cNvSpPr/>
          <p:nvPr/>
        </p:nvSpPr>
        <p:spPr>
          <a:xfrm>
            <a:off x="3429000" y="1554480"/>
            <a:ext cx="2651760" cy="54864"/>
          </a:xfrm>
          <a:prstGeom prst="rect">
            <a:avLst/>
          </a:prstGeom>
          <a:solidFill>
            <a:srgbClr val="E67E22"/>
          </a:solidFill>
          <a:ln/>
        </p:spPr>
        <p:txBody>
          <a:bodyPr/>
          <a:lstStyle/>
          <a:p>
            <a:endParaRPr lang="zh-CN" altLang="en-US"/>
          </a:p>
        </p:txBody>
      </p:sp>
      <p:sp>
        <p:nvSpPr>
          <p:cNvPr id="17" name="Text 15"/>
          <p:cNvSpPr/>
          <p:nvPr/>
        </p:nvSpPr>
        <p:spPr>
          <a:xfrm>
            <a:off x="3611880" y="1828800"/>
            <a:ext cx="2286000" cy="457200"/>
          </a:xfrm>
          <a:prstGeom prst="rect">
            <a:avLst/>
          </a:prstGeom>
          <a:noFill/>
          <a:ln/>
        </p:spPr>
        <p:txBody>
          <a:bodyPr wrap="square" rtlCol="0" anchor="ctr"/>
          <a:lstStyle/>
          <a:p>
            <a:pPr marL="0" indent="0">
              <a:buNone/>
            </a:pPr>
            <a:r>
              <a:rPr lang="en-US" sz="1800" b="1" dirty="0">
                <a:solidFill>
                  <a:srgbClr val="2C1810"/>
                </a:solidFill>
                <a:latin typeface="Microsoft YaHei" pitchFamily="34" charset="0"/>
                <a:ea typeface="Microsoft YaHei" pitchFamily="34" charset="-122"/>
                <a:cs typeface="Microsoft YaHei" pitchFamily="34" charset="-120"/>
              </a:rPr>
              <a:t>数据一致性差</a:t>
            </a:r>
            <a:endParaRPr lang="en-US" sz="1800" dirty="0"/>
          </a:p>
        </p:txBody>
      </p:sp>
      <p:sp>
        <p:nvSpPr>
          <p:cNvPr id="18" name="Text 16"/>
          <p:cNvSpPr/>
          <p:nvPr/>
        </p:nvSpPr>
        <p:spPr>
          <a:xfrm>
            <a:off x="3611880" y="2377440"/>
            <a:ext cx="2286000" cy="1188720"/>
          </a:xfrm>
          <a:prstGeom prst="rect">
            <a:avLst/>
          </a:prstGeom>
          <a:noFill/>
          <a:ln/>
        </p:spPr>
        <p:txBody>
          <a:bodyPr wrap="square" rtlCol="0" anchor="ctr"/>
          <a:lstStyle/>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人工记录存在主观误差</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不同操作员结果难以复现</a:t>
            </a:r>
            <a:endParaRPr lang="en-US" sz="1200" dirty="0"/>
          </a:p>
        </p:txBody>
      </p:sp>
      <p:sp>
        <p:nvSpPr>
          <p:cNvPr id="19" name="Shape 17"/>
          <p:cNvSpPr/>
          <p:nvPr/>
        </p:nvSpPr>
        <p:spPr>
          <a:xfrm>
            <a:off x="6309360" y="1554480"/>
            <a:ext cx="2651760" cy="237744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0" name="Shape 18"/>
          <p:cNvSpPr/>
          <p:nvPr/>
        </p:nvSpPr>
        <p:spPr>
          <a:xfrm>
            <a:off x="6309360" y="1554480"/>
            <a:ext cx="2651760" cy="54864"/>
          </a:xfrm>
          <a:prstGeom prst="rect">
            <a:avLst/>
          </a:prstGeom>
          <a:solidFill>
            <a:srgbClr val="C0392B"/>
          </a:solidFill>
          <a:ln/>
        </p:spPr>
        <p:txBody>
          <a:bodyPr/>
          <a:lstStyle/>
          <a:p>
            <a:endParaRPr lang="zh-CN" altLang="en-US"/>
          </a:p>
        </p:txBody>
      </p:sp>
      <p:sp>
        <p:nvSpPr>
          <p:cNvPr id="21" name="Text 19"/>
          <p:cNvSpPr/>
          <p:nvPr/>
        </p:nvSpPr>
        <p:spPr>
          <a:xfrm>
            <a:off x="6492240" y="1828800"/>
            <a:ext cx="2286000" cy="457200"/>
          </a:xfrm>
          <a:prstGeom prst="rect">
            <a:avLst/>
          </a:prstGeom>
          <a:noFill/>
          <a:ln/>
        </p:spPr>
        <p:txBody>
          <a:bodyPr wrap="square" rtlCol="0" anchor="ctr"/>
          <a:lstStyle/>
          <a:p>
            <a:pPr marL="0" indent="0">
              <a:buNone/>
            </a:pPr>
            <a:r>
              <a:rPr lang="en-US" sz="1800" b="1" dirty="0">
                <a:solidFill>
                  <a:srgbClr val="2C1810"/>
                </a:solidFill>
                <a:latin typeface="Microsoft YaHei" pitchFamily="34" charset="0"/>
                <a:ea typeface="Microsoft YaHei" pitchFamily="34" charset="-122"/>
                <a:cs typeface="Microsoft YaHei" pitchFamily="34" charset="-120"/>
              </a:rPr>
              <a:t>标准执行困难</a:t>
            </a:r>
            <a:endParaRPr lang="en-US" sz="1800" dirty="0"/>
          </a:p>
        </p:txBody>
      </p:sp>
      <p:sp>
        <p:nvSpPr>
          <p:cNvPr id="22" name="Text 20"/>
          <p:cNvSpPr/>
          <p:nvPr/>
        </p:nvSpPr>
        <p:spPr>
          <a:xfrm>
            <a:off x="6492240" y="2377440"/>
            <a:ext cx="2286000" cy="1188720"/>
          </a:xfrm>
          <a:prstGeom prst="rect">
            <a:avLst/>
          </a:prstGeom>
          <a:noFill/>
          <a:ln/>
        </p:spPr>
        <p:txBody>
          <a:bodyPr wrap="square" rtlCol="0" anchor="ctr"/>
          <a:lstStyle/>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ISO 1182 / GB/T 5464</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判定条件复杂，人工易遗漏</a:t>
            </a:r>
            <a:endParaRPr lang="en-US" sz="1200" dirty="0"/>
          </a:p>
        </p:txBody>
      </p:sp>
      <p:sp>
        <p:nvSpPr>
          <p:cNvPr id="23" name="Shape 21"/>
          <p:cNvSpPr/>
          <p:nvPr/>
        </p:nvSpPr>
        <p:spPr>
          <a:xfrm>
            <a:off x="9189720" y="1554480"/>
            <a:ext cx="2651760" cy="237744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4" name="Shape 22"/>
          <p:cNvSpPr/>
          <p:nvPr/>
        </p:nvSpPr>
        <p:spPr>
          <a:xfrm>
            <a:off x="9189720" y="1554480"/>
            <a:ext cx="2651760" cy="54864"/>
          </a:xfrm>
          <a:prstGeom prst="rect">
            <a:avLst/>
          </a:prstGeom>
          <a:solidFill>
            <a:srgbClr val="E67E22"/>
          </a:solidFill>
          <a:ln/>
        </p:spPr>
        <p:txBody>
          <a:bodyPr/>
          <a:lstStyle/>
          <a:p>
            <a:endParaRPr lang="zh-CN" altLang="en-US"/>
          </a:p>
        </p:txBody>
      </p:sp>
      <p:sp>
        <p:nvSpPr>
          <p:cNvPr id="25" name="Text 23"/>
          <p:cNvSpPr/>
          <p:nvPr/>
        </p:nvSpPr>
        <p:spPr>
          <a:xfrm>
            <a:off x="9372600" y="1828800"/>
            <a:ext cx="2286000" cy="457200"/>
          </a:xfrm>
          <a:prstGeom prst="rect">
            <a:avLst/>
          </a:prstGeom>
          <a:noFill/>
          <a:ln/>
        </p:spPr>
        <p:txBody>
          <a:bodyPr wrap="square" rtlCol="0" anchor="ctr"/>
          <a:lstStyle/>
          <a:p>
            <a:pPr marL="0" indent="0">
              <a:buNone/>
            </a:pPr>
            <a:r>
              <a:rPr lang="en-US" sz="1800" b="1" dirty="0">
                <a:solidFill>
                  <a:srgbClr val="2C1810"/>
                </a:solidFill>
                <a:latin typeface="Microsoft YaHei" pitchFamily="34" charset="0"/>
                <a:ea typeface="Microsoft YaHei" pitchFamily="34" charset="-122"/>
                <a:cs typeface="Microsoft YaHei" pitchFamily="34" charset="-120"/>
              </a:rPr>
              <a:t>培训成本高</a:t>
            </a:r>
            <a:endParaRPr lang="en-US" sz="1800" dirty="0"/>
          </a:p>
        </p:txBody>
      </p:sp>
      <p:sp>
        <p:nvSpPr>
          <p:cNvPr id="26" name="Text 24"/>
          <p:cNvSpPr/>
          <p:nvPr/>
        </p:nvSpPr>
        <p:spPr>
          <a:xfrm>
            <a:off x="9372600" y="2377440"/>
            <a:ext cx="2286000" cy="1188720"/>
          </a:xfrm>
          <a:prstGeom prst="rect">
            <a:avLst/>
          </a:prstGeom>
          <a:noFill/>
          <a:ln/>
        </p:spPr>
        <p:txBody>
          <a:bodyPr wrap="square" rtlCol="0" anchor="ctr"/>
          <a:lstStyle/>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试验员需长期实操训练</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高校教学设备昂贵难以普及</a:t>
            </a:r>
            <a:endParaRPr lang="en-US" sz="1200" dirty="0"/>
          </a:p>
        </p:txBody>
      </p:sp>
      <p:sp>
        <p:nvSpPr>
          <p:cNvPr id="27" name="Shape 25"/>
          <p:cNvSpPr/>
          <p:nvPr/>
        </p:nvSpPr>
        <p:spPr>
          <a:xfrm>
            <a:off x="548640" y="4206240"/>
            <a:ext cx="11064240" cy="914400"/>
          </a:xfrm>
          <a:prstGeom prst="rect">
            <a:avLst/>
          </a:prstGeom>
          <a:solidFill>
            <a:srgbClr val="FFF3E0"/>
          </a:solidFill>
          <a:ln w="12700">
            <a:solidFill>
              <a:srgbClr val="E67E22"/>
            </a:solidFill>
            <a:prstDash val="solid"/>
          </a:ln>
          <a:effectLst>
            <a:outerShdw blurRad="508" dist="254" dir="16200000" algn="bl" rotWithShape="0">
              <a:srgbClr val="000000">
                <a:alpha val="5000"/>
              </a:srgbClr>
            </a:outerShdw>
          </a:effectLst>
        </p:spPr>
        <p:txBody>
          <a:bodyPr/>
          <a:lstStyle/>
          <a:p>
            <a:endParaRPr lang="zh-CN" altLang="en-US"/>
          </a:p>
        </p:txBody>
      </p:sp>
      <p:sp>
        <p:nvSpPr>
          <p:cNvPr id="28" name="Text 26"/>
          <p:cNvSpPr/>
          <p:nvPr/>
        </p:nvSpPr>
        <p:spPr>
          <a:xfrm>
            <a:off x="822960" y="4389120"/>
            <a:ext cx="10515600" cy="502920"/>
          </a:xfrm>
          <a:prstGeom prst="rect">
            <a:avLst/>
          </a:prstGeom>
          <a:noFill/>
          <a:ln/>
        </p:spPr>
        <p:txBody>
          <a:bodyPr wrap="square" rtlCol="0" anchor="ctr"/>
          <a:lstStyle/>
          <a:p>
            <a:pPr marL="0" indent="0" algn="ctr">
              <a:buNone/>
            </a:pPr>
            <a:r>
              <a:rPr lang="en-US" sz="1600" b="1" dirty="0">
                <a:solidFill>
                  <a:srgbClr val="96281B"/>
                </a:solidFill>
                <a:latin typeface="Microsoft YaHei" pitchFamily="34" charset="0"/>
                <a:ea typeface="Microsoft YaHei" pitchFamily="34" charset="-122"/>
                <a:cs typeface="Microsoft YaHei" pitchFamily="34" charset="-120"/>
              </a:rPr>
              <a:t>核心矛盾：传统人工检测  vs  标准化、可追溯、高效率的自动化需求</a:t>
            </a:r>
            <a:endParaRPr lang="en-US" sz="1600" dirty="0"/>
          </a:p>
        </p:txBody>
      </p:sp>
      <p:sp>
        <p:nvSpPr>
          <p:cNvPr id="34" name="文本框 33">
            <a:extLst>
              <a:ext uri="{FF2B5EF4-FFF2-40B4-BE49-F238E27FC236}">
                <a16:creationId xmlns:a16="http://schemas.microsoft.com/office/drawing/2014/main" id="{CAE0A5E2-1D47-E254-4580-FFE6919D42C6}"/>
              </a:ext>
            </a:extLst>
          </p:cNvPr>
          <p:cNvSpPr txBox="1"/>
          <p:nvPr/>
        </p:nvSpPr>
        <p:spPr>
          <a:xfrm>
            <a:off x="548639" y="5372100"/>
            <a:ext cx="11064239" cy="1200329"/>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建筑材料的防火安全性能是构筑社会公共安全防线的基石，直接关系到建筑结构在火灾中的稳定性、人员疏散安全以及财产保护。不燃性作为评价建筑材料及制品防火等级最基础和最重要的性能指标之一，其测试结果的准确性、可靠性和可复现性具有法规强制性意义。</a:t>
            </a:r>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01</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国内外研究现状与竞品分析</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LITERATURE REVIEW &amp; BENCHMARKING</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5</a:t>
            </a:r>
            <a:endParaRPr lang="en-US" sz="1000" dirty="0"/>
          </a:p>
        </p:txBody>
      </p:sp>
      <p:sp>
        <p:nvSpPr>
          <p:cNvPr id="11" name="Shape 9"/>
          <p:cNvSpPr/>
          <p:nvPr/>
        </p:nvSpPr>
        <p:spPr>
          <a:xfrm>
            <a:off x="548640" y="1554480"/>
            <a:ext cx="347472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2" name="Shape 10"/>
          <p:cNvSpPr/>
          <p:nvPr/>
        </p:nvSpPr>
        <p:spPr>
          <a:xfrm>
            <a:off x="548640" y="1554480"/>
            <a:ext cx="3474720" cy="54864"/>
          </a:xfrm>
          <a:prstGeom prst="rect">
            <a:avLst/>
          </a:prstGeom>
          <a:solidFill>
            <a:srgbClr val="C0392B"/>
          </a:solidFill>
          <a:ln/>
        </p:spPr>
        <p:txBody>
          <a:bodyPr/>
          <a:lstStyle/>
          <a:p>
            <a:endParaRPr lang="zh-CN" altLang="en-US"/>
          </a:p>
        </p:txBody>
      </p:sp>
      <p:sp>
        <p:nvSpPr>
          <p:cNvPr id="13" name="Text 11"/>
          <p:cNvSpPr/>
          <p:nvPr/>
        </p:nvSpPr>
        <p:spPr>
          <a:xfrm>
            <a:off x="822960" y="1783080"/>
            <a:ext cx="2926080" cy="411480"/>
          </a:xfrm>
          <a:prstGeom prst="rect">
            <a:avLst/>
          </a:prstGeom>
          <a:noFill/>
          <a:ln/>
        </p:spPr>
        <p:txBody>
          <a:bodyPr wrap="square" rtlCol="0" anchor="ctr"/>
          <a:lstStyle/>
          <a:p>
            <a:pPr marL="0" indent="0">
              <a:buNone/>
            </a:pPr>
            <a:r>
              <a:rPr lang="en-US" sz="1600" b="1" dirty="0">
                <a:solidFill>
                  <a:srgbClr val="2C1810"/>
                </a:solidFill>
                <a:latin typeface="Microsoft YaHei" pitchFamily="34" charset="0"/>
                <a:ea typeface="Microsoft YaHei" pitchFamily="34" charset="-122"/>
                <a:cs typeface="Microsoft YaHei" pitchFamily="34" charset="-120"/>
              </a:rPr>
              <a:t>🏛  国内研究现状</a:t>
            </a:r>
            <a:endParaRPr lang="en-US" sz="1600" dirty="0"/>
          </a:p>
        </p:txBody>
      </p:sp>
      <p:sp>
        <p:nvSpPr>
          <p:cNvPr id="14" name="Text 12"/>
          <p:cNvSpPr/>
          <p:nvPr/>
        </p:nvSpPr>
        <p:spPr>
          <a:xfrm>
            <a:off x="822960" y="2286000"/>
            <a:ext cx="2926080" cy="1188720"/>
          </a:xfrm>
          <a:prstGeom prst="rect">
            <a:avLst/>
          </a:prstGeom>
          <a:noFill/>
          <a:ln/>
        </p:spPr>
        <p:txBody>
          <a:bodyPr wrap="square" rtlCol="0" anchor="ctr"/>
          <a:lstStyle/>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GB/T 5464-2010 标准体系</a:t>
            </a:r>
            <a:endParaRPr lang="en-US" sz="1200" dirty="0"/>
          </a:p>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高校/科研院所自动化转型趋势</a:t>
            </a:r>
            <a:endParaRPr lang="en-US" sz="1200" dirty="0"/>
          </a:p>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建材检测行业数字化转型加速</a:t>
            </a:r>
            <a:endParaRPr lang="en-US" sz="1200" dirty="0"/>
          </a:p>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智能制造 2025 政策支持</a:t>
            </a:r>
            <a:endParaRPr lang="en-US" sz="1200" dirty="0"/>
          </a:p>
        </p:txBody>
      </p:sp>
      <p:sp>
        <p:nvSpPr>
          <p:cNvPr id="15" name="Shape 13"/>
          <p:cNvSpPr/>
          <p:nvPr/>
        </p:nvSpPr>
        <p:spPr>
          <a:xfrm>
            <a:off x="4297680" y="1554480"/>
            <a:ext cx="347472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6" name="Shape 14"/>
          <p:cNvSpPr/>
          <p:nvPr/>
        </p:nvSpPr>
        <p:spPr>
          <a:xfrm>
            <a:off x="4297680" y="1554480"/>
            <a:ext cx="3474720" cy="54864"/>
          </a:xfrm>
          <a:prstGeom prst="rect">
            <a:avLst/>
          </a:prstGeom>
          <a:solidFill>
            <a:srgbClr val="E67E22"/>
          </a:solidFill>
          <a:ln/>
        </p:spPr>
        <p:txBody>
          <a:bodyPr/>
          <a:lstStyle/>
          <a:p>
            <a:endParaRPr lang="zh-CN" altLang="en-US"/>
          </a:p>
        </p:txBody>
      </p:sp>
      <p:sp>
        <p:nvSpPr>
          <p:cNvPr id="17" name="Text 15"/>
          <p:cNvSpPr/>
          <p:nvPr/>
        </p:nvSpPr>
        <p:spPr>
          <a:xfrm>
            <a:off x="4572000" y="1783080"/>
            <a:ext cx="2926080" cy="411480"/>
          </a:xfrm>
          <a:prstGeom prst="rect">
            <a:avLst/>
          </a:prstGeom>
          <a:noFill/>
          <a:ln/>
        </p:spPr>
        <p:txBody>
          <a:bodyPr wrap="square" rtlCol="0" anchor="ctr"/>
          <a:lstStyle/>
          <a:p>
            <a:pPr marL="0" indent="0">
              <a:buNone/>
            </a:pPr>
            <a:r>
              <a:rPr lang="en-US" sz="1600" b="1" dirty="0">
                <a:solidFill>
                  <a:srgbClr val="2C1810"/>
                </a:solidFill>
                <a:latin typeface="Microsoft YaHei" pitchFamily="34" charset="0"/>
                <a:ea typeface="Microsoft YaHei" pitchFamily="34" charset="-122"/>
                <a:cs typeface="Microsoft YaHei" pitchFamily="34" charset="-120"/>
              </a:rPr>
              <a:t>🌐  国外研究现状</a:t>
            </a:r>
            <a:endParaRPr lang="en-US" sz="1600" dirty="0"/>
          </a:p>
        </p:txBody>
      </p:sp>
      <p:sp>
        <p:nvSpPr>
          <p:cNvPr id="18" name="Text 16"/>
          <p:cNvSpPr/>
          <p:nvPr/>
        </p:nvSpPr>
        <p:spPr>
          <a:xfrm>
            <a:off x="4572000" y="2286000"/>
            <a:ext cx="2926080" cy="1188720"/>
          </a:xfrm>
          <a:prstGeom prst="rect">
            <a:avLst/>
          </a:prstGeom>
          <a:noFill/>
          <a:ln/>
        </p:spPr>
        <p:txBody>
          <a:bodyPr wrap="square" rtlCol="0" anchor="ctr"/>
          <a:lstStyle/>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ISO 1182:2020 国际标准</a:t>
            </a:r>
            <a:endParaRPr lang="en-US" sz="1200" dirty="0"/>
          </a:p>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EN 13501-1 欧盟分级体系</a:t>
            </a:r>
            <a:endParaRPr lang="en-US" sz="1200" dirty="0"/>
          </a:p>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NIST 建材防火研究</a:t>
            </a:r>
            <a:endParaRPr lang="en-US" sz="1200" dirty="0"/>
          </a:p>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AI/ML 智能化检测趋势</a:t>
            </a:r>
            <a:endParaRPr lang="en-US" sz="1200" dirty="0"/>
          </a:p>
        </p:txBody>
      </p:sp>
      <p:sp>
        <p:nvSpPr>
          <p:cNvPr id="19" name="Shape 17"/>
          <p:cNvSpPr/>
          <p:nvPr/>
        </p:nvSpPr>
        <p:spPr>
          <a:xfrm>
            <a:off x="8046720" y="1554480"/>
            <a:ext cx="356616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0" name="Shape 18"/>
          <p:cNvSpPr/>
          <p:nvPr/>
        </p:nvSpPr>
        <p:spPr>
          <a:xfrm>
            <a:off x="8046720" y="1554480"/>
            <a:ext cx="3566160" cy="54864"/>
          </a:xfrm>
          <a:prstGeom prst="rect">
            <a:avLst/>
          </a:prstGeom>
          <a:solidFill>
            <a:srgbClr val="F39C12"/>
          </a:solidFill>
          <a:ln/>
        </p:spPr>
        <p:txBody>
          <a:bodyPr/>
          <a:lstStyle/>
          <a:p>
            <a:endParaRPr lang="zh-CN" altLang="en-US"/>
          </a:p>
        </p:txBody>
      </p:sp>
      <p:sp>
        <p:nvSpPr>
          <p:cNvPr id="21" name="Text 19"/>
          <p:cNvSpPr/>
          <p:nvPr/>
        </p:nvSpPr>
        <p:spPr>
          <a:xfrm>
            <a:off x="8321040" y="1783080"/>
            <a:ext cx="3017520" cy="411480"/>
          </a:xfrm>
          <a:prstGeom prst="rect">
            <a:avLst/>
          </a:prstGeom>
          <a:noFill/>
          <a:ln/>
        </p:spPr>
        <p:txBody>
          <a:bodyPr wrap="square" rtlCol="0" anchor="ctr"/>
          <a:lstStyle/>
          <a:p>
            <a:pPr marL="0" indent="0">
              <a:buNone/>
            </a:pPr>
            <a:r>
              <a:rPr lang="en-US" sz="1600" b="1" dirty="0">
                <a:solidFill>
                  <a:srgbClr val="2C1810"/>
                </a:solidFill>
                <a:latin typeface="Microsoft YaHei" pitchFamily="34" charset="0"/>
                <a:ea typeface="Microsoft YaHei" pitchFamily="34" charset="-122"/>
                <a:cs typeface="Microsoft YaHei" pitchFamily="34" charset="-120"/>
              </a:rPr>
              <a:t>⚖  竞品对比分析</a:t>
            </a:r>
            <a:endParaRPr lang="en-US" sz="1600" dirty="0"/>
          </a:p>
        </p:txBody>
      </p:sp>
      <p:sp>
        <p:nvSpPr>
          <p:cNvPr id="22" name="Text 20"/>
          <p:cNvSpPr/>
          <p:nvPr/>
        </p:nvSpPr>
        <p:spPr>
          <a:xfrm>
            <a:off x="8321040" y="2286000"/>
            <a:ext cx="3017520" cy="1188720"/>
          </a:xfrm>
          <a:prstGeom prst="rect">
            <a:avLst/>
          </a:prstGeom>
          <a:noFill/>
          <a:ln/>
        </p:spPr>
        <p:txBody>
          <a:bodyPr wrap="square" rtlCol="0" anchor="ctr"/>
          <a:lstStyle/>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商用系统：价格昂贵、依赖硬件</a:t>
            </a:r>
            <a:endParaRPr lang="en-US" sz="1200" dirty="0"/>
          </a:p>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教学场景：设备数量有限</a:t>
            </a:r>
            <a:endParaRPr lang="en-US" sz="1200" dirty="0"/>
          </a:p>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本项目优势：纯仿真、零硬件、</a:t>
            </a:r>
            <a:endParaRPr lang="en-US" sz="1200" dirty="0"/>
          </a:p>
          <a:p>
            <a:pPr marL="0" indent="0">
              <a:lnSpc>
                <a:spcPts val="2000"/>
              </a:lnSpc>
              <a:buNone/>
            </a:pPr>
            <a:r>
              <a:rPr lang="en-US" sz="1200" dirty="0">
                <a:solidFill>
                  <a:srgbClr val="5D4E44"/>
                </a:solidFill>
                <a:latin typeface="Calibri" pitchFamily="34" charset="0"/>
                <a:ea typeface="Calibri" pitchFamily="34" charset="-122"/>
                <a:cs typeface="Calibri" pitchFamily="34" charset="-120"/>
              </a:rPr>
              <a:t>  低成本、教学友好、可批量部署</a:t>
            </a:r>
            <a:endParaRPr lang="en-US" sz="1200" dirty="0"/>
          </a:p>
        </p:txBody>
      </p:sp>
      <p:sp>
        <p:nvSpPr>
          <p:cNvPr id="23" name="Text 21"/>
          <p:cNvSpPr/>
          <p:nvPr/>
        </p:nvSpPr>
        <p:spPr>
          <a:xfrm>
            <a:off x="731520" y="3931920"/>
            <a:ext cx="4572000" cy="36576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关键技术指标对比</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4389120"/>
          <a:ext cx="11064240" cy="1828800"/>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365760">
                <a:tc>
                  <a:txBody>
                    <a:bodyPr/>
                    <a:lstStyle/>
                    <a:p>
                      <a:pPr marL="0" indent="0" algn="ctr">
                        <a:buNone/>
                      </a:pPr>
                      <a:r>
                        <a:rPr lang="en-US" sz="1200" b="1" dirty="0">
                          <a:solidFill>
                            <a:srgbClr val="FAFAF7"/>
                          </a:solidFill>
                          <a:latin typeface="Calibri" pitchFamily="34" charset="0"/>
                          <a:ea typeface="Calibri" pitchFamily="34" charset="-122"/>
                          <a:cs typeface="Calibri" pitchFamily="34" charset="-120"/>
                        </a:rPr>
                        <a:t>对比维度</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C0392B"/>
                    </a:solidFill>
                  </a:tcPr>
                </a:tc>
                <a:tc>
                  <a:txBody>
                    <a:bodyPr/>
                    <a:lstStyle/>
                    <a:p>
                      <a:pPr marL="0" indent="0" algn="ctr">
                        <a:buNone/>
                      </a:pPr>
                      <a:r>
                        <a:rPr lang="en-US" sz="1200" b="1" dirty="0">
                          <a:solidFill>
                            <a:srgbClr val="FAFAF7"/>
                          </a:solidFill>
                          <a:latin typeface="Calibri" pitchFamily="34" charset="0"/>
                          <a:ea typeface="Calibri" pitchFamily="34" charset="-122"/>
                          <a:cs typeface="Calibri" pitchFamily="34" charset="-120"/>
                        </a:rPr>
                        <a:t>商用检测系统</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C0392B"/>
                    </a:solidFill>
                  </a:tcPr>
                </a:tc>
                <a:tc>
                  <a:txBody>
                    <a:bodyPr/>
                    <a:lstStyle/>
                    <a:p>
                      <a:pPr marL="0" indent="0" algn="ctr">
                        <a:buNone/>
                      </a:pPr>
                      <a:r>
                        <a:rPr lang="en-US" sz="1200" b="1" dirty="0">
                          <a:solidFill>
                            <a:srgbClr val="FAFAF7"/>
                          </a:solidFill>
                          <a:latin typeface="Calibri" pitchFamily="34" charset="0"/>
                          <a:ea typeface="Calibri" pitchFamily="34" charset="-122"/>
                          <a:cs typeface="Calibri" pitchFamily="34" charset="-120"/>
                        </a:rPr>
                        <a:t>教学实验设备</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C0392B"/>
                    </a:solidFill>
                  </a:tcPr>
                </a:tc>
                <a:tc>
                  <a:txBody>
                    <a:bodyPr/>
                    <a:lstStyle/>
                    <a:p>
                      <a:pPr marL="0" indent="0" algn="ctr">
                        <a:buNone/>
                      </a:pPr>
                      <a:r>
                        <a:rPr lang="en-US" sz="1200" b="1" dirty="0">
                          <a:solidFill>
                            <a:srgbClr val="FAFAF7"/>
                          </a:solidFill>
                          <a:latin typeface="Calibri" pitchFamily="34" charset="0"/>
                          <a:ea typeface="Calibri" pitchFamily="34" charset="-122"/>
                          <a:cs typeface="Calibri" pitchFamily="34" charset="-120"/>
                        </a:rPr>
                        <a:t>本仿真系统</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硬件依赖</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需专业设备 (¥15万+)</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需基础设备 (¥5万+)</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零硬件需求</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部署方式</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单机专用</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实验室固定</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任意 Windows 10/11</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数据分析</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基础统计</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人工记录</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自动分析 + 报告生成</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教学适用</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不适合</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dirty="0">
                          <a:solidFill>
                            <a:srgbClr val="2C1810"/>
                          </a:solidFill>
                          <a:latin typeface="Calibri" pitchFamily="34" charset="0"/>
                          <a:ea typeface="Calibri" pitchFamily="34" charset="-122"/>
                          <a:cs typeface="Calibri" pitchFamily="34" charset="-120"/>
                        </a:rPr>
                        <a:t>仅演示</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全员上手，无限次实验</a:t>
                      </a:r>
                      <a:endParaRPr lang="en-US" sz="12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01</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项目来源与研究意义</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PROJECT ORIGIN &amp; SIGNIFICANCE</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6</a:t>
            </a:r>
            <a:endParaRPr lang="en-US" sz="1000" dirty="0"/>
          </a:p>
        </p:txBody>
      </p:sp>
      <p:sp>
        <p:nvSpPr>
          <p:cNvPr id="11" name="Shape 9"/>
          <p:cNvSpPr/>
          <p:nvPr/>
        </p:nvSpPr>
        <p:spPr>
          <a:xfrm>
            <a:off x="548640" y="1554480"/>
            <a:ext cx="3566160" cy="25603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2" name="Text 10"/>
          <p:cNvSpPr/>
          <p:nvPr/>
        </p:nvSpPr>
        <p:spPr>
          <a:xfrm>
            <a:off x="822960" y="1783080"/>
            <a:ext cx="548640" cy="45720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3" name="Text 11"/>
          <p:cNvSpPr/>
          <p:nvPr/>
        </p:nvSpPr>
        <p:spPr>
          <a:xfrm>
            <a:off x="1371600" y="1828800"/>
            <a:ext cx="2560320" cy="411480"/>
          </a:xfrm>
          <a:prstGeom prst="rect">
            <a:avLst/>
          </a:prstGeom>
          <a:noFill/>
          <a:ln/>
        </p:spPr>
        <p:txBody>
          <a:bodyPr wrap="square" rtlCol="0" anchor="ctr"/>
          <a:lstStyle/>
          <a:p>
            <a:pPr marL="0" indent="0">
              <a:buNone/>
            </a:pPr>
            <a:r>
              <a:rPr lang="en-US" sz="1800" b="1" dirty="0">
                <a:solidFill>
                  <a:srgbClr val="96281B"/>
                </a:solidFill>
                <a:latin typeface="Microsoft YaHei" pitchFamily="34" charset="0"/>
                <a:ea typeface="Microsoft YaHei" pitchFamily="34" charset="-122"/>
                <a:cs typeface="Microsoft YaHei" pitchFamily="34" charset="-120"/>
              </a:rPr>
              <a:t>实践意义</a:t>
            </a:r>
            <a:endParaRPr lang="en-US" sz="1800" dirty="0"/>
          </a:p>
        </p:txBody>
      </p:sp>
      <p:sp>
        <p:nvSpPr>
          <p:cNvPr id="14" name="Shape 12"/>
          <p:cNvSpPr/>
          <p:nvPr/>
        </p:nvSpPr>
        <p:spPr>
          <a:xfrm>
            <a:off x="1371600" y="2286000"/>
            <a:ext cx="914400" cy="18288"/>
          </a:xfrm>
          <a:prstGeom prst="rect">
            <a:avLst/>
          </a:prstGeom>
          <a:solidFill>
            <a:srgbClr val="E67E22"/>
          </a:solidFill>
          <a:ln/>
        </p:spPr>
        <p:txBody>
          <a:bodyPr/>
          <a:lstStyle/>
          <a:p>
            <a:endParaRPr lang="zh-CN" altLang="en-US"/>
          </a:p>
        </p:txBody>
      </p:sp>
      <p:sp>
        <p:nvSpPr>
          <p:cNvPr id="15" name="Text 13"/>
          <p:cNvSpPr/>
          <p:nvPr/>
        </p:nvSpPr>
        <p:spPr>
          <a:xfrm>
            <a:off x="822960" y="2560320"/>
            <a:ext cx="3017520" cy="1280160"/>
          </a:xfrm>
          <a:prstGeom prst="rect">
            <a:avLst/>
          </a:prstGeom>
          <a:noFill/>
          <a:ln/>
        </p:spPr>
        <p:txBody>
          <a:bodyPr wrap="square" rtlCol="0" anchor="ctr"/>
          <a:lstStyle/>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零硬件需求，快速搭建</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不燃性试验教学与开发环境</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降低 90% 以上设备投入成本</a:t>
            </a:r>
            <a:endParaRPr lang="en-US" sz="1200" dirty="0"/>
          </a:p>
        </p:txBody>
      </p:sp>
      <p:sp>
        <p:nvSpPr>
          <p:cNvPr id="16" name="Shape 14"/>
          <p:cNvSpPr/>
          <p:nvPr/>
        </p:nvSpPr>
        <p:spPr>
          <a:xfrm>
            <a:off x="4389120" y="1554480"/>
            <a:ext cx="3566160" cy="25603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7" name="Text 15"/>
          <p:cNvSpPr/>
          <p:nvPr/>
        </p:nvSpPr>
        <p:spPr>
          <a:xfrm>
            <a:off x="4663440" y="1783080"/>
            <a:ext cx="548640" cy="45720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8" name="Text 16"/>
          <p:cNvSpPr/>
          <p:nvPr/>
        </p:nvSpPr>
        <p:spPr>
          <a:xfrm>
            <a:off x="5212080" y="1828800"/>
            <a:ext cx="2560320" cy="411480"/>
          </a:xfrm>
          <a:prstGeom prst="rect">
            <a:avLst/>
          </a:prstGeom>
          <a:noFill/>
          <a:ln/>
        </p:spPr>
        <p:txBody>
          <a:bodyPr wrap="square" rtlCol="0" anchor="ctr"/>
          <a:lstStyle/>
          <a:p>
            <a:pPr marL="0" indent="0">
              <a:buNone/>
            </a:pPr>
            <a:r>
              <a:rPr lang="en-US" sz="1800" b="1" dirty="0">
                <a:solidFill>
                  <a:srgbClr val="96281B"/>
                </a:solidFill>
                <a:latin typeface="Microsoft YaHei" pitchFamily="34" charset="0"/>
                <a:ea typeface="Microsoft YaHei" pitchFamily="34" charset="-122"/>
                <a:cs typeface="Microsoft YaHei" pitchFamily="34" charset="-120"/>
              </a:rPr>
              <a:t>技术意义</a:t>
            </a:r>
            <a:endParaRPr lang="en-US" sz="1800" dirty="0"/>
          </a:p>
        </p:txBody>
      </p:sp>
      <p:sp>
        <p:nvSpPr>
          <p:cNvPr id="19" name="Shape 17"/>
          <p:cNvSpPr/>
          <p:nvPr/>
        </p:nvSpPr>
        <p:spPr>
          <a:xfrm>
            <a:off x="5212080" y="2286000"/>
            <a:ext cx="914400" cy="18288"/>
          </a:xfrm>
          <a:prstGeom prst="rect">
            <a:avLst/>
          </a:prstGeom>
          <a:solidFill>
            <a:srgbClr val="E67E22"/>
          </a:solidFill>
          <a:ln/>
        </p:spPr>
        <p:txBody>
          <a:bodyPr/>
          <a:lstStyle/>
          <a:p>
            <a:endParaRPr lang="zh-CN" altLang="en-US"/>
          </a:p>
        </p:txBody>
      </p:sp>
      <p:sp>
        <p:nvSpPr>
          <p:cNvPr id="20" name="Text 18"/>
          <p:cNvSpPr/>
          <p:nvPr/>
        </p:nvSpPr>
        <p:spPr>
          <a:xfrm>
            <a:off x="4663440" y="2560320"/>
            <a:ext cx="3017520" cy="1280160"/>
          </a:xfrm>
          <a:prstGeom prst="rect">
            <a:avLst/>
          </a:prstGeom>
          <a:noFill/>
          <a:ln/>
        </p:spPr>
        <p:txBody>
          <a:bodyPr wrap="square" rtlCol="0" anchor="ctr"/>
          <a:lstStyle/>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仿真算法替代物理设备</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四层松耦合可扩展架构</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为同类检测系统提供参考模型</a:t>
            </a:r>
            <a:endParaRPr lang="en-US" sz="1200" dirty="0"/>
          </a:p>
        </p:txBody>
      </p:sp>
      <p:sp>
        <p:nvSpPr>
          <p:cNvPr id="21" name="Shape 19"/>
          <p:cNvSpPr/>
          <p:nvPr/>
        </p:nvSpPr>
        <p:spPr>
          <a:xfrm>
            <a:off x="8229600" y="1554480"/>
            <a:ext cx="3566160" cy="25603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2" name="Text 20"/>
          <p:cNvSpPr/>
          <p:nvPr/>
        </p:nvSpPr>
        <p:spPr>
          <a:xfrm>
            <a:off x="8503920" y="1783080"/>
            <a:ext cx="548640" cy="45720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23" name="Text 21"/>
          <p:cNvSpPr/>
          <p:nvPr/>
        </p:nvSpPr>
        <p:spPr>
          <a:xfrm>
            <a:off x="9052560" y="1828800"/>
            <a:ext cx="2560320" cy="411480"/>
          </a:xfrm>
          <a:prstGeom prst="rect">
            <a:avLst/>
          </a:prstGeom>
          <a:noFill/>
          <a:ln/>
        </p:spPr>
        <p:txBody>
          <a:bodyPr wrap="square" rtlCol="0" anchor="ctr"/>
          <a:lstStyle/>
          <a:p>
            <a:pPr marL="0" indent="0">
              <a:buNone/>
            </a:pPr>
            <a:r>
              <a:rPr lang="en-US" sz="1800" b="1" dirty="0">
                <a:solidFill>
                  <a:srgbClr val="96281B"/>
                </a:solidFill>
                <a:latin typeface="Microsoft YaHei" pitchFamily="34" charset="0"/>
                <a:ea typeface="Microsoft YaHei" pitchFamily="34" charset="-122"/>
                <a:cs typeface="Microsoft YaHei" pitchFamily="34" charset="-120"/>
              </a:rPr>
              <a:t>教学意义</a:t>
            </a:r>
            <a:endParaRPr lang="en-US" sz="1800" dirty="0"/>
          </a:p>
        </p:txBody>
      </p:sp>
      <p:sp>
        <p:nvSpPr>
          <p:cNvPr id="24" name="Shape 22"/>
          <p:cNvSpPr/>
          <p:nvPr/>
        </p:nvSpPr>
        <p:spPr>
          <a:xfrm>
            <a:off x="9052560" y="2286000"/>
            <a:ext cx="914400" cy="18288"/>
          </a:xfrm>
          <a:prstGeom prst="rect">
            <a:avLst/>
          </a:prstGeom>
          <a:solidFill>
            <a:srgbClr val="E67E22"/>
          </a:solidFill>
          <a:ln/>
        </p:spPr>
        <p:txBody>
          <a:bodyPr/>
          <a:lstStyle/>
          <a:p>
            <a:endParaRPr lang="zh-CN" altLang="en-US"/>
          </a:p>
        </p:txBody>
      </p:sp>
      <p:sp>
        <p:nvSpPr>
          <p:cNvPr id="25" name="Text 23"/>
          <p:cNvSpPr/>
          <p:nvPr/>
        </p:nvSpPr>
        <p:spPr>
          <a:xfrm>
            <a:off x="8503920" y="2560320"/>
            <a:ext cx="3017520" cy="1280160"/>
          </a:xfrm>
          <a:prstGeom prst="rect">
            <a:avLst/>
          </a:prstGeom>
          <a:noFill/>
          <a:ln/>
        </p:spPr>
        <p:txBody>
          <a:bodyPr wrap="square" rtlCol="0" anchor="ctr"/>
          <a:lstStyle/>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全员上手操作，无需排队</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支持无限次重复实验</a:t>
            </a:r>
            <a:endParaRPr lang="en-US" sz="1200" dirty="0"/>
          </a:p>
          <a:p>
            <a:pPr marL="0" indent="0">
              <a:lnSpc>
                <a:spcPts val="2200"/>
              </a:lnSpc>
              <a:buNone/>
            </a:pPr>
            <a:r>
              <a:rPr lang="en-US" sz="1200" dirty="0">
                <a:solidFill>
                  <a:srgbClr val="5D4E44"/>
                </a:solidFill>
                <a:latin typeface="Calibri" pitchFamily="34" charset="0"/>
                <a:ea typeface="Calibri" pitchFamily="34" charset="-122"/>
                <a:cs typeface="Calibri" pitchFamily="34" charset="-120"/>
              </a:rPr>
              <a:t>可视化温度曲线辅助理解</a:t>
            </a:r>
            <a:endParaRPr lang="en-US" sz="1200" dirty="0"/>
          </a:p>
        </p:txBody>
      </p:sp>
      <p:sp>
        <p:nvSpPr>
          <p:cNvPr id="26" name="Shape 24"/>
          <p:cNvSpPr/>
          <p:nvPr/>
        </p:nvSpPr>
        <p:spPr>
          <a:xfrm>
            <a:off x="4962524" y="4389120"/>
            <a:ext cx="6650355" cy="914400"/>
          </a:xfrm>
          <a:prstGeom prst="rect">
            <a:avLst/>
          </a:prstGeom>
          <a:solidFill>
            <a:srgbClr val="FFF3E0"/>
          </a:solidFill>
          <a:ln w="12700">
            <a:solidFill>
              <a:srgbClr val="E67E22"/>
            </a:solidFill>
            <a:prstDash val="solid"/>
          </a:ln>
          <a:effectLst>
            <a:outerShdw blurRad="508" dist="254" dir="16200000" algn="bl" rotWithShape="0">
              <a:srgbClr val="000000">
                <a:alpha val="5000"/>
              </a:srgbClr>
            </a:outerShdw>
          </a:effectLst>
        </p:spPr>
        <p:txBody>
          <a:bodyPr/>
          <a:lstStyle/>
          <a:p>
            <a:endParaRPr lang="zh-CN" altLang="en-US"/>
          </a:p>
        </p:txBody>
      </p:sp>
      <p:sp>
        <p:nvSpPr>
          <p:cNvPr id="27" name="Text 25"/>
          <p:cNvSpPr/>
          <p:nvPr/>
        </p:nvSpPr>
        <p:spPr>
          <a:xfrm>
            <a:off x="5017974" y="4572000"/>
            <a:ext cx="6320585" cy="502920"/>
          </a:xfrm>
          <a:prstGeom prst="rect">
            <a:avLst/>
          </a:prstGeom>
          <a:noFill/>
          <a:ln/>
        </p:spPr>
        <p:txBody>
          <a:bodyPr wrap="square" rtlCol="0" anchor="ctr"/>
          <a:lstStyle/>
          <a:p>
            <a:pPr marL="0" indent="0" algn="ctr">
              <a:buNone/>
            </a:pPr>
            <a:r>
              <a:rPr lang="en-US" sz="1400" b="1" dirty="0">
                <a:solidFill>
                  <a:srgbClr val="96281B"/>
                </a:solidFill>
                <a:latin typeface="Microsoft YaHei" pitchFamily="34" charset="0"/>
                <a:ea typeface="Microsoft YaHei" pitchFamily="34" charset="-122"/>
                <a:cs typeface="Microsoft YaHei" pitchFamily="34" charset="-120"/>
              </a:rPr>
              <a:t>课程项目定位：.NET 8 WinForms + SQLite 纯仿真方案 | 四人团队协作 | ISO 1182 / GB/T 5464 标准兼容</a:t>
            </a:r>
            <a:endParaRPr lang="en-US" sz="1400" dirty="0"/>
          </a:p>
        </p:txBody>
      </p:sp>
      <p:pic>
        <p:nvPicPr>
          <p:cNvPr id="35" name="图片 34" descr="日程表&#10;&#10;AI 生成的内容可能不正确。">
            <a:extLst>
              <a:ext uri="{FF2B5EF4-FFF2-40B4-BE49-F238E27FC236}">
                <a16:creationId xmlns:a16="http://schemas.microsoft.com/office/drawing/2014/main" id="{6DF176B7-D7A8-3521-986A-0A67070C4587}"/>
              </a:ext>
            </a:extLst>
          </p:cNvPr>
          <p:cNvPicPr>
            <a:picLocks noChangeAspect="1"/>
          </p:cNvPicPr>
          <p:nvPr/>
        </p:nvPicPr>
        <p:blipFill>
          <a:blip r:embed="rId3"/>
          <a:srcRect t="9063" r="-2957"/>
          <a:stretch>
            <a:fillRect/>
          </a:stretch>
        </p:blipFill>
        <p:spPr>
          <a:xfrm>
            <a:off x="579120" y="4434840"/>
            <a:ext cx="3535680" cy="2011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00E"/>
        </a:solidFill>
        <a:effectLst/>
      </p:bgPr>
    </p:bg>
    <p:spTree>
      <p:nvGrpSpPr>
        <p:cNvPr id="1" name=""/>
        <p:cNvGrpSpPr/>
        <p:nvPr/>
      </p:nvGrpSpPr>
      <p:grpSpPr>
        <a:xfrm>
          <a:off x="0" y="0"/>
          <a:ext cx="0" cy="0"/>
          <a:chOff x="0" y="0"/>
          <a:chExt cx="0" cy="0"/>
        </a:xfrm>
      </p:grpSpPr>
      <p:sp>
        <p:nvSpPr>
          <p:cNvPr id="2" name="Text 0"/>
          <p:cNvSpPr/>
          <p:nvPr/>
        </p:nvSpPr>
        <p:spPr>
          <a:xfrm>
            <a:off x="731520" y="1828800"/>
            <a:ext cx="2743200" cy="2011680"/>
          </a:xfrm>
          <a:prstGeom prst="rect">
            <a:avLst/>
          </a:prstGeom>
          <a:noFill/>
          <a:ln/>
        </p:spPr>
        <p:txBody>
          <a:bodyPr wrap="square" rtlCol="0" anchor="ctr"/>
          <a:lstStyle/>
          <a:p>
            <a:pPr marL="0" indent="0" algn="l">
              <a:buNone/>
            </a:pPr>
            <a:r>
              <a:rPr lang="en-US" sz="9600" b="1" dirty="0">
                <a:solidFill>
                  <a:srgbClr val="C0392B"/>
                </a:solidFill>
                <a:latin typeface="Impact" pitchFamily="34" charset="0"/>
                <a:ea typeface="Impact" pitchFamily="34" charset="-122"/>
                <a:cs typeface="Impact" pitchFamily="34" charset="-120"/>
              </a:rPr>
              <a:t>02</a:t>
            </a:r>
            <a:endParaRPr lang="en-US" sz="9600" dirty="0"/>
          </a:p>
        </p:txBody>
      </p:sp>
      <p:sp>
        <p:nvSpPr>
          <p:cNvPr id="3" name="Shape 1"/>
          <p:cNvSpPr/>
          <p:nvPr/>
        </p:nvSpPr>
        <p:spPr>
          <a:xfrm>
            <a:off x="731520" y="3931920"/>
            <a:ext cx="1645920" cy="45720"/>
          </a:xfrm>
          <a:prstGeom prst="rect">
            <a:avLst/>
          </a:prstGeom>
          <a:solidFill>
            <a:srgbClr val="E67E22"/>
          </a:solidFill>
          <a:ln/>
        </p:spPr>
        <p:txBody>
          <a:bodyPr/>
          <a:lstStyle/>
          <a:p>
            <a:endParaRPr lang="zh-CN" altLang="en-US"/>
          </a:p>
        </p:txBody>
      </p:sp>
      <p:sp>
        <p:nvSpPr>
          <p:cNvPr id="4" name="Text 2"/>
          <p:cNvSpPr/>
          <p:nvPr/>
        </p:nvSpPr>
        <p:spPr>
          <a:xfrm>
            <a:off x="731520" y="4206240"/>
            <a:ext cx="9144000" cy="914400"/>
          </a:xfrm>
          <a:prstGeom prst="rect">
            <a:avLst/>
          </a:prstGeom>
          <a:noFill/>
          <a:ln/>
        </p:spPr>
        <p:txBody>
          <a:bodyPr wrap="square" rtlCol="0" anchor="ctr"/>
          <a:lstStyle/>
          <a:p>
            <a:pPr marL="0" indent="0">
              <a:buNone/>
            </a:pPr>
            <a:r>
              <a:rPr lang="en-US" sz="3600" b="1" dirty="0">
                <a:solidFill>
                  <a:srgbClr val="FAFAF7"/>
                </a:solidFill>
                <a:latin typeface="Microsoft YaHei" pitchFamily="34" charset="0"/>
                <a:ea typeface="Microsoft YaHei" pitchFamily="34" charset="-122"/>
                <a:cs typeface="Microsoft YaHei" pitchFamily="34" charset="-120"/>
              </a:rPr>
              <a:t>研究内容与技术路线</a:t>
            </a:r>
            <a:endParaRPr lang="en-US" sz="3600" dirty="0"/>
          </a:p>
        </p:txBody>
      </p:sp>
      <p:sp>
        <p:nvSpPr>
          <p:cNvPr id="5" name="Text 3"/>
          <p:cNvSpPr/>
          <p:nvPr/>
        </p:nvSpPr>
        <p:spPr>
          <a:xfrm>
            <a:off x="731520" y="5029200"/>
            <a:ext cx="9144000" cy="731520"/>
          </a:xfrm>
          <a:prstGeom prst="rect">
            <a:avLst/>
          </a:prstGeom>
          <a:noFill/>
          <a:ln/>
        </p:spPr>
        <p:txBody>
          <a:bodyPr wrap="square" rtlCol="0" anchor="ctr"/>
          <a:lstStyle/>
          <a:p>
            <a:pPr marL="0" indent="0">
              <a:buNone/>
            </a:pPr>
            <a:r>
              <a:rPr lang="en-US" sz="1400" kern="0" spc="300" dirty="0">
                <a:solidFill>
                  <a:srgbClr val="A09088"/>
                </a:solidFill>
                <a:latin typeface="Calibri" pitchFamily="34" charset="0"/>
                <a:ea typeface="Calibri" pitchFamily="34" charset="-122"/>
                <a:cs typeface="Calibri" pitchFamily="34" charset="-120"/>
              </a:rPr>
              <a:t>RESEARCH CONTENT &amp; TECHNICAL ROUTE</a:t>
            </a:r>
            <a:endParaRPr lang="en-US" sz="1400" dirty="0"/>
          </a:p>
        </p:txBody>
      </p:sp>
      <p:sp>
        <p:nvSpPr>
          <p:cNvPr id="6" name="Shape 4"/>
          <p:cNvSpPr/>
          <p:nvPr/>
        </p:nvSpPr>
        <p:spPr>
          <a:xfrm>
            <a:off x="0" y="6492240"/>
            <a:ext cx="12191695" cy="54864"/>
          </a:xfrm>
          <a:prstGeom prst="rect">
            <a:avLst/>
          </a:prstGeom>
          <a:solidFill>
            <a:srgbClr val="C0392B"/>
          </a:solidFill>
          <a:ln/>
        </p:spPr>
        <p:txBody>
          <a:bodyPr/>
          <a:lstStyle/>
          <a:p>
            <a:endParaRPr lang="zh-CN" altLang="en-US"/>
          </a:p>
        </p:txBody>
      </p:sp>
      <p:sp>
        <p:nvSpPr>
          <p:cNvPr id="7" name="Shape 5"/>
          <p:cNvSpPr/>
          <p:nvPr/>
        </p:nvSpPr>
        <p:spPr>
          <a:xfrm>
            <a:off x="0" y="6565392"/>
            <a:ext cx="12191695" cy="36576"/>
          </a:xfrm>
          <a:prstGeom prst="rect">
            <a:avLst/>
          </a:prstGeom>
          <a:solidFill>
            <a:srgbClr val="E67E22"/>
          </a:solidFill>
          <a:ln/>
        </p:spPr>
        <p:txBody>
          <a:bodyPr/>
          <a:lstStyle/>
          <a:p>
            <a:endParaRPr lang="zh-CN" altLang="en-US"/>
          </a:p>
        </p:txBody>
      </p:sp>
      <p:sp>
        <p:nvSpPr>
          <p:cNvPr id="8" name="Shape 6"/>
          <p:cNvSpPr/>
          <p:nvPr/>
        </p:nvSpPr>
        <p:spPr>
          <a:xfrm>
            <a:off x="0" y="6620256"/>
            <a:ext cx="12191695" cy="27432"/>
          </a:xfrm>
          <a:prstGeom prst="rect">
            <a:avLst/>
          </a:prstGeom>
          <a:solidFill>
            <a:srgbClr val="F39C12"/>
          </a:solidFill>
          <a:ln/>
        </p:spPr>
        <p:txBody>
          <a:bodyP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02</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研究目标与研究内容</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OBJECTIVES &amp; SCOPE</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8</a:t>
            </a:r>
            <a:endParaRPr lang="en-US" sz="1000" dirty="0"/>
          </a:p>
        </p:txBody>
      </p:sp>
      <p:sp>
        <p:nvSpPr>
          <p:cNvPr id="11" name="Shape 9"/>
          <p:cNvSpPr/>
          <p:nvPr/>
        </p:nvSpPr>
        <p:spPr>
          <a:xfrm>
            <a:off x="731520" y="1600200"/>
            <a:ext cx="457200" cy="457200"/>
          </a:xfrm>
          <a:prstGeom prst="ellipse">
            <a:avLst/>
          </a:prstGeom>
          <a:solidFill>
            <a:srgbClr val="C0392B"/>
          </a:solidFill>
          <a:ln/>
        </p:spPr>
        <p:txBody>
          <a:bodyPr/>
          <a:lstStyle/>
          <a:p>
            <a:endParaRPr lang="zh-CN" altLang="en-US"/>
          </a:p>
        </p:txBody>
      </p:sp>
      <p:sp>
        <p:nvSpPr>
          <p:cNvPr id="12" name="Text 10"/>
          <p:cNvSpPr/>
          <p:nvPr/>
        </p:nvSpPr>
        <p:spPr>
          <a:xfrm>
            <a:off x="731520" y="1600200"/>
            <a:ext cx="457200" cy="457200"/>
          </a:xfrm>
          <a:prstGeom prst="rect">
            <a:avLst/>
          </a:prstGeom>
          <a:noFill/>
          <a:ln/>
        </p:spPr>
        <p:txBody>
          <a:bodyPr wrap="square" rtlCol="0" anchor="ctr"/>
          <a:lstStyle/>
          <a:p>
            <a:pPr marL="0" indent="0" algn="ctr">
              <a:buNone/>
            </a:pPr>
            <a:r>
              <a:rPr lang="en-US" sz="1800" b="1" dirty="0">
                <a:solidFill>
                  <a:srgbClr val="FAFAF7"/>
                </a:solidFill>
                <a:latin typeface="Impact" pitchFamily="34" charset="0"/>
                <a:ea typeface="Impact" pitchFamily="34" charset="-122"/>
                <a:cs typeface="Impact" pitchFamily="34" charset="-120"/>
              </a:rPr>
              <a:t>1</a:t>
            </a:r>
            <a:endParaRPr lang="en-US" sz="1800" dirty="0"/>
          </a:p>
        </p:txBody>
      </p:sp>
      <p:sp>
        <p:nvSpPr>
          <p:cNvPr id="13" name="Text 11"/>
          <p:cNvSpPr/>
          <p:nvPr/>
        </p:nvSpPr>
        <p:spPr>
          <a:xfrm>
            <a:off x="1463040" y="1600200"/>
            <a:ext cx="4572000" cy="457200"/>
          </a:xfrm>
          <a:prstGeom prst="rect">
            <a:avLst/>
          </a:prstGeom>
          <a:noFill/>
          <a:ln/>
        </p:spPr>
        <p:txBody>
          <a:bodyPr wrap="square" rtlCol="0" anchor="ctr"/>
          <a:lstStyle/>
          <a:p>
            <a:pPr marL="0" indent="0">
              <a:buNone/>
            </a:pPr>
            <a:r>
              <a:rPr lang="en-US" sz="1500" dirty="0">
                <a:solidFill>
                  <a:srgbClr val="2C1810"/>
                </a:solidFill>
                <a:latin typeface="Microsoft YaHei" pitchFamily="34" charset="0"/>
                <a:ea typeface="Microsoft YaHei" pitchFamily="34" charset="-122"/>
                <a:cs typeface="Microsoft YaHei" pitchFamily="34" charset="-120"/>
              </a:rPr>
              <a:t>全流程自动化试验控制</a:t>
            </a:r>
            <a:endParaRPr lang="en-US" sz="1500" dirty="0"/>
          </a:p>
        </p:txBody>
      </p:sp>
      <p:sp>
        <p:nvSpPr>
          <p:cNvPr id="14" name="Shape 12"/>
          <p:cNvSpPr/>
          <p:nvPr/>
        </p:nvSpPr>
        <p:spPr>
          <a:xfrm>
            <a:off x="731520" y="2377440"/>
            <a:ext cx="457200" cy="457200"/>
          </a:xfrm>
          <a:prstGeom prst="ellipse">
            <a:avLst/>
          </a:prstGeom>
          <a:solidFill>
            <a:srgbClr val="C0392B"/>
          </a:solidFill>
          <a:ln/>
        </p:spPr>
        <p:txBody>
          <a:bodyPr/>
          <a:lstStyle/>
          <a:p>
            <a:endParaRPr lang="zh-CN" altLang="en-US"/>
          </a:p>
        </p:txBody>
      </p:sp>
      <p:sp>
        <p:nvSpPr>
          <p:cNvPr id="15" name="Text 13"/>
          <p:cNvSpPr/>
          <p:nvPr/>
        </p:nvSpPr>
        <p:spPr>
          <a:xfrm>
            <a:off x="731520" y="2377440"/>
            <a:ext cx="457200" cy="457200"/>
          </a:xfrm>
          <a:prstGeom prst="rect">
            <a:avLst/>
          </a:prstGeom>
          <a:noFill/>
          <a:ln/>
        </p:spPr>
        <p:txBody>
          <a:bodyPr wrap="square" rtlCol="0" anchor="ctr"/>
          <a:lstStyle/>
          <a:p>
            <a:pPr marL="0" indent="0" algn="ctr">
              <a:buNone/>
            </a:pPr>
            <a:r>
              <a:rPr lang="en-US" sz="1800" b="1" dirty="0">
                <a:solidFill>
                  <a:srgbClr val="FAFAF7"/>
                </a:solidFill>
                <a:latin typeface="Impact" pitchFamily="34" charset="0"/>
                <a:ea typeface="Impact" pitchFamily="34" charset="-122"/>
                <a:cs typeface="Impact" pitchFamily="34" charset="-120"/>
              </a:rPr>
              <a:t>2</a:t>
            </a:r>
            <a:endParaRPr lang="en-US" sz="1800" dirty="0"/>
          </a:p>
        </p:txBody>
      </p:sp>
      <p:sp>
        <p:nvSpPr>
          <p:cNvPr id="16" name="Text 14"/>
          <p:cNvSpPr/>
          <p:nvPr/>
        </p:nvSpPr>
        <p:spPr>
          <a:xfrm>
            <a:off x="1463040" y="2377440"/>
            <a:ext cx="4572000" cy="457200"/>
          </a:xfrm>
          <a:prstGeom prst="rect">
            <a:avLst/>
          </a:prstGeom>
          <a:noFill/>
          <a:ln/>
        </p:spPr>
        <p:txBody>
          <a:bodyPr wrap="square" rtlCol="0" anchor="ctr"/>
          <a:lstStyle/>
          <a:p>
            <a:pPr marL="0" indent="0">
              <a:buNone/>
            </a:pPr>
            <a:r>
              <a:rPr lang="en-US" sz="1500" dirty="0">
                <a:solidFill>
                  <a:srgbClr val="2C1810"/>
                </a:solidFill>
                <a:latin typeface="Microsoft YaHei" pitchFamily="34" charset="0"/>
                <a:ea typeface="Microsoft YaHei" pitchFamily="34" charset="-122"/>
                <a:cs typeface="Microsoft YaHei" pitchFamily="34" charset="-120"/>
              </a:rPr>
              <a:t>物理仿真温度引擎开发</a:t>
            </a:r>
            <a:endParaRPr lang="en-US" sz="1500" dirty="0"/>
          </a:p>
        </p:txBody>
      </p:sp>
      <p:sp>
        <p:nvSpPr>
          <p:cNvPr id="17" name="Shape 15"/>
          <p:cNvSpPr/>
          <p:nvPr/>
        </p:nvSpPr>
        <p:spPr>
          <a:xfrm>
            <a:off x="731520" y="3154680"/>
            <a:ext cx="457200" cy="457200"/>
          </a:xfrm>
          <a:prstGeom prst="ellipse">
            <a:avLst/>
          </a:prstGeom>
          <a:solidFill>
            <a:srgbClr val="C0392B"/>
          </a:solidFill>
          <a:ln/>
        </p:spPr>
        <p:txBody>
          <a:bodyPr/>
          <a:lstStyle/>
          <a:p>
            <a:endParaRPr lang="zh-CN" altLang="en-US"/>
          </a:p>
        </p:txBody>
      </p:sp>
      <p:sp>
        <p:nvSpPr>
          <p:cNvPr id="18" name="Text 16"/>
          <p:cNvSpPr/>
          <p:nvPr/>
        </p:nvSpPr>
        <p:spPr>
          <a:xfrm>
            <a:off x="731520" y="3154680"/>
            <a:ext cx="457200" cy="457200"/>
          </a:xfrm>
          <a:prstGeom prst="rect">
            <a:avLst/>
          </a:prstGeom>
          <a:noFill/>
          <a:ln/>
        </p:spPr>
        <p:txBody>
          <a:bodyPr wrap="square" rtlCol="0" anchor="ctr"/>
          <a:lstStyle/>
          <a:p>
            <a:pPr marL="0" indent="0" algn="ctr">
              <a:buNone/>
            </a:pPr>
            <a:r>
              <a:rPr lang="en-US" sz="1800" b="1" dirty="0">
                <a:solidFill>
                  <a:srgbClr val="FAFAF7"/>
                </a:solidFill>
                <a:latin typeface="Impact" pitchFamily="34" charset="0"/>
                <a:ea typeface="Impact" pitchFamily="34" charset="-122"/>
                <a:cs typeface="Impact" pitchFamily="34" charset="-120"/>
              </a:rPr>
              <a:t>3</a:t>
            </a:r>
            <a:endParaRPr lang="en-US" sz="1800" dirty="0"/>
          </a:p>
        </p:txBody>
      </p:sp>
      <p:sp>
        <p:nvSpPr>
          <p:cNvPr id="19" name="Text 17"/>
          <p:cNvSpPr/>
          <p:nvPr/>
        </p:nvSpPr>
        <p:spPr>
          <a:xfrm>
            <a:off x="1463040" y="3154680"/>
            <a:ext cx="4572000" cy="457200"/>
          </a:xfrm>
          <a:prstGeom prst="rect">
            <a:avLst/>
          </a:prstGeom>
          <a:noFill/>
          <a:ln/>
        </p:spPr>
        <p:txBody>
          <a:bodyPr wrap="square" rtlCol="0" anchor="ctr"/>
          <a:lstStyle/>
          <a:p>
            <a:pPr marL="0" indent="0">
              <a:buNone/>
            </a:pPr>
            <a:r>
              <a:rPr lang="en-US" sz="1500" dirty="0">
                <a:solidFill>
                  <a:srgbClr val="2C1810"/>
                </a:solidFill>
                <a:latin typeface="Microsoft YaHei" pitchFamily="34" charset="0"/>
                <a:ea typeface="Microsoft YaHei" pitchFamily="34" charset="-122"/>
                <a:cs typeface="Microsoft YaHei" pitchFamily="34" charset="-120"/>
              </a:rPr>
              <a:t>智能稳定判定算法实现</a:t>
            </a:r>
            <a:endParaRPr lang="en-US" sz="1500" dirty="0"/>
          </a:p>
        </p:txBody>
      </p:sp>
      <p:sp>
        <p:nvSpPr>
          <p:cNvPr id="20" name="Shape 18"/>
          <p:cNvSpPr/>
          <p:nvPr/>
        </p:nvSpPr>
        <p:spPr>
          <a:xfrm>
            <a:off x="731520" y="3931920"/>
            <a:ext cx="457200" cy="457200"/>
          </a:xfrm>
          <a:prstGeom prst="ellipse">
            <a:avLst/>
          </a:prstGeom>
          <a:solidFill>
            <a:srgbClr val="C0392B"/>
          </a:solidFill>
          <a:ln/>
        </p:spPr>
        <p:txBody>
          <a:bodyPr/>
          <a:lstStyle/>
          <a:p>
            <a:endParaRPr lang="zh-CN" altLang="en-US"/>
          </a:p>
        </p:txBody>
      </p:sp>
      <p:sp>
        <p:nvSpPr>
          <p:cNvPr id="21" name="Text 19"/>
          <p:cNvSpPr/>
          <p:nvPr/>
        </p:nvSpPr>
        <p:spPr>
          <a:xfrm>
            <a:off x="731520" y="3931920"/>
            <a:ext cx="457200" cy="457200"/>
          </a:xfrm>
          <a:prstGeom prst="rect">
            <a:avLst/>
          </a:prstGeom>
          <a:noFill/>
          <a:ln/>
        </p:spPr>
        <p:txBody>
          <a:bodyPr wrap="square" rtlCol="0" anchor="ctr"/>
          <a:lstStyle/>
          <a:p>
            <a:pPr marL="0" indent="0" algn="ctr">
              <a:buNone/>
            </a:pPr>
            <a:r>
              <a:rPr lang="en-US" sz="1800" b="1" dirty="0">
                <a:solidFill>
                  <a:srgbClr val="FAFAF7"/>
                </a:solidFill>
                <a:latin typeface="Impact" pitchFamily="34" charset="0"/>
                <a:ea typeface="Impact" pitchFamily="34" charset="-122"/>
                <a:cs typeface="Impact" pitchFamily="34" charset="-120"/>
              </a:rPr>
              <a:t>4</a:t>
            </a:r>
            <a:endParaRPr lang="en-US" sz="1800" dirty="0"/>
          </a:p>
        </p:txBody>
      </p:sp>
      <p:sp>
        <p:nvSpPr>
          <p:cNvPr id="22" name="Text 20"/>
          <p:cNvSpPr/>
          <p:nvPr/>
        </p:nvSpPr>
        <p:spPr>
          <a:xfrm>
            <a:off x="1463040" y="3931920"/>
            <a:ext cx="4572000" cy="457200"/>
          </a:xfrm>
          <a:prstGeom prst="rect">
            <a:avLst/>
          </a:prstGeom>
          <a:noFill/>
          <a:ln/>
        </p:spPr>
        <p:txBody>
          <a:bodyPr wrap="square" rtlCol="0" anchor="ctr"/>
          <a:lstStyle/>
          <a:p>
            <a:pPr marL="0" indent="0">
              <a:buNone/>
            </a:pPr>
            <a:r>
              <a:rPr lang="en-US" sz="1500" dirty="0">
                <a:solidFill>
                  <a:srgbClr val="2C1810"/>
                </a:solidFill>
                <a:latin typeface="Microsoft YaHei" pitchFamily="34" charset="0"/>
                <a:ea typeface="Microsoft YaHei" pitchFamily="34" charset="-122"/>
                <a:cs typeface="Microsoft YaHei" pitchFamily="34" charset="-120"/>
              </a:rPr>
              <a:t>标准格式报告一键导出</a:t>
            </a:r>
            <a:endParaRPr lang="en-US" sz="1500" dirty="0"/>
          </a:p>
        </p:txBody>
      </p:sp>
      <p:sp>
        <p:nvSpPr>
          <p:cNvPr id="23" name="Shape 21"/>
          <p:cNvSpPr/>
          <p:nvPr/>
        </p:nvSpPr>
        <p:spPr>
          <a:xfrm>
            <a:off x="731520" y="4709160"/>
            <a:ext cx="457200" cy="457200"/>
          </a:xfrm>
          <a:prstGeom prst="ellipse">
            <a:avLst/>
          </a:prstGeom>
          <a:solidFill>
            <a:srgbClr val="C0392B"/>
          </a:solidFill>
          <a:ln/>
        </p:spPr>
        <p:txBody>
          <a:bodyPr/>
          <a:lstStyle/>
          <a:p>
            <a:endParaRPr lang="zh-CN" altLang="en-US"/>
          </a:p>
        </p:txBody>
      </p:sp>
      <p:sp>
        <p:nvSpPr>
          <p:cNvPr id="24" name="Text 22"/>
          <p:cNvSpPr/>
          <p:nvPr/>
        </p:nvSpPr>
        <p:spPr>
          <a:xfrm>
            <a:off x="731520" y="4709160"/>
            <a:ext cx="457200" cy="457200"/>
          </a:xfrm>
          <a:prstGeom prst="rect">
            <a:avLst/>
          </a:prstGeom>
          <a:noFill/>
          <a:ln/>
        </p:spPr>
        <p:txBody>
          <a:bodyPr wrap="square" rtlCol="0" anchor="ctr"/>
          <a:lstStyle/>
          <a:p>
            <a:pPr marL="0" indent="0" algn="ctr">
              <a:buNone/>
            </a:pPr>
            <a:r>
              <a:rPr lang="en-US" sz="1800" b="1" dirty="0">
                <a:solidFill>
                  <a:srgbClr val="FAFAF7"/>
                </a:solidFill>
                <a:latin typeface="Impact" pitchFamily="34" charset="0"/>
                <a:ea typeface="Impact" pitchFamily="34" charset="-122"/>
                <a:cs typeface="Impact" pitchFamily="34" charset="-120"/>
              </a:rPr>
              <a:t>5</a:t>
            </a:r>
            <a:endParaRPr lang="en-US" sz="1800" dirty="0"/>
          </a:p>
        </p:txBody>
      </p:sp>
      <p:sp>
        <p:nvSpPr>
          <p:cNvPr id="25" name="Text 23"/>
          <p:cNvSpPr/>
          <p:nvPr/>
        </p:nvSpPr>
        <p:spPr>
          <a:xfrm>
            <a:off x="1463040" y="4709160"/>
            <a:ext cx="4572000" cy="457200"/>
          </a:xfrm>
          <a:prstGeom prst="rect">
            <a:avLst/>
          </a:prstGeom>
          <a:noFill/>
          <a:ln/>
        </p:spPr>
        <p:txBody>
          <a:bodyPr wrap="square" rtlCol="0" anchor="ctr"/>
          <a:lstStyle/>
          <a:p>
            <a:pPr marL="0" indent="0">
              <a:buNone/>
            </a:pPr>
            <a:r>
              <a:rPr lang="en-US" sz="1500" dirty="0">
                <a:solidFill>
                  <a:srgbClr val="2C1810"/>
                </a:solidFill>
                <a:latin typeface="Microsoft YaHei" pitchFamily="34" charset="0"/>
                <a:ea typeface="Microsoft YaHei" pitchFamily="34" charset="-122"/>
                <a:cs typeface="Microsoft YaHei" pitchFamily="34" charset="-120"/>
              </a:rPr>
              <a:t>完整数据追溯体系构建</a:t>
            </a:r>
            <a:endParaRPr lang="en-US" sz="1500" dirty="0"/>
          </a:p>
        </p:txBody>
      </p:sp>
      <p:sp>
        <p:nvSpPr>
          <p:cNvPr id="26" name="Shape 24"/>
          <p:cNvSpPr/>
          <p:nvPr/>
        </p:nvSpPr>
        <p:spPr>
          <a:xfrm>
            <a:off x="6400800" y="1554480"/>
            <a:ext cx="5303520" cy="420624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7" name="Shape 25"/>
          <p:cNvSpPr/>
          <p:nvPr/>
        </p:nvSpPr>
        <p:spPr>
          <a:xfrm>
            <a:off x="6400800" y="1554480"/>
            <a:ext cx="5303520" cy="54864"/>
          </a:xfrm>
          <a:prstGeom prst="rect">
            <a:avLst/>
          </a:prstGeom>
          <a:solidFill>
            <a:srgbClr val="E67E22"/>
          </a:solidFill>
          <a:ln/>
        </p:spPr>
        <p:txBody>
          <a:bodyPr/>
          <a:lstStyle/>
          <a:p>
            <a:endParaRPr lang="zh-CN" altLang="en-US"/>
          </a:p>
        </p:txBody>
      </p:sp>
      <p:sp>
        <p:nvSpPr>
          <p:cNvPr id="28" name="Text 26"/>
          <p:cNvSpPr/>
          <p:nvPr/>
        </p:nvSpPr>
        <p:spPr>
          <a:xfrm>
            <a:off x="6675120" y="1828800"/>
            <a:ext cx="4754880" cy="411480"/>
          </a:xfrm>
          <a:prstGeom prst="rect">
            <a:avLst/>
          </a:prstGeom>
          <a:noFill/>
          <a:ln/>
        </p:spPr>
        <p:txBody>
          <a:bodyPr wrap="square" rtlCol="0" anchor="ctr"/>
          <a:lstStyle/>
          <a:p>
            <a:pPr marL="0" indent="0">
              <a:buNone/>
            </a:pPr>
            <a:r>
              <a:rPr lang="en-US" sz="1500" b="1" dirty="0">
                <a:solidFill>
                  <a:srgbClr val="2C1810"/>
                </a:solidFill>
                <a:latin typeface="Microsoft YaHei" pitchFamily="34" charset="0"/>
                <a:ea typeface="Microsoft YaHei" pitchFamily="34" charset="-122"/>
                <a:cs typeface="Microsoft YaHei" pitchFamily="34" charset="-120"/>
              </a:rPr>
              <a:t>功能模块清单（11 项）</a:t>
            </a:r>
            <a:endParaRPr lang="en-US" sz="1500" dirty="0"/>
          </a:p>
        </p:txBody>
      </p:sp>
      <p:sp>
        <p:nvSpPr>
          <p:cNvPr id="29" name="Text 27"/>
          <p:cNvSpPr/>
          <p:nvPr/>
        </p:nvSpPr>
        <p:spPr>
          <a:xfrm>
            <a:off x="6675120" y="237744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① 用户登录与角色管理</a:t>
            </a:r>
            <a:endParaRPr lang="en-US" sz="1100" dirty="0"/>
          </a:p>
        </p:txBody>
      </p:sp>
      <p:sp>
        <p:nvSpPr>
          <p:cNvPr id="30" name="Text 28"/>
          <p:cNvSpPr/>
          <p:nvPr/>
        </p:nvSpPr>
        <p:spPr>
          <a:xfrm>
            <a:off x="6675120" y="265176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② 新建试验（样品+参数配置）</a:t>
            </a:r>
            <a:endParaRPr lang="en-US" sz="1100" dirty="0"/>
          </a:p>
        </p:txBody>
      </p:sp>
      <p:sp>
        <p:nvSpPr>
          <p:cNvPr id="31" name="Text 29"/>
          <p:cNvSpPr/>
          <p:nvPr/>
        </p:nvSpPr>
        <p:spPr>
          <a:xfrm>
            <a:off x="6675120" y="292608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③ 试验升温控制（IDLE→Preparing）</a:t>
            </a:r>
            <a:endParaRPr lang="en-US" sz="1100" dirty="0"/>
          </a:p>
        </p:txBody>
      </p:sp>
      <p:sp>
        <p:nvSpPr>
          <p:cNvPr id="32" name="Text 30"/>
          <p:cNvSpPr/>
          <p:nvPr/>
        </p:nvSpPr>
        <p:spPr>
          <a:xfrm>
            <a:off x="6675120" y="320040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④ 实时 5 通道温度显示</a:t>
            </a:r>
            <a:endParaRPr lang="en-US" sz="1100" dirty="0"/>
          </a:p>
        </p:txBody>
      </p:sp>
      <p:sp>
        <p:nvSpPr>
          <p:cNvPr id="33" name="Text 31"/>
          <p:cNvSpPr/>
          <p:nvPr/>
        </p:nvSpPr>
        <p:spPr>
          <a:xfrm>
            <a:off x="6675120" y="347472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⑤ OxyPlot 实时温度曲线图</a:t>
            </a:r>
            <a:endParaRPr lang="en-US" sz="1100" dirty="0"/>
          </a:p>
        </p:txBody>
      </p:sp>
      <p:sp>
        <p:nvSpPr>
          <p:cNvPr id="34" name="Text 32"/>
          <p:cNvSpPr/>
          <p:nvPr/>
        </p:nvSpPr>
        <p:spPr>
          <a:xfrm>
            <a:off x="6675120" y="374904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⑥ 自动稳定判定（Ready 状态）</a:t>
            </a:r>
            <a:endParaRPr lang="en-US" sz="1100" dirty="0"/>
          </a:p>
        </p:txBody>
      </p:sp>
      <p:sp>
        <p:nvSpPr>
          <p:cNvPr id="35" name="Text 33"/>
          <p:cNvSpPr/>
          <p:nvPr/>
        </p:nvSpPr>
        <p:spPr>
          <a:xfrm>
            <a:off x="6675120" y="402336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⑦ 试验数据记录与保存</a:t>
            </a:r>
            <a:endParaRPr lang="en-US" sz="1100" dirty="0"/>
          </a:p>
        </p:txBody>
      </p:sp>
      <p:sp>
        <p:nvSpPr>
          <p:cNvPr id="36" name="Text 34"/>
          <p:cNvSpPr/>
          <p:nvPr/>
        </p:nvSpPr>
        <p:spPr>
          <a:xfrm>
            <a:off x="6675120" y="429768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⑧ 火焰现象记录</a:t>
            </a:r>
            <a:endParaRPr lang="en-US" sz="1100" dirty="0"/>
          </a:p>
        </p:txBody>
      </p:sp>
      <p:sp>
        <p:nvSpPr>
          <p:cNvPr id="37" name="Text 35"/>
          <p:cNvSpPr/>
          <p:nvPr/>
        </p:nvSpPr>
        <p:spPr>
          <a:xfrm>
            <a:off x="6675120" y="457200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⑨ CSV/Excel/PDF 报告导出</a:t>
            </a:r>
            <a:endParaRPr lang="en-US" sz="1100" dirty="0"/>
          </a:p>
        </p:txBody>
      </p:sp>
      <p:sp>
        <p:nvSpPr>
          <p:cNvPr id="38" name="Text 36"/>
          <p:cNvSpPr/>
          <p:nvPr/>
        </p:nvSpPr>
        <p:spPr>
          <a:xfrm>
            <a:off x="6675120" y="484632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⑩ 历史记录查询与筛选</a:t>
            </a:r>
            <a:endParaRPr lang="en-US" sz="1100" dirty="0"/>
          </a:p>
        </p:txBody>
      </p:sp>
      <p:sp>
        <p:nvSpPr>
          <p:cNvPr id="39" name="Text 37"/>
          <p:cNvSpPr/>
          <p:nvPr/>
        </p:nvSpPr>
        <p:spPr>
          <a:xfrm>
            <a:off x="6675120" y="512064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⑪ 设备校准管理</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02</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技术路线总览</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TECHNICAL ROADMAP</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9</a:t>
            </a:r>
            <a:endParaRPr lang="en-US" sz="1000" dirty="0"/>
          </a:p>
        </p:txBody>
      </p:sp>
      <p:sp>
        <p:nvSpPr>
          <p:cNvPr id="11" name="Shape 9"/>
          <p:cNvSpPr/>
          <p:nvPr/>
        </p:nvSpPr>
        <p:spPr>
          <a:xfrm>
            <a:off x="548640" y="1645920"/>
            <a:ext cx="2011680" cy="1005840"/>
          </a:xfrm>
          <a:prstGeom prst="rect">
            <a:avLst/>
          </a:prstGeom>
          <a:solidFill>
            <a:srgbClr val="96281B"/>
          </a:solidFill>
          <a:ln/>
        </p:spPr>
        <p:txBody>
          <a:bodyPr/>
          <a:lstStyle/>
          <a:p>
            <a:endParaRPr lang="zh-CN" altLang="en-US"/>
          </a:p>
        </p:txBody>
      </p:sp>
      <p:sp>
        <p:nvSpPr>
          <p:cNvPr id="12" name="Text 10"/>
          <p:cNvSpPr/>
          <p:nvPr/>
        </p:nvSpPr>
        <p:spPr>
          <a:xfrm>
            <a:off x="548640" y="1737360"/>
            <a:ext cx="2011680" cy="822960"/>
          </a:xfrm>
          <a:prstGeom prst="rect">
            <a:avLst/>
          </a:prstGeom>
          <a:noFill/>
          <a:ln/>
        </p:spPr>
        <p:txBody>
          <a:bodyPr wrap="square" rtlCol="0" anchor="ctr"/>
          <a:lstStyle/>
          <a:p>
            <a:pPr marL="0" indent="0" algn="ctr">
              <a:buNone/>
            </a:pPr>
            <a:r>
              <a:rPr lang="en-US" sz="1100" dirty="0">
                <a:solidFill>
                  <a:srgbClr val="FAFAF7"/>
                </a:solidFill>
                <a:latin typeface="Calibri" pitchFamily="34" charset="0"/>
                <a:ea typeface="Calibri" pitchFamily="34" charset="-122"/>
                <a:cs typeface="Calibri" pitchFamily="34" charset="-120"/>
              </a:rPr>
              <a:t>需求分析</a:t>
            </a:r>
            <a:endParaRPr lang="en-US" sz="1100" dirty="0"/>
          </a:p>
          <a:p>
            <a:pPr marL="0" indent="0" algn="ctr">
              <a:buNone/>
            </a:pPr>
            <a:r>
              <a:rPr lang="en-US" sz="1100" dirty="0">
                <a:solidFill>
                  <a:srgbClr val="FAFAF7"/>
                </a:solidFill>
                <a:latin typeface="Calibri" pitchFamily="34" charset="0"/>
                <a:ea typeface="Calibri" pitchFamily="34" charset="-122"/>
                <a:cs typeface="Calibri" pitchFamily="34" charset="-120"/>
              </a:rPr>
              <a:t>+ 文档先行</a:t>
            </a:r>
            <a:endParaRPr lang="en-US" sz="1100" dirty="0"/>
          </a:p>
        </p:txBody>
      </p:sp>
      <p:sp>
        <p:nvSpPr>
          <p:cNvPr id="13" name="Text 11"/>
          <p:cNvSpPr/>
          <p:nvPr/>
        </p:nvSpPr>
        <p:spPr>
          <a:xfrm>
            <a:off x="2468880" y="1828800"/>
            <a:ext cx="548640" cy="548640"/>
          </a:xfrm>
          <a:prstGeom prst="rect">
            <a:avLst/>
          </a:prstGeom>
          <a:noFill/>
          <a:ln/>
        </p:spPr>
        <p:txBody>
          <a:bodyPr wrap="square" rtlCol="0" anchor="ctr"/>
          <a:lstStyle/>
          <a:p>
            <a:pPr marL="0" indent="0" algn="ctr">
              <a:buNone/>
            </a:pPr>
            <a:r>
              <a:rPr lang="en-US" sz="2200" dirty="0">
                <a:solidFill>
                  <a:srgbClr val="E67E22"/>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2834640" y="1645920"/>
            <a:ext cx="2011680" cy="1005840"/>
          </a:xfrm>
          <a:prstGeom prst="rect">
            <a:avLst/>
          </a:prstGeom>
          <a:solidFill>
            <a:srgbClr val="C0392B"/>
          </a:solidFill>
          <a:ln/>
        </p:spPr>
        <p:txBody>
          <a:bodyPr/>
          <a:lstStyle/>
          <a:p>
            <a:endParaRPr lang="zh-CN" altLang="en-US"/>
          </a:p>
        </p:txBody>
      </p:sp>
      <p:sp>
        <p:nvSpPr>
          <p:cNvPr id="15" name="Text 13"/>
          <p:cNvSpPr/>
          <p:nvPr/>
        </p:nvSpPr>
        <p:spPr>
          <a:xfrm>
            <a:off x="2834640" y="1737360"/>
            <a:ext cx="2011680" cy="822960"/>
          </a:xfrm>
          <a:prstGeom prst="rect">
            <a:avLst/>
          </a:prstGeom>
          <a:noFill/>
          <a:ln/>
        </p:spPr>
        <p:txBody>
          <a:bodyPr wrap="square" rtlCol="0" anchor="ctr"/>
          <a:lstStyle/>
          <a:p>
            <a:pPr marL="0" indent="0" algn="ctr">
              <a:buNone/>
            </a:pPr>
            <a:r>
              <a:rPr lang="en-US" sz="1100" dirty="0">
                <a:solidFill>
                  <a:srgbClr val="FAFAF7"/>
                </a:solidFill>
                <a:latin typeface="Calibri" pitchFamily="34" charset="0"/>
                <a:ea typeface="Calibri" pitchFamily="34" charset="-122"/>
                <a:cs typeface="Calibri" pitchFamily="34" charset="-120"/>
              </a:rPr>
              <a:t>Data 层</a:t>
            </a:r>
            <a:endParaRPr lang="en-US" sz="1100" dirty="0"/>
          </a:p>
          <a:p>
            <a:pPr marL="0" indent="0" algn="ctr">
              <a:buNone/>
            </a:pPr>
            <a:r>
              <a:rPr lang="en-US" sz="1100" dirty="0">
                <a:solidFill>
                  <a:srgbClr val="FAFAF7"/>
                </a:solidFill>
                <a:latin typeface="Calibri" pitchFamily="34" charset="0"/>
                <a:ea typeface="Calibri" pitchFamily="34" charset="-122"/>
                <a:cs typeface="Calibri" pitchFamily="34" charset="-120"/>
              </a:rPr>
              <a:t>SQLite 设计</a:t>
            </a:r>
            <a:endParaRPr lang="en-US" sz="1100" dirty="0"/>
          </a:p>
        </p:txBody>
      </p:sp>
      <p:sp>
        <p:nvSpPr>
          <p:cNvPr id="16" name="Text 14"/>
          <p:cNvSpPr/>
          <p:nvPr/>
        </p:nvSpPr>
        <p:spPr>
          <a:xfrm>
            <a:off x="4754880" y="1828800"/>
            <a:ext cx="548640" cy="548640"/>
          </a:xfrm>
          <a:prstGeom prst="rect">
            <a:avLst/>
          </a:prstGeom>
          <a:noFill/>
          <a:ln/>
        </p:spPr>
        <p:txBody>
          <a:bodyPr wrap="square" rtlCol="0" anchor="ctr"/>
          <a:lstStyle/>
          <a:p>
            <a:pPr marL="0" indent="0" algn="ctr">
              <a:buNone/>
            </a:pPr>
            <a:r>
              <a:rPr lang="en-US" sz="2200" dirty="0">
                <a:solidFill>
                  <a:srgbClr val="E67E22"/>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5120640" y="1650609"/>
            <a:ext cx="2011680" cy="1005840"/>
          </a:xfrm>
          <a:prstGeom prst="rect">
            <a:avLst/>
          </a:prstGeom>
          <a:solidFill>
            <a:srgbClr val="D35400"/>
          </a:solidFill>
          <a:ln/>
        </p:spPr>
        <p:txBody>
          <a:bodyPr/>
          <a:lstStyle/>
          <a:p>
            <a:endParaRPr lang="zh-CN" altLang="en-US"/>
          </a:p>
        </p:txBody>
      </p:sp>
      <p:sp>
        <p:nvSpPr>
          <p:cNvPr id="18" name="Text 16"/>
          <p:cNvSpPr/>
          <p:nvPr/>
        </p:nvSpPr>
        <p:spPr>
          <a:xfrm>
            <a:off x="5120640" y="1737360"/>
            <a:ext cx="2011680" cy="822960"/>
          </a:xfrm>
          <a:prstGeom prst="rect">
            <a:avLst/>
          </a:prstGeom>
          <a:noFill/>
          <a:ln/>
        </p:spPr>
        <p:txBody>
          <a:bodyPr wrap="square" rtlCol="0" anchor="ctr"/>
          <a:lstStyle/>
          <a:p>
            <a:pPr marL="0" indent="0" algn="ctr">
              <a:buNone/>
            </a:pPr>
            <a:r>
              <a:rPr lang="en-US" sz="1100" dirty="0">
                <a:solidFill>
                  <a:srgbClr val="FAFAF7"/>
                </a:solidFill>
                <a:latin typeface="Calibri" pitchFamily="34" charset="0"/>
                <a:ea typeface="Calibri" pitchFamily="34" charset="-122"/>
                <a:cs typeface="Calibri" pitchFamily="34" charset="-120"/>
              </a:rPr>
              <a:t>Core 层</a:t>
            </a:r>
            <a:endParaRPr lang="en-US" sz="1100" dirty="0"/>
          </a:p>
          <a:p>
            <a:pPr marL="0" indent="0" algn="ctr">
              <a:buNone/>
            </a:pPr>
            <a:r>
              <a:rPr lang="en-US" sz="1100" dirty="0">
                <a:solidFill>
                  <a:srgbClr val="FAFAF7"/>
                </a:solidFill>
                <a:latin typeface="Calibri" pitchFamily="34" charset="0"/>
                <a:ea typeface="Calibri" pitchFamily="34" charset="-122"/>
                <a:cs typeface="Calibri" pitchFamily="34" charset="-120"/>
              </a:rPr>
              <a:t>状态机+仿真引擎</a:t>
            </a:r>
            <a:endParaRPr lang="en-US" sz="1100" dirty="0"/>
          </a:p>
        </p:txBody>
      </p:sp>
      <p:sp>
        <p:nvSpPr>
          <p:cNvPr id="19" name="Text 17"/>
          <p:cNvSpPr/>
          <p:nvPr/>
        </p:nvSpPr>
        <p:spPr>
          <a:xfrm>
            <a:off x="7040880" y="1828800"/>
            <a:ext cx="548640" cy="548640"/>
          </a:xfrm>
          <a:prstGeom prst="rect">
            <a:avLst/>
          </a:prstGeom>
          <a:noFill/>
          <a:ln/>
        </p:spPr>
        <p:txBody>
          <a:bodyPr wrap="square" rtlCol="0" anchor="ctr"/>
          <a:lstStyle/>
          <a:p>
            <a:pPr marL="0" indent="0" algn="ctr">
              <a:buNone/>
            </a:pPr>
            <a:r>
              <a:rPr lang="en-US" sz="2200" dirty="0">
                <a:solidFill>
                  <a:srgbClr val="E67E22"/>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7406640" y="1645920"/>
            <a:ext cx="2011680" cy="1005840"/>
          </a:xfrm>
          <a:prstGeom prst="rect">
            <a:avLst/>
          </a:prstGeom>
          <a:solidFill>
            <a:srgbClr val="E67E22"/>
          </a:solidFill>
          <a:ln/>
        </p:spPr>
        <p:txBody>
          <a:bodyPr/>
          <a:lstStyle/>
          <a:p>
            <a:endParaRPr lang="zh-CN" altLang="en-US"/>
          </a:p>
        </p:txBody>
      </p:sp>
      <p:sp>
        <p:nvSpPr>
          <p:cNvPr id="21" name="Text 19"/>
          <p:cNvSpPr/>
          <p:nvPr/>
        </p:nvSpPr>
        <p:spPr>
          <a:xfrm>
            <a:off x="7406640" y="1737360"/>
            <a:ext cx="2011680" cy="822960"/>
          </a:xfrm>
          <a:prstGeom prst="rect">
            <a:avLst/>
          </a:prstGeom>
          <a:noFill/>
          <a:ln/>
        </p:spPr>
        <p:txBody>
          <a:bodyPr wrap="square" rtlCol="0" anchor="ctr"/>
          <a:lstStyle/>
          <a:p>
            <a:pPr marL="0" indent="0" algn="ctr">
              <a:buNone/>
            </a:pPr>
            <a:r>
              <a:rPr lang="en-US" sz="1100" dirty="0">
                <a:solidFill>
                  <a:srgbClr val="FAFAF7"/>
                </a:solidFill>
                <a:latin typeface="Calibri" pitchFamily="34" charset="0"/>
                <a:ea typeface="Calibri" pitchFamily="34" charset="-122"/>
                <a:cs typeface="Calibri" pitchFamily="34" charset="-120"/>
              </a:rPr>
              <a:t>Forms 层</a:t>
            </a:r>
            <a:endParaRPr lang="en-US" sz="1100" dirty="0"/>
          </a:p>
          <a:p>
            <a:pPr marL="0" indent="0" algn="ctr">
              <a:buNone/>
            </a:pPr>
            <a:r>
              <a:rPr lang="en-US" sz="1100" dirty="0">
                <a:solidFill>
                  <a:srgbClr val="FAFAF7"/>
                </a:solidFill>
                <a:latin typeface="Calibri" pitchFamily="34" charset="0"/>
                <a:ea typeface="Calibri" pitchFamily="34" charset="-122"/>
                <a:cs typeface="Calibri" pitchFamily="34" charset="-120"/>
              </a:rPr>
              <a:t>WinForms UI</a:t>
            </a:r>
            <a:endParaRPr lang="en-US" sz="1100" dirty="0"/>
          </a:p>
        </p:txBody>
      </p:sp>
      <p:sp>
        <p:nvSpPr>
          <p:cNvPr id="22" name="Text 20"/>
          <p:cNvSpPr/>
          <p:nvPr/>
        </p:nvSpPr>
        <p:spPr>
          <a:xfrm>
            <a:off x="9326880" y="1828800"/>
            <a:ext cx="548640" cy="548640"/>
          </a:xfrm>
          <a:prstGeom prst="rect">
            <a:avLst/>
          </a:prstGeom>
          <a:noFill/>
          <a:ln/>
        </p:spPr>
        <p:txBody>
          <a:bodyPr wrap="square" rtlCol="0" anchor="ctr"/>
          <a:lstStyle/>
          <a:p>
            <a:pPr marL="0" indent="0" algn="ctr">
              <a:buNone/>
            </a:pPr>
            <a:r>
              <a:rPr lang="en-US" sz="2200" dirty="0">
                <a:solidFill>
                  <a:srgbClr val="E67E22"/>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9692640" y="1645920"/>
            <a:ext cx="2011680" cy="1005840"/>
          </a:xfrm>
          <a:prstGeom prst="rect">
            <a:avLst/>
          </a:prstGeom>
          <a:solidFill>
            <a:srgbClr val="F39C12"/>
          </a:solidFill>
          <a:ln/>
        </p:spPr>
        <p:txBody>
          <a:bodyPr/>
          <a:lstStyle/>
          <a:p>
            <a:endParaRPr lang="zh-CN" altLang="en-US"/>
          </a:p>
        </p:txBody>
      </p:sp>
      <p:sp>
        <p:nvSpPr>
          <p:cNvPr id="24" name="Text 22"/>
          <p:cNvSpPr/>
          <p:nvPr/>
        </p:nvSpPr>
        <p:spPr>
          <a:xfrm>
            <a:off x="9692640" y="1737360"/>
            <a:ext cx="2011680" cy="822960"/>
          </a:xfrm>
          <a:prstGeom prst="rect">
            <a:avLst/>
          </a:prstGeom>
          <a:noFill/>
          <a:ln/>
        </p:spPr>
        <p:txBody>
          <a:bodyPr wrap="square" rtlCol="0" anchor="ctr"/>
          <a:lstStyle/>
          <a:p>
            <a:pPr marL="0" indent="0" algn="ctr">
              <a:buNone/>
            </a:pPr>
            <a:r>
              <a:rPr lang="en-US" sz="1100" dirty="0">
                <a:solidFill>
                  <a:srgbClr val="FAFAF7"/>
                </a:solidFill>
                <a:latin typeface="Calibri" pitchFamily="34" charset="0"/>
                <a:ea typeface="Calibri" pitchFamily="34" charset="-122"/>
                <a:cs typeface="Calibri" pitchFamily="34" charset="-120"/>
              </a:rPr>
              <a:t>Services 层</a:t>
            </a:r>
            <a:endParaRPr lang="en-US" sz="1100" dirty="0"/>
          </a:p>
          <a:p>
            <a:pPr marL="0" indent="0" algn="ctr">
              <a:buNone/>
            </a:pPr>
            <a:r>
              <a:rPr lang="en-US" sz="1100" dirty="0">
                <a:solidFill>
                  <a:srgbClr val="FAFAF7"/>
                </a:solidFill>
                <a:latin typeface="Calibri" pitchFamily="34" charset="0"/>
                <a:ea typeface="Calibri" pitchFamily="34" charset="-122"/>
                <a:cs typeface="Calibri" pitchFamily="34" charset="-120"/>
              </a:rPr>
              <a:t>导出+报告</a:t>
            </a:r>
            <a:endParaRPr lang="en-US" sz="1100" dirty="0"/>
          </a:p>
        </p:txBody>
      </p:sp>
      <p:sp>
        <p:nvSpPr>
          <p:cNvPr id="25" name="Text 23"/>
          <p:cNvSpPr/>
          <p:nvPr/>
        </p:nvSpPr>
        <p:spPr>
          <a:xfrm>
            <a:off x="731520" y="2926080"/>
            <a:ext cx="4572000" cy="36576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各阶段关键交付物</a:t>
            </a:r>
            <a:endParaRPr lang="en-US" sz="1400" dirty="0"/>
          </a:p>
        </p:txBody>
      </p:sp>
      <p:sp>
        <p:nvSpPr>
          <p:cNvPr id="26" name="Shape 24"/>
          <p:cNvSpPr/>
          <p:nvPr/>
        </p:nvSpPr>
        <p:spPr>
          <a:xfrm>
            <a:off x="548640" y="3383280"/>
            <a:ext cx="219456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7" name="Shape 25"/>
          <p:cNvSpPr/>
          <p:nvPr/>
        </p:nvSpPr>
        <p:spPr>
          <a:xfrm>
            <a:off x="548640" y="3383280"/>
            <a:ext cx="2194560" cy="45720"/>
          </a:xfrm>
          <a:prstGeom prst="rect">
            <a:avLst/>
          </a:prstGeom>
          <a:solidFill>
            <a:srgbClr val="96281B"/>
          </a:solidFill>
          <a:ln/>
        </p:spPr>
        <p:txBody>
          <a:bodyPr/>
          <a:lstStyle/>
          <a:p>
            <a:endParaRPr lang="zh-CN" altLang="en-US"/>
          </a:p>
        </p:txBody>
      </p:sp>
      <p:sp>
        <p:nvSpPr>
          <p:cNvPr id="28" name="Text 26"/>
          <p:cNvSpPr/>
          <p:nvPr/>
        </p:nvSpPr>
        <p:spPr>
          <a:xfrm>
            <a:off x="685800" y="3611880"/>
            <a:ext cx="1920240" cy="365760"/>
          </a:xfrm>
          <a:prstGeom prst="rect">
            <a:avLst/>
          </a:prstGeom>
          <a:noFill/>
          <a:ln/>
        </p:spPr>
        <p:txBody>
          <a:bodyPr wrap="square" rtlCol="0" anchor="ctr"/>
          <a:lstStyle/>
          <a:p>
            <a:pPr marL="0" indent="0">
              <a:buNone/>
            </a:pPr>
            <a:r>
              <a:rPr lang="en-US" sz="1300" b="1" dirty="0">
                <a:solidFill>
                  <a:srgbClr val="96281B"/>
                </a:solidFill>
                <a:latin typeface="Microsoft YaHei" pitchFamily="34" charset="0"/>
                <a:ea typeface="Microsoft YaHei" pitchFamily="34" charset="-122"/>
                <a:cs typeface="Microsoft YaHei" pitchFamily="34" charset="-120"/>
              </a:rPr>
              <a:t>需求分析</a:t>
            </a:r>
            <a:endParaRPr lang="en-US" sz="1300" dirty="0"/>
          </a:p>
        </p:txBody>
      </p:sp>
      <p:sp>
        <p:nvSpPr>
          <p:cNvPr id="29" name="Text 27"/>
          <p:cNvSpPr/>
          <p:nvPr/>
        </p:nvSpPr>
        <p:spPr>
          <a:xfrm>
            <a:off x="685800" y="4023360"/>
            <a:ext cx="1920240" cy="1371600"/>
          </a:xfrm>
          <a:prstGeom prst="rect">
            <a:avLst/>
          </a:prstGeom>
          <a:noFill/>
          <a:ln/>
        </p:spPr>
        <p:txBody>
          <a:bodyPr wrap="square" rtlCol="0" anchor="ctr"/>
          <a:lstStyle/>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需求分析报告</a:t>
            </a:r>
            <a:endParaRPr lang="en-US" sz="1000" dirty="0"/>
          </a:p>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数据需求文档</a:t>
            </a:r>
            <a:endParaRPr lang="en-US" sz="1000" dirty="0"/>
          </a:p>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详细设计报告</a:t>
            </a:r>
            <a:endParaRPr lang="en-US" sz="1000" dirty="0"/>
          </a:p>
        </p:txBody>
      </p:sp>
      <p:sp>
        <p:nvSpPr>
          <p:cNvPr id="30" name="Shape 28"/>
          <p:cNvSpPr/>
          <p:nvPr/>
        </p:nvSpPr>
        <p:spPr>
          <a:xfrm>
            <a:off x="2926080" y="3383280"/>
            <a:ext cx="219456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31" name="Shape 29"/>
          <p:cNvSpPr/>
          <p:nvPr/>
        </p:nvSpPr>
        <p:spPr>
          <a:xfrm>
            <a:off x="2926080" y="3383280"/>
            <a:ext cx="2194560" cy="45720"/>
          </a:xfrm>
          <a:prstGeom prst="rect">
            <a:avLst/>
          </a:prstGeom>
          <a:solidFill>
            <a:srgbClr val="C0392B"/>
          </a:solidFill>
          <a:ln/>
        </p:spPr>
        <p:txBody>
          <a:bodyPr/>
          <a:lstStyle/>
          <a:p>
            <a:endParaRPr lang="zh-CN" altLang="en-US"/>
          </a:p>
        </p:txBody>
      </p:sp>
      <p:sp>
        <p:nvSpPr>
          <p:cNvPr id="32" name="Text 30"/>
          <p:cNvSpPr/>
          <p:nvPr/>
        </p:nvSpPr>
        <p:spPr>
          <a:xfrm>
            <a:off x="3063240" y="3611880"/>
            <a:ext cx="1920240" cy="365760"/>
          </a:xfrm>
          <a:prstGeom prst="rect">
            <a:avLst/>
          </a:prstGeom>
          <a:noFill/>
          <a:ln/>
        </p:spPr>
        <p:txBody>
          <a:bodyPr wrap="square" rtlCol="0" anchor="ctr"/>
          <a:lstStyle/>
          <a:p>
            <a:pPr marL="0" indent="0">
              <a:buNone/>
            </a:pPr>
            <a:r>
              <a:rPr lang="en-US" sz="1300" b="1" dirty="0">
                <a:solidFill>
                  <a:srgbClr val="C0392B"/>
                </a:solidFill>
                <a:latin typeface="Microsoft YaHei" pitchFamily="34" charset="0"/>
                <a:ea typeface="Microsoft YaHei" pitchFamily="34" charset="-122"/>
                <a:cs typeface="Microsoft YaHei" pitchFamily="34" charset="-120"/>
              </a:rPr>
              <a:t>Data 层</a:t>
            </a:r>
            <a:endParaRPr lang="en-US" sz="1300" dirty="0"/>
          </a:p>
        </p:txBody>
      </p:sp>
      <p:sp>
        <p:nvSpPr>
          <p:cNvPr id="33" name="Text 31"/>
          <p:cNvSpPr/>
          <p:nvPr/>
        </p:nvSpPr>
        <p:spPr>
          <a:xfrm>
            <a:off x="3063240" y="4023360"/>
            <a:ext cx="1920240" cy="1371600"/>
          </a:xfrm>
          <a:prstGeom prst="rect">
            <a:avLst/>
          </a:prstGeom>
          <a:noFill/>
          <a:ln/>
        </p:spPr>
        <p:txBody>
          <a:bodyPr wrap="square" rtlCol="0" anchor="ctr"/>
          <a:lstStyle/>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6 表 SQLite 建库</a:t>
            </a:r>
            <a:endParaRPr lang="en-US" sz="1000" dirty="0"/>
          </a:p>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DbHelper API</a:t>
            </a:r>
            <a:endParaRPr lang="en-US" sz="1000" dirty="0"/>
          </a:p>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索引优化</a:t>
            </a:r>
            <a:endParaRPr lang="en-US" sz="1000" dirty="0"/>
          </a:p>
        </p:txBody>
      </p:sp>
      <p:sp>
        <p:nvSpPr>
          <p:cNvPr id="34" name="Shape 32"/>
          <p:cNvSpPr/>
          <p:nvPr/>
        </p:nvSpPr>
        <p:spPr>
          <a:xfrm>
            <a:off x="5303520" y="3383280"/>
            <a:ext cx="219456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35" name="Shape 33"/>
          <p:cNvSpPr/>
          <p:nvPr/>
        </p:nvSpPr>
        <p:spPr>
          <a:xfrm>
            <a:off x="5303520" y="3383280"/>
            <a:ext cx="2194560" cy="45720"/>
          </a:xfrm>
          <a:prstGeom prst="rect">
            <a:avLst/>
          </a:prstGeom>
          <a:solidFill>
            <a:srgbClr val="D35400"/>
          </a:solidFill>
          <a:ln/>
        </p:spPr>
        <p:txBody>
          <a:bodyPr/>
          <a:lstStyle/>
          <a:p>
            <a:endParaRPr lang="zh-CN" altLang="en-US"/>
          </a:p>
        </p:txBody>
      </p:sp>
      <p:sp>
        <p:nvSpPr>
          <p:cNvPr id="36" name="Text 34"/>
          <p:cNvSpPr/>
          <p:nvPr/>
        </p:nvSpPr>
        <p:spPr>
          <a:xfrm>
            <a:off x="5440680" y="3611880"/>
            <a:ext cx="1920240" cy="365760"/>
          </a:xfrm>
          <a:prstGeom prst="rect">
            <a:avLst/>
          </a:prstGeom>
          <a:noFill/>
          <a:ln/>
        </p:spPr>
        <p:txBody>
          <a:bodyPr wrap="square" rtlCol="0" anchor="ctr"/>
          <a:lstStyle/>
          <a:p>
            <a:pPr marL="0" indent="0">
              <a:buNone/>
            </a:pPr>
            <a:r>
              <a:rPr lang="en-US" sz="1300" b="1" dirty="0">
                <a:solidFill>
                  <a:srgbClr val="D35400"/>
                </a:solidFill>
                <a:latin typeface="Microsoft YaHei" pitchFamily="34" charset="0"/>
                <a:ea typeface="Microsoft YaHei" pitchFamily="34" charset="-122"/>
                <a:cs typeface="Microsoft YaHei" pitchFamily="34" charset="-120"/>
              </a:rPr>
              <a:t>Core 层</a:t>
            </a:r>
            <a:endParaRPr lang="en-US" sz="1300" dirty="0"/>
          </a:p>
        </p:txBody>
      </p:sp>
      <p:sp>
        <p:nvSpPr>
          <p:cNvPr id="37" name="Text 35"/>
          <p:cNvSpPr/>
          <p:nvPr/>
        </p:nvSpPr>
        <p:spPr>
          <a:xfrm>
            <a:off x="5440680" y="4023360"/>
            <a:ext cx="1920240" cy="1371600"/>
          </a:xfrm>
          <a:prstGeom prst="rect">
            <a:avLst/>
          </a:prstGeom>
          <a:noFill/>
          <a:ln/>
        </p:spPr>
        <p:txBody>
          <a:bodyPr wrap="square" rtlCol="0" anchor="ctr"/>
          <a:lstStyle/>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TestController 状态机</a:t>
            </a:r>
            <a:endParaRPr lang="en-US" sz="1000" dirty="0"/>
          </a:p>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温度仿真算法</a:t>
            </a:r>
            <a:endParaRPr lang="en-US" sz="1000" dirty="0"/>
          </a:p>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温漂计算模块</a:t>
            </a:r>
            <a:endParaRPr lang="en-US" sz="1000" dirty="0"/>
          </a:p>
        </p:txBody>
      </p:sp>
      <p:sp>
        <p:nvSpPr>
          <p:cNvPr id="38" name="Shape 36"/>
          <p:cNvSpPr/>
          <p:nvPr/>
        </p:nvSpPr>
        <p:spPr>
          <a:xfrm>
            <a:off x="7680960" y="3383280"/>
            <a:ext cx="219456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39" name="Shape 37"/>
          <p:cNvSpPr/>
          <p:nvPr/>
        </p:nvSpPr>
        <p:spPr>
          <a:xfrm>
            <a:off x="7680960" y="3383280"/>
            <a:ext cx="2194560" cy="45720"/>
          </a:xfrm>
          <a:prstGeom prst="rect">
            <a:avLst/>
          </a:prstGeom>
          <a:solidFill>
            <a:srgbClr val="E67E22"/>
          </a:solidFill>
          <a:ln/>
        </p:spPr>
        <p:txBody>
          <a:bodyPr/>
          <a:lstStyle/>
          <a:p>
            <a:endParaRPr lang="zh-CN" altLang="en-US"/>
          </a:p>
        </p:txBody>
      </p:sp>
      <p:sp>
        <p:nvSpPr>
          <p:cNvPr id="40" name="Text 38"/>
          <p:cNvSpPr/>
          <p:nvPr/>
        </p:nvSpPr>
        <p:spPr>
          <a:xfrm>
            <a:off x="7818120" y="3611880"/>
            <a:ext cx="1920240" cy="365760"/>
          </a:xfrm>
          <a:prstGeom prst="rect">
            <a:avLst/>
          </a:prstGeom>
          <a:noFill/>
          <a:ln/>
        </p:spPr>
        <p:txBody>
          <a:bodyPr wrap="square" rtlCol="0" anchor="ctr"/>
          <a:lstStyle/>
          <a:p>
            <a:pPr marL="0" indent="0">
              <a:buNone/>
            </a:pPr>
            <a:r>
              <a:rPr lang="en-US" sz="1300" b="1" dirty="0">
                <a:solidFill>
                  <a:srgbClr val="E67E22"/>
                </a:solidFill>
                <a:latin typeface="Microsoft YaHei" pitchFamily="34" charset="0"/>
                <a:ea typeface="Microsoft YaHei" pitchFamily="34" charset="-122"/>
                <a:cs typeface="Microsoft YaHei" pitchFamily="34" charset="-120"/>
              </a:rPr>
              <a:t>Forms 层</a:t>
            </a:r>
            <a:endParaRPr lang="en-US" sz="1300" dirty="0"/>
          </a:p>
        </p:txBody>
      </p:sp>
      <p:sp>
        <p:nvSpPr>
          <p:cNvPr id="41" name="Text 39"/>
          <p:cNvSpPr/>
          <p:nvPr/>
        </p:nvSpPr>
        <p:spPr>
          <a:xfrm>
            <a:off x="7818120" y="4023360"/>
            <a:ext cx="1920240" cy="1371600"/>
          </a:xfrm>
          <a:prstGeom prst="rect">
            <a:avLst/>
          </a:prstGeom>
          <a:noFill/>
          <a:ln/>
        </p:spPr>
        <p:txBody>
          <a:bodyPr wrap="square" rtlCol="0" anchor="ctr"/>
          <a:lstStyle/>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LoginForm / MainForm</a:t>
            </a:r>
            <a:endParaRPr lang="en-US" sz="1000" dirty="0"/>
          </a:p>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NewTestForm / RecordForm</a:t>
            </a:r>
            <a:endParaRPr lang="en-US" sz="1000" dirty="0"/>
          </a:p>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OxyPlot 曲线图</a:t>
            </a:r>
            <a:endParaRPr lang="en-US" sz="1000" dirty="0"/>
          </a:p>
        </p:txBody>
      </p:sp>
      <p:sp>
        <p:nvSpPr>
          <p:cNvPr id="42" name="Shape 40"/>
          <p:cNvSpPr/>
          <p:nvPr/>
        </p:nvSpPr>
        <p:spPr>
          <a:xfrm>
            <a:off x="10058400" y="3383280"/>
            <a:ext cx="219456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43" name="Shape 41"/>
          <p:cNvSpPr/>
          <p:nvPr/>
        </p:nvSpPr>
        <p:spPr>
          <a:xfrm>
            <a:off x="10058400" y="3383280"/>
            <a:ext cx="2194560" cy="45720"/>
          </a:xfrm>
          <a:prstGeom prst="rect">
            <a:avLst/>
          </a:prstGeom>
          <a:solidFill>
            <a:srgbClr val="F39C12"/>
          </a:solidFill>
          <a:ln/>
        </p:spPr>
        <p:txBody>
          <a:bodyPr/>
          <a:lstStyle/>
          <a:p>
            <a:endParaRPr lang="zh-CN" altLang="en-US"/>
          </a:p>
        </p:txBody>
      </p:sp>
      <p:sp>
        <p:nvSpPr>
          <p:cNvPr id="44" name="Text 42"/>
          <p:cNvSpPr/>
          <p:nvPr/>
        </p:nvSpPr>
        <p:spPr>
          <a:xfrm>
            <a:off x="10195560" y="3611880"/>
            <a:ext cx="1920240" cy="365760"/>
          </a:xfrm>
          <a:prstGeom prst="rect">
            <a:avLst/>
          </a:prstGeom>
          <a:noFill/>
          <a:ln/>
        </p:spPr>
        <p:txBody>
          <a:bodyPr wrap="square" rtlCol="0" anchor="ctr"/>
          <a:lstStyle/>
          <a:p>
            <a:pPr marL="0" indent="0">
              <a:buNone/>
            </a:pPr>
            <a:r>
              <a:rPr lang="en-US" sz="1300" b="1" dirty="0">
                <a:solidFill>
                  <a:srgbClr val="F39C12"/>
                </a:solidFill>
                <a:latin typeface="Microsoft YaHei" pitchFamily="34" charset="0"/>
                <a:ea typeface="Microsoft YaHei" pitchFamily="34" charset="-122"/>
                <a:cs typeface="Microsoft YaHei" pitchFamily="34" charset="-120"/>
              </a:rPr>
              <a:t>Services 层</a:t>
            </a:r>
            <a:endParaRPr lang="en-US" sz="1300" dirty="0"/>
          </a:p>
        </p:txBody>
      </p:sp>
      <p:sp>
        <p:nvSpPr>
          <p:cNvPr id="45" name="Text 43"/>
          <p:cNvSpPr/>
          <p:nvPr/>
        </p:nvSpPr>
        <p:spPr>
          <a:xfrm>
            <a:off x="10195560" y="4023360"/>
            <a:ext cx="1920240" cy="1371600"/>
          </a:xfrm>
          <a:prstGeom prst="rect">
            <a:avLst/>
          </a:prstGeom>
          <a:noFill/>
          <a:ln/>
        </p:spPr>
        <p:txBody>
          <a:bodyPr wrap="square" rtlCol="0" anchor="ctr"/>
          <a:lstStyle/>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CSV / Excel / PDF 导出</a:t>
            </a:r>
            <a:endParaRPr lang="en-US" sz="1000" dirty="0"/>
          </a:p>
          <a:p>
            <a:pPr marL="0" indent="0">
              <a:lnSpc>
                <a:spcPts val="1600"/>
              </a:lnSpc>
              <a:buNone/>
            </a:pPr>
            <a:r>
              <a:rPr lang="en-US" sz="1000" dirty="0">
                <a:solidFill>
                  <a:srgbClr val="5D4E44"/>
                </a:solidFill>
                <a:latin typeface="Calibri" pitchFamily="34" charset="0"/>
                <a:ea typeface="Calibri" pitchFamily="34" charset="-122"/>
                <a:cs typeface="Calibri" pitchFamily="34" charset="-120"/>
              </a:rPr>
              <a:t>DAQ 数据采集 Worker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02</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核心技术方案</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CORE TECHNICAL SOLUTIONS</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10</a:t>
            </a:r>
            <a:endParaRPr lang="en-US" sz="1000" dirty="0"/>
          </a:p>
        </p:txBody>
      </p:sp>
      <p:sp>
        <p:nvSpPr>
          <p:cNvPr id="11" name="Shape 9"/>
          <p:cNvSpPr/>
          <p:nvPr/>
        </p:nvSpPr>
        <p:spPr>
          <a:xfrm>
            <a:off x="548640" y="1554480"/>
            <a:ext cx="356616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2" name="Shape 10"/>
          <p:cNvSpPr/>
          <p:nvPr/>
        </p:nvSpPr>
        <p:spPr>
          <a:xfrm>
            <a:off x="548640" y="1554480"/>
            <a:ext cx="3566160" cy="54864"/>
          </a:xfrm>
          <a:prstGeom prst="rect">
            <a:avLst/>
          </a:prstGeom>
          <a:solidFill>
            <a:srgbClr val="C0392B"/>
          </a:solidFill>
          <a:ln/>
        </p:spPr>
        <p:txBody>
          <a:bodyPr/>
          <a:lstStyle/>
          <a:p>
            <a:endParaRPr lang="zh-CN" altLang="en-US"/>
          </a:p>
        </p:txBody>
      </p:sp>
      <p:sp>
        <p:nvSpPr>
          <p:cNvPr id="13" name="Shape 11"/>
          <p:cNvSpPr/>
          <p:nvPr/>
        </p:nvSpPr>
        <p:spPr>
          <a:xfrm>
            <a:off x="731520" y="1828800"/>
            <a:ext cx="457200" cy="457200"/>
          </a:xfrm>
          <a:prstGeom prst="ellipse">
            <a:avLst/>
          </a:prstGeom>
          <a:solidFill>
            <a:srgbClr val="C0392B"/>
          </a:solidFill>
          <a:ln/>
        </p:spPr>
        <p:txBody>
          <a:bodyPr/>
          <a:lstStyle/>
          <a:p>
            <a:endParaRPr lang="zh-CN" altLang="en-US"/>
          </a:p>
        </p:txBody>
      </p:sp>
      <p:sp>
        <p:nvSpPr>
          <p:cNvPr id="14" name="Text 12"/>
          <p:cNvSpPr/>
          <p:nvPr/>
        </p:nvSpPr>
        <p:spPr>
          <a:xfrm>
            <a:off x="731520" y="1828800"/>
            <a:ext cx="457200" cy="457200"/>
          </a:xfrm>
          <a:prstGeom prst="rect">
            <a:avLst/>
          </a:prstGeom>
          <a:noFill/>
          <a:ln/>
        </p:spPr>
        <p:txBody>
          <a:bodyPr wrap="square" rtlCol="0" anchor="ctr"/>
          <a:lstStyle/>
          <a:p>
            <a:pPr marL="0" indent="0" algn="ctr">
              <a:buNone/>
            </a:pPr>
            <a:r>
              <a:rPr lang="en-US" sz="2000" b="1" dirty="0">
                <a:solidFill>
                  <a:srgbClr val="FAFAF7"/>
                </a:solidFill>
                <a:latin typeface="Impact" pitchFamily="34" charset="0"/>
                <a:ea typeface="Impact" pitchFamily="34" charset="-122"/>
                <a:cs typeface="Impact" pitchFamily="34" charset="-120"/>
              </a:rPr>
              <a:t>1</a:t>
            </a:r>
            <a:endParaRPr lang="en-US" sz="2000" dirty="0"/>
          </a:p>
        </p:txBody>
      </p:sp>
      <p:sp>
        <p:nvSpPr>
          <p:cNvPr id="15" name="Text 13"/>
          <p:cNvSpPr/>
          <p:nvPr/>
        </p:nvSpPr>
        <p:spPr>
          <a:xfrm>
            <a:off x="1371600" y="1828800"/>
            <a:ext cx="2560320" cy="457200"/>
          </a:xfrm>
          <a:prstGeom prst="rect">
            <a:avLst/>
          </a:prstGeom>
          <a:noFill/>
          <a:ln/>
        </p:spPr>
        <p:txBody>
          <a:bodyPr wrap="square" rtlCol="0" anchor="ctr"/>
          <a:lstStyle/>
          <a:p>
            <a:pPr marL="0" indent="0">
              <a:buNone/>
            </a:pPr>
            <a:r>
              <a:rPr lang="en-US" sz="1600" b="1" dirty="0">
                <a:solidFill>
                  <a:srgbClr val="2C1810"/>
                </a:solidFill>
                <a:latin typeface="Microsoft YaHei" pitchFamily="34" charset="0"/>
                <a:ea typeface="Microsoft YaHei" pitchFamily="34" charset="-122"/>
                <a:cs typeface="Microsoft YaHei" pitchFamily="34" charset="-120"/>
              </a:rPr>
              <a:t>五阶段状态机建模</a:t>
            </a:r>
            <a:endParaRPr lang="en-US" sz="1600" dirty="0"/>
          </a:p>
        </p:txBody>
      </p:sp>
      <p:sp>
        <p:nvSpPr>
          <p:cNvPr id="16" name="Text 14"/>
          <p:cNvSpPr/>
          <p:nvPr/>
        </p:nvSpPr>
        <p:spPr>
          <a:xfrm>
            <a:off x="731520" y="2377440"/>
            <a:ext cx="3200400" cy="1097280"/>
          </a:xfrm>
          <a:prstGeom prst="rect">
            <a:avLst/>
          </a:prstGeom>
          <a:noFill/>
          <a:ln/>
        </p:spPr>
        <p:txBody>
          <a:bodyPr wrap="square" rtlCol="0" anchor="ctr"/>
          <a:lstStyle/>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IDLE → PREPARING → READY → RECORDING → COMPLETE</a:t>
            </a:r>
            <a:endParaRPr lang="en-US" sz="1100" dirty="0"/>
          </a:p>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线程安全 lock 保护，800ms 周期广播</a:t>
            </a:r>
            <a:endParaRPr lang="en-US" sz="1100" dirty="0"/>
          </a:p>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Button 状态矩阵自动管理</a:t>
            </a:r>
            <a:endParaRPr lang="en-US" sz="1100" dirty="0"/>
          </a:p>
        </p:txBody>
      </p:sp>
      <p:sp>
        <p:nvSpPr>
          <p:cNvPr id="17" name="Shape 15"/>
          <p:cNvSpPr/>
          <p:nvPr/>
        </p:nvSpPr>
        <p:spPr>
          <a:xfrm>
            <a:off x="4389120" y="1554480"/>
            <a:ext cx="356616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8" name="Shape 16"/>
          <p:cNvSpPr/>
          <p:nvPr/>
        </p:nvSpPr>
        <p:spPr>
          <a:xfrm>
            <a:off x="4389120" y="1554480"/>
            <a:ext cx="3566160" cy="54864"/>
          </a:xfrm>
          <a:prstGeom prst="rect">
            <a:avLst/>
          </a:prstGeom>
          <a:solidFill>
            <a:srgbClr val="D35400"/>
          </a:solidFill>
          <a:ln/>
        </p:spPr>
        <p:txBody>
          <a:bodyPr/>
          <a:lstStyle/>
          <a:p>
            <a:endParaRPr lang="zh-CN" altLang="en-US"/>
          </a:p>
        </p:txBody>
      </p:sp>
      <p:sp>
        <p:nvSpPr>
          <p:cNvPr id="19" name="Shape 17"/>
          <p:cNvSpPr/>
          <p:nvPr/>
        </p:nvSpPr>
        <p:spPr>
          <a:xfrm>
            <a:off x="4572000" y="1828800"/>
            <a:ext cx="457200" cy="457200"/>
          </a:xfrm>
          <a:prstGeom prst="ellipse">
            <a:avLst/>
          </a:prstGeom>
          <a:solidFill>
            <a:srgbClr val="D35400"/>
          </a:solidFill>
          <a:ln/>
        </p:spPr>
        <p:txBody>
          <a:bodyPr/>
          <a:lstStyle/>
          <a:p>
            <a:endParaRPr lang="zh-CN" altLang="en-US"/>
          </a:p>
        </p:txBody>
      </p:sp>
      <p:sp>
        <p:nvSpPr>
          <p:cNvPr id="20" name="Text 18"/>
          <p:cNvSpPr/>
          <p:nvPr/>
        </p:nvSpPr>
        <p:spPr>
          <a:xfrm>
            <a:off x="4572000" y="1828800"/>
            <a:ext cx="457200" cy="457200"/>
          </a:xfrm>
          <a:prstGeom prst="rect">
            <a:avLst/>
          </a:prstGeom>
          <a:noFill/>
          <a:ln/>
        </p:spPr>
        <p:txBody>
          <a:bodyPr wrap="square" rtlCol="0" anchor="ctr"/>
          <a:lstStyle/>
          <a:p>
            <a:pPr marL="0" indent="0" algn="ctr">
              <a:buNone/>
            </a:pPr>
            <a:r>
              <a:rPr lang="en-US" sz="2000" b="1" dirty="0">
                <a:solidFill>
                  <a:srgbClr val="FAFAF7"/>
                </a:solidFill>
                <a:latin typeface="Impact" pitchFamily="34" charset="0"/>
                <a:ea typeface="Impact" pitchFamily="34" charset="-122"/>
                <a:cs typeface="Impact" pitchFamily="34" charset="-120"/>
              </a:rPr>
              <a:t>2</a:t>
            </a:r>
            <a:endParaRPr lang="en-US" sz="2000" dirty="0"/>
          </a:p>
        </p:txBody>
      </p:sp>
      <p:sp>
        <p:nvSpPr>
          <p:cNvPr id="21" name="Text 19"/>
          <p:cNvSpPr/>
          <p:nvPr/>
        </p:nvSpPr>
        <p:spPr>
          <a:xfrm>
            <a:off x="5212080" y="1828800"/>
            <a:ext cx="2560320" cy="457200"/>
          </a:xfrm>
          <a:prstGeom prst="rect">
            <a:avLst/>
          </a:prstGeom>
          <a:noFill/>
          <a:ln/>
        </p:spPr>
        <p:txBody>
          <a:bodyPr wrap="square" rtlCol="0" anchor="ctr"/>
          <a:lstStyle/>
          <a:p>
            <a:pPr marL="0" indent="0">
              <a:buNone/>
            </a:pPr>
            <a:r>
              <a:rPr lang="en-US" sz="1600" b="1" dirty="0">
                <a:solidFill>
                  <a:srgbClr val="2C1810"/>
                </a:solidFill>
                <a:latin typeface="Microsoft YaHei" pitchFamily="34" charset="0"/>
                <a:ea typeface="Microsoft YaHei" pitchFamily="34" charset="-122"/>
                <a:cs typeface="Microsoft YaHei" pitchFamily="34" charset="-120"/>
              </a:rPr>
              <a:t>多阶段温度仿真算法</a:t>
            </a:r>
            <a:endParaRPr lang="en-US" sz="1600" dirty="0"/>
          </a:p>
        </p:txBody>
      </p:sp>
      <p:sp>
        <p:nvSpPr>
          <p:cNvPr id="22" name="Text 20"/>
          <p:cNvSpPr/>
          <p:nvPr/>
        </p:nvSpPr>
        <p:spPr>
          <a:xfrm>
            <a:off x="4572000" y="2377440"/>
            <a:ext cx="3200400" cy="1097280"/>
          </a:xfrm>
          <a:prstGeom prst="rect">
            <a:avLst/>
          </a:prstGeom>
          <a:noFill/>
          <a:ln/>
        </p:spPr>
        <p:txBody>
          <a:bodyPr wrap="square" rtlCol="0" anchor="ctr"/>
          <a:lstStyle/>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Preparing: 线性升温 + 随机噪声</a:t>
            </a:r>
            <a:endParaRPr lang="en-US" sz="1100" dirty="0"/>
          </a:p>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Ready: 钳位 750°C ± 波动</a:t>
            </a:r>
            <a:endParaRPr lang="en-US" sz="1100" dirty="0"/>
          </a:p>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Recording: 指数逼近热传导模型</a:t>
            </a:r>
            <a:endParaRPr lang="en-US" sz="1100" dirty="0"/>
          </a:p>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Complete: 自然冷却降温</a:t>
            </a:r>
            <a:endParaRPr lang="en-US" sz="1100" dirty="0"/>
          </a:p>
        </p:txBody>
      </p:sp>
      <p:sp>
        <p:nvSpPr>
          <p:cNvPr id="23" name="Shape 21"/>
          <p:cNvSpPr/>
          <p:nvPr/>
        </p:nvSpPr>
        <p:spPr>
          <a:xfrm>
            <a:off x="8229600" y="1554480"/>
            <a:ext cx="356616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4" name="Shape 22"/>
          <p:cNvSpPr/>
          <p:nvPr/>
        </p:nvSpPr>
        <p:spPr>
          <a:xfrm>
            <a:off x="8229600" y="1554480"/>
            <a:ext cx="3566160" cy="54864"/>
          </a:xfrm>
          <a:prstGeom prst="rect">
            <a:avLst/>
          </a:prstGeom>
          <a:solidFill>
            <a:srgbClr val="F39C12"/>
          </a:solidFill>
          <a:ln/>
        </p:spPr>
        <p:txBody>
          <a:bodyPr/>
          <a:lstStyle/>
          <a:p>
            <a:endParaRPr lang="zh-CN" altLang="en-US"/>
          </a:p>
        </p:txBody>
      </p:sp>
      <p:sp>
        <p:nvSpPr>
          <p:cNvPr id="25" name="Shape 23"/>
          <p:cNvSpPr/>
          <p:nvPr/>
        </p:nvSpPr>
        <p:spPr>
          <a:xfrm>
            <a:off x="8412480" y="1828800"/>
            <a:ext cx="457200" cy="457200"/>
          </a:xfrm>
          <a:prstGeom prst="ellipse">
            <a:avLst/>
          </a:prstGeom>
          <a:solidFill>
            <a:srgbClr val="F39C12"/>
          </a:solidFill>
          <a:ln/>
        </p:spPr>
        <p:txBody>
          <a:bodyPr/>
          <a:lstStyle/>
          <a:p>
            <a:endParaRPr lang="zh-CN" altLang="en-US"/>
          </a:p>
        </p:txBody>
      </p:sp>
      <p:sp>
        <p:nvSpPr>
          <p:cNvPr id="26" name="Text 24"/>
          <p:cNvSpPr/>
          <p:nvPr/>
        </p:nvSpPr>
        <p:spPr>
          <a:xfrm>
            <a:off x="8412480" y="1828800"/>
            <a:ext cx="457200" cy="457200"/>
          </a:xfrm>
          <a:prstGeom prst="rect">
            <a:avLst/>
          </a:prstGeom>
          <a:noFill/>
          <a:ln/>
        </p:spPr>
        <p:txBody>
          <a:bodyPr wrap="square" rtlCol="0" anchor="ctr"/>
          <a:lstStyle/>
          <a:p>
            <a:pPr marL="0" indent="0" algn="ctr">
              <a:buNone/>
            </a:pPr>
            <a:r>
              <a:rPr lang="en-US" sz="2000" b="1" dirty="0">
                <a:solidFill>
                  <a:srgbClr val="FAFAF7"/>
                </a:solidFill>
                <a:latin typeface="Impact" pitchFamily="34" charset="0"/>
                <a:ea typeface="Impact" pitchFamily="34" charset="-122"/>
                <a:cs typeface="Impact" pitchFamily="34" charset="-120"/>
              </a:rPr>
              <a:t>3</a:t>
            </a:r>
            <a:endParaRPr lang="en-US" sz="2000" dirty="0"/>
          </a:p>
        </p:txBody>
      </p:sp>
      <p:sp>
        <p:nvSpPr>
          <p:cNvPr id="27" name="Text 25"/>
          <p:cNvSpPr/>
          <p:nvPr/>
        </p:nvSpPr>
        <p:spPr>
          <a:xfrm>
            <a:off x="9052560" y="1828800"/>
            <a:ext cx="2560320" cy="457200"/>
          </a:xfrm>
          <a:prstGeom prst="rect">
            <a:avLst/>
          </a:prstGeom>
          <a:noFill/>
          <a:ln/>
        </p:spPr>
        <p:txBody>
          <a:bodyPr wrap="square" rtlCol="0" anchor="ctr"/>
          <a:lstStyle/>
          <a:p>
            <a:pPr marL="0" indent="0">
              <a:buNone/>
            </a:pPr>
            <a:r>
              <a:rPr lang="en-US" sz="1600" b="1" dirty="0">
                <a:solidFill>
                  <a:srgbClr val="2C1810"/>
                </a:solidFill>
                <a:latin typeface="Microsoft YaHei" pitchFamily="34" charset="0"/>
                <a:ea typeface="Microsoft YaHei" pitchFamily="34" charset="-122"/>
                <a:cs typeface="Microsoft YaHei" pitchFamily="34" charset="-120"/>
              </a:rPr>
              <a:t>线性回归温漂判定</a:t>
            </a:r>
            <a:endParaRPr lang="en-US" sz="1600" dirty="0"/>
          </a:p>
        </p:txBody>
      </p:sp>
      <p:sp>
        <p:nvSpPr>
          <p:cNvPr id="28" name="Text 26"/>
          <p:cNvSpPr/>
          <p:nvPr/>
        </p:nvSpPr>
        <p:spPr>
          <a:xfrm>
            <a:off x="8412480" y="2377440"/>
            <a:ext cx="3200400" cy="1097280"/>
          </a:xfrm>
          <a:prstGeom prst="rect">
            <a:avLst/>
          </a:prstGeom>
          <a:noFill/>
          <a:ln/>
        </p:spPr>
        <p:txBody>
          <a:bodyPr wrap="square" rtlCol="0" anchor="ctr"/>
          <a:lstStyle/>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MathNet.Numerics 线性回归</a:t>
            </a:r>
            <a:endParaRPr lang="en-US" sz="1100" dirty="0"/>
          </a:p>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最近 600 点（~10 分钟）拟合</a:t>
            </a:r>
            <a:endParaRPr lang="en-US" sz="1100" dirty="0"/>
          </a:p>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|温漂| &lt; 2°C/10min → 稳定</a:t>
            </a:r>
            <a:endParaRPr lang="en-US" sz="1100" dirty="0"/>
          </a:p>
          <a:p>
            <a:pPr marL="0" indent="0">
              <a:lnSpc>
                <a:spcPts val="1600"/>
              </a:lnSpc>
              <a:buNone/>
            </a:pPr>
            <a:r>
              <a:rPr lang="en-US" sz="1100" dirty="0">
                <a:solidFill>
                  <a:srgbClr val="5D4E44"/>
                </a:solidFill>
                <a:latin typeface="Calibri" pitchFamily="34" charset="0"/>
                <a:ea typeface="Calibri" pitchFamily="34" charset="-122"/>
                <a:cs typeface="Calibri" pitchFamily="34" charset="-120"/>
              </a:rPr>
              <a:t>60 分钟自动终止 + 手动干预</a:t>
            </a:r>
            <a:endParaRPr lang="en-US" sz="1100" dirty="0"/>
          </a:p>
        </p:txBody>
      </p:sp>
      <p:sp>
        <p:nvSpPr>
          <p:cNvPr id="29" name="Shape 27"/>
          <p:cNvSpPr/>
          <p:nvPr/>
        </p:nvSpPr>
        <p:spPr>
          <a:xfrm>
            <a:off x="548640" y="3840480"/>
            <a:ext cx="11064240" cy="2240280"/>
          </a:xfrm>
          <a:prstGeom prst="rect">
            <a:avLst/>
          </a:prstGeom>
          <a:solidFill>
            <a:srgbClr val="FFF3E0"/>
          </a:solidFill>
          <a:ln w="12700">
            <a:solidFill>
              <a:srgbClr val="E67E22"/>
            </a:solidFill>
            <a:prstDash val="solid"/>
          </a:ln>
          <a:effectLst>
            <a:outerShdw blurRad="508" dist="254" dir="16200000" algn="bl" rotWithShape="0">
              <a:srgbClr val="000000">
                <a:alpha val="5000"/>
              </a:srgbClr>
            </a:outerShdw>
          </a:effectLst>
        </p:spPr>
        <p:txBody>
          <a:bodyPr/>
          <a:lstStyle/>
          <a:p>
            <a:endParaRPr lang="zh-CN" altLang="en-US"/>
          </a:p>
        </p:txBody>
      </p:sp>
      <p:sp>
        <p:nvSpPr>
          <p:cNvPr id="30" name="Text 28"/>
          <p:cNvSpPr/>
          <p:nvPr/>
        </p:nvSpPr>
        <p:spPr>
          <a:xfrm>
            <a:off x="822960" y="3977640"/>
            <a:ext cx="2743200" cy="32004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算法总览</a:t>
            </a:r>
            <a:endParaRPr lang="en-US" sz="1400" dirty="0"/>
          </a:p>
        </p:txBody>
      </p:sp>
      <p:sp>
        <p:nvSpPr>
          <p:cNvPr id="31" name="Shape 29"/>
          <p:cNvSpPr/>
          <p:nvPr/>
        </p:nvSpPr>
        <p:spPr>
          <a:xfrm>
            <a:off x="914400" y="4434840"/>
            <a:ext cx="731520" cy="292608"/>
          </a:xfrm>
          <a:prstGeom prst="rect">
            <a:avLst/>
          </a:prstGeom>
          <a:solidFill>
            <a:srgbClr val="C0392B"/>
          </a:solidFill>
          <a:ln/>
        </p:spPr>
        <p:txBody>
          <a:bodyPr/>
          <a:lstStyle/>
          <a:p>
            <a:endParaRPr lang="zh-CN" altLang="en-US"/>
          </a:p>
        </p:txBody>
      </p:sp>
      <p:sp>
        <p:nvSpPr>
          <p:cNvPr id="32" name="Text 30"/>
          <p:cNvSpPr/>
          <p:nvPr/>
        </p:nvSpPr>
        <p:spPr>
          <a:xfrm>
            <a:off x="914400" y="4434840"/>
            <a:ext cx="731520" cy="292608"/>
          </a:xfrm>
          <a:prstGeom prst="rect">
            <a:avLst/>
          </a:prstGeom>
          <a:noFill/>
          <a:ln/>
        </p:spPr>
        <p:txBody>
          <a:bodyPr wrap="square" rtlCol="0" anchor="ctr"/>
          <a:lstStyle/>
          <a:p>
            <a:pPr marL="0" indent="0" algn="ctr">
              <a:buNone/>
            </a:pPr>
            <a:r>
              <a:rPr lang="en-US" sz="1000" dirty="0">
                <a:solidFill>
                  <a:srgbClr val="FAFAF7"/>
                </a:solidFill>
                <a:latin typeface="Calibri" pitchFamily="34" charset="0"/>
                <a:ea typeface="Calibri" pitchFamily="34" charset="-122"/>
                <a:cs typeface="Calibri" pitchFamily="34" charset="-120"/>
              </a:rPr>
              <a:t>升温</a:t>
            </a:r>
            <a:endParaRPr lang="en-US" sz="1000" dirty="0"/>
          </a:p>
        </p:txBody>
      </p:sp>
      <p:sp>
        <p:nvSpPr>
          <p:cNvPr id="33" name="Text 31"/>
          <p:cNvSpPr/>
          <p:nvPr/>
        </p:nvSpPr>
        <p:spPr>
          <a:xfrm>
            <a:off x="1828800" y="4434840"/>
            <a:ext cx="9144000" cy="292608"/>
          </a:xfrm>
          <a:prstGeom prst="rect">
            <a:avLst/>
          </a:prstGeom>
          <a:noFill/>
          <a:ln/>
        </p:spPr>
        <p:txBody>
          <a:bodyPr wrap="square" rtlCol="0" anchor="ctr"/>
          <a:lstStyle/>
          <a:p>
            <a:pPr marL="0" indent="0">
              <a:buNone/>
            </a:pPr>
            <a:r>
              <a:rPr lang="en-US" sz="1100" dirty="0">
                <a:solidFill>
                  <a:srgbClr val="2C1810"/>
                </a:solidFill>
                <a:latin typeface="Consolas" pitchFamily="34" charset="0"/>
                <a:ea typeface="Consolas" pitchFamily="34" charset="-122"/>
                <a:cs typeface="Consolas" pitchFamily="34" charset="-120"/>
              </a:rPr>
              <a:t>TF₁ += rate × 0.8 + rand(±σ)</a:t>
            </a:r>
            <a:endParaRPr lang="en-US" sz="1100" dirty="0"/>
          </a:p>
        </p:txBody>
      </p:sp>
      <p:sp>
        <p:nvSpPr>
          <p:cNvPr id="34" name="Shape 32"/>
          <p:cNvSpPr/>
          <p:nvPr/>
        </p:nvSpPr>
        <p:spPr>
          <a:xfrm>
            <a:off x="914400" y="4818888"/>
            <a:ext cx="731520" cy="292608"/>
          </a:xfrm>
          <a:prstGeom prst="rect">
            <a:avLst/>
          </a:prstGeom>
          <a:solidFill>
            <a:srgbClr val="D35400"/>
          </a:solidFill>
          <a:ln/>
        </p:spPr>
        <p:txBody>
          <a:bodyPr/>
          <a:lstStyle/>
          <a:p>
            <a:endParaRPr lang="zh-CN" altLang="en-US"/>
          </a:p>
        </p:txBody>
      </p:sp>
      <p:sp>
        <p:nvSpPr>
          <p:cNvPr id="35" name="Text 33"/>
          <p:cNvSpPr/>
          <p:nvPr/>
        </p:nvSpPr>
        <p:spPr>
          <a:xfrm>
            <a:off x="914400" y="4818888"/>
            <a:ext cx="731520" cy="292608"/>
          </a:xfrm>
          <a:prstGeom prst="rect">
            <a:avLst/>
          </a:prstGeom>
          <a:noFill/>
          <a:ln/>
        </p:spPr>
        <p:txBody>
          <a:bodyPr wrap="square" rtlCol="0" anchor="ctr"/>
          <a:lstStyle/>
          <a:p>
            <a:pPr marL="0" indent="0" algn="ctr">
              <a:buNone/>
            </a:pPr>
            <a:r>
              <a:rPr lang="en-US" sz="1000" dirty="0">
                <a:solidFill>
                  <a:srgbClr val="FAFAF7"/>
                </a:solidFill>
                <a:latin typeface="Calibri" pitchFamily="34" charset="0"/>
                <a:ea typeface="Calibri" pitchFamily="34" charset="-122"/>
                <a:cs typeface="Calibri" pitchFamily="34" charset="-120"/>
              </a:rPr>
              <a:t>稳定</a:t>
            </a:r>
            <a:endParaRPr lang="en-US" sz="1000" dirty="0"/>
          </a:p>
        </p:txBody>
      </p:sp>
      <p:sp>
        <p:nvSpPr>
          <p:cNvPr id="36" name="Text 34"/>
          <p:cNvSpPr/>
          <p:nvPr/>
        </p:nvSpPr>
        <p:spPr>
          <a:xfrm>
            <a:off x="1828800" y="4818888"/>
            <a:ext cx="9144000" cy="292608"/>
          </a:xfrm>
          <a:prstGeom prst="rect">
            <a:avLst/>
          </a:prstGeom>
          <a:noFill/>
          <a:ln/>
        </p:spPr>
        <p:txBody>
          <a:bodyPr wrap="square" rtlCol="0" anchor="ctr"/>
          <a:lstStyle/>
          <a:p>
            <a:pPr marL="0" indent="0">
              <a:buNone/>
            </a:pPr>
            <a:r>
              <a:rPr lang="en-US" sz="1100" dirty="0">
                <a:solidFill>
                  <a:srgbClr val="2C1810"/>
                </a:solidFill>
                <a:latin typeface="Consolas" pitchFamily="34" charset="0"/>
                <a:ea typeface="Consolas" pitchFamily="34" charset="-122"/>
                <a:cs typeface="Consolas" pitchFamily="34" charset="-120"/>
              </a:rPr>
              <a:t>TF₁ = 750.0 + rand(±σ)</a:t>
            </a:r>
            <a:endParaRPr lang="en-US" sz="1100" dirty="0"/>
          </a:p>
        </p:txBody>
      </p:sp>
      <p:sp>
        <p:nvSpPr>
          <p:cNvPr id="37" name="Shape 35"/>
          <p:cNvSpPr/>
          <p:nvPr/>
        </p:nvSpPr>
        <p:spPr>
          <a:xfrm>
            <a:off x="914400" y="5202936"/>
            <a:ext cx="731520" cy="292608"/>
          </a:xfrm>
          <a:prstGeom prst="rect">
            <a:avLst/>
          </a:prstGeom>
          <a:solidFill>
            <a:srgbClr val="E67E22"/>
          </a:solidFill>
          <a:ln/>
        </p:spPr>
        <p:txBody>
          <a:bodyPr/>
          <a:lstStyle/>
          <a:p>
            <a:endParaRPr lang="zh-CN" altLang="en-US"/>
          </a:p>
        </p:txBody>
      </p:sp>
      <p:sp>
        <p:nvSpPr>
          <p:cNvPr id="38" name="Text 36"/>
          <p:cNvSpPr/>
          <p:nvPr/>
        </p:nvSpPr>
        <p:spPr>
          <a:xfrm>
            <a:off x="914400" y="5202936"/>
            <a:ext cx="731520" cy="292608"/>
          </a:xfrm>
          <a:prstGeom prst="rect">
            <a:avLst/>
          </a:prstGeom>
          <a:noFill/>
          <a:ln/>
        </p:spPr>
        <p:txBody>
          <a:bodyPr wrap="square" rtlCol="0" anchor="ctr"/>
          <a:lstStyle/>
          <a:p>
            <a:pPr marL="0" indent="0" algn="ctr">
              <a:buNone/>
            </a:pPr>
            <a:r>
              <a:rPr lang="en-US" sz="1000" dirty="0">
                <a:solidFill>
                  <a:srgbClr val="FAFAF7"/>
                </a:solidFill>
                <a:latin typeface="Calibri" pitchFamily="34" charset="0"/>
                <a:ea typeface="Calibri" pitchFamily="34" charset="-122"/>
                <a:cs typeface="Calibri" pitchFamily="34" charset="-120"/>
              </a:rPr>
              <a:t>记录(TS)</a:t>
            </a:r>
            <a:endParaRPr lang="en-US" sz="1000" dirty="0"/>
          </a:p>
        </p:txBody>
      </p:sp>
      <p:sp>
        <p:nvSpPr>
          <p:cNvPr id="39" name="Text 37"/>
          <p:cNvSpPr/>
          <p:nvPr/>
        </p:nvSpPr>
        <p:spPr>
          <a:xfrm>
            <a:off x="1828800" y="5202936"/>
            <a:ext cx="9144000" cy="292608"/>
          </a:xfrm>
          <a:prstGeom prst="rect">
            <a:avLst/>
          </a:prstGeom>
          <a:noFill/>
          <a:ln/>
        </p:spPr>
        <p:txBody>
          <a:bodyPr wrap="square" rtlCol="0" anchor="ctr"/>
          <a:lstStyle/>
          <a:p>
            <a:pPr marL="0" indent="0">
              <a:buNone/>
            </a:pPr>
            <a:r>
              <a:rPr lang="en-US" sz="1100" dirty="0">
                <a:solidFill>
                  <a:srgbClr val="2C1810"/>
                </a:solidFill>
                <a:latin typeface="Consolas" pitchFamily="34" charset="0"/>
                <a:ea typeface="Consolas" pitchFamily="34" charset="-122"/>
                <a:cs typeface="Consolas" pitchFamily="34" charset="-120"/>
              </a:rPr>
              <a:t>TS += [min(TF₁×0.95, 800)-TS] × 0.02</a:t>
            </a:r>
            <a:endParaRPr lang="en-US" sz="1100" dirty="0"/>
          </a:p>
        </p:txBody>
      </p:sp>
      <p:sp>
        <p:nvSpPr>
          <p:cNvPr id="40" name="Shape 38"/>
          <p:cNvSpPr/>
          <p:nvPr/>
        </p:nvSpPr>
        <p:spPr>
          <a:xfrm>
            <a:off x="914400" y="5586984"/>
            <a:ext cx="731520" cy="292608"/>
          </a:xfrm>
          <a:prstGeom prst="rect">
            <a:avLst/>
          </a:prstGeom>
          <a:solidFill>
            <a:srgbClr val="F39C12"/>
          </a:solidFill>
          <a:ln/>
        </p:spPr>
        <p:txBody>
          <a:bodyPr/>
          <a:lstStyle/>
          <a:p>
            <a:endParaRPr lang="zh-CN" altLang="en-US"/>
          </a:p>
        </p:txBody>
      </p:sp>
      <p:sp>
        <p:nvSpPr>
          <p:cNvPr id="41" name="Text 39"/>
          <p:cNvSpPr/>
          <p:nvPr/>
        </p:nvSpPr>
        <p:spPr>
          <a:xfrm>
            <a:off x="914400" y="5586984"/>
            <a:ext cx="731520" cy="292608"/>
          </a:xfrm>
          <a:prstGeom prst="rect">
            <a:avLst/>
          </a:prstGeom>
          <a:noFill/>
          <a:ln/>
        </p:spPr>
        <p:txBody>
          <a:bodyPr wrap="square" rtlCol="0" anchor="ctr"/>
          <a:lstStyle/>
          <a:p>
            <a:pPr marL="0" indent="0" algn="ctr">
              <a:buNone/>
            </a:pPr>
            <a:r>
              <a:rPr lang="en-US" sz="1000" dirty="0">
                <a:solidFill>
                  <a:srgbClr val="FAFAF7"/>
                </a:solidFill>
                <a:latin typeface="Calibri" pitchFamily="34" charset="0"/>
                <a:ea typeface="Calibri" pitchFamily="34" charset="-122"/>
                <a:cs typeface="Calibri" pitchFamily="34" charset="-120"/>
              </a:rPr>
              <a:t>降温</a:t>
            </a:r>
            <a:endParaRPr lang="en-US" sz="1000" dirty="0"/>
          </a:p>
        </p:txBody>
      </p:sp>
      <p:sp>
        <p:nvSpPr>
          <p:cNvPr id="42" name="Text 40"/>
          <p:cNvSpPr/>
          <p:nvPr/>
        </p:nvSpPr>
        <p:spPr>
          <a:xfrm>
            <a:off x="1828800" y="5586984"/>
            <a:ext cx="9144000" cy="292608"/>
          </a:xfrm>
          <a:prstGeom prst="rect">
            <a:avLst/>
          </a:prstGeom>
          <a:noFill/>
          <a:ln/>
        </p:spPr>
        <p:txBody>
          <a:bodyPr wrap="square" rtlCol="0" anchor="ctr"/>
          <a:lstStyle/>
          <a:p>
            <a:pPr marL="0" indent="0">
              <a:buNone/>
            </a:pPr>
            <a:r>
              <a:rPr lang="en-US" sz="1100" dirty="0">
                <a:solidFill>
                  <a:srgbClr val="2C1810"/>
                </a:solidFill>
                <a:latin typeface="Consolas" pitchFamily="34" charset="0"/>
                <a:ea typeface="Consolas" pitchFamily="34" charset="-122"/>
                <a:cs typeface="Consolas" pitchFamily="34" charset="-120"/>
              </a:rPr>
              <a:t>TF₁ -= 0.5 + |rand| × 0.1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00E"/>
        </a:solidFill>
        <a:effectLst/>
      </p:bgPr>
    </p:bg>
    <p:spTree>
      <p:nvGrpSpPr>
        <p:cNvPr id="1" name=""/>
        <p:cNvGrpSpPr/>
        <p:nvPr/>
      </p:nvGrpSpPr>
      <p:grpSpPr>
        <a:xfrm>
          <a:off x="0" y="0"/>
          <a:ext cx="0" cy="0"/>
          <a:chOff x="0" y="0"/>
          <a:chExt cx="0" cy="0"/>
        </a:xfrm>
      </p:grpSpPr>
      <p:sp>
        <p:nvSpPr>
          <p:cNvPr id="2" name="Text 0"/>
          <p:cNvSpPr/>
          <p:nvPr/>
        </p:nvSpPr>
        <p:spPr>
          <a:xfrm>
            <a:off x="731520" y="1828800"/>
            <a:ext cx="2743200" cy="2011680"/>
          </a:xfrm>
          <a:prstGeom prst="rect">
            <a:avLst/>
          </a:prstGeom>
          <a:noFill/>
          <a:ln/>
        </p:spPr>
        <p:txBody>
          <a:bodyPr wrap="square" rtlCol="0" anchor="ctr"/>
          <a:lstStyle/>
          <a:p>
            <a:pPr marL="0" indent="0" algn="l">
              <a:buNone/>
            </a:pPr>
            <a:r>
              <a:rPr lang="en-US" sz="9600" b="1" dirty="0">
                <a:solidFill>
                  <a:srgbClr val="C0392B"/>
                </a:solidFill>
                <a:latin typeface="Impact" pitchFamily="34" charset="0"/>
                <a:ea typeface="Impact" pitchFamily="34" charset="-122"/>
                <a:cs typeface="Impact" pitchFamily="34" charset="-120"/>
              </a:rPr>
              <a:t>03</a:t>
            </a:r>
            <a:endParaRPr lang="en-US" sz="9600" dirty="0"/>
          </a:p>
        </p:txBody>
      </p:sp>
      <p:sp>
        <p:nvSpPr>
          <p:cNvPr id="3" name="Shape 1"/>
          <p:cNvSpPr/>
          <p:nvPr/>
        </p:nvSpPr>
        <p:spPr>
          <a:xfrm>
            <a:off x="731520" y="3931920"/>
            <a:ext cx="1645920" cy="45720"/>
          </a:xfrm>
          <a:prstGeom prst="rect">
            <a:avLst/>
          </a:prstGeom>
          <a:solidFill>
            <a:srgbClr val="E67E22"/>
          </a:solidFill>
          <a:ln/>
        </p:spPr>
        <p:txBody>
          <a:bodyPr/>
          <a:lstStyle/>
          <a:p>
            <a:endParaRPr lang="zh-CN" altLang="en-US"/>
          </a:p>
        </p:txBody>
      </p:sp>
      <p:sp>
        <p:nvSpPr>
          <p:cNvPr id="4" name="Text 2"/>
          <p:cNvSpPr/>
          <p:nvPr/>
        </p:nvSpPr>
        <p:spPr>
          <a:xfrm>
            <a:off x="731520" y="4206240"/>
            <a:ext cx="9144000" cy="914400"/>
          </a:xfrm>
          <a:prstGeom prst="rect">
            <a:avLst/>
          </a:prstGeom>
          <a:noFill/>
          <a:ln/>
        </p:spPr>
        <p:txBody>
          <a:bodyPr wrap="square" rtlCol="0" anchor="ctr"/>
          <a:lstStyle/>
          <a:p>
            <a:pPr marL="0" indent="0">
              <a:buNone/>
            </a:pPr>
            <a:r>
              <a:rPr lang="en-US" sz="3600" b="1" dirty="0">
                <a:solidFill>
                  <a:srgbClr val="FAFAF7"/>
                </a:solidFill>
                <a:latin typeface="Microsoft YaHei" pitchFamily="34" charset="0"/>
                <a:ea typeface="Microsoft YaHei" pitchFamily="34" charset="-122"/>
                <a:cs typeface="Microsoft YaHei" pitchFamily="34" charset="-120"/>
              </a:rPr>
              <a:t>系统设计与实现</a:t>
            </a:r>
            <a:endParaRPr lang="en-US" sz="3600" dirty="0"/>
          </a:p>
        </p:txBody>
      </p:sp>
      <p:sp>
        <p:nvSpPr>
          <p:cNvPr id="5" name="Text 3"/>
          <p:cNvSpPr/>
          <p:nvPr/>
        </p:nvSpPr>
        <p:spPr>
          <a:xfrm>
            <a:off x="731520" y="5029200"/>
            <a:ext cx="9144000" cy="731520"/>
          </a:xfrm>
          <a:prstGeom prst="rect">
            <a:avLst/>
          </a:prstGeom>
          <a:noFill/>
          <a:ln/>
        </p:spPr>
        <p:txBody>
          <a:bodyPr wrap="square" rtlCol="0" anchor="ctr"/>
          <a:lstStyle/>
          <a:p>
            <a:pPr marL="0" indent="0">
              <a:buNone/>
            </a:pPr>
            <a:r>
              <a:rPr lang="en-US" sz="1400" kern="0" spc="300" dirty="0">
                <a:solidFill>
                  <a:srgbClr val="A09088"/>
                </a:solidFill>
                <a:latin typeface="Calibri" pitchFamily="34" charset="0"/>
                <a:ea typeface="Calibri" pitchFamily="34" charset="-122"/>
                <a:cs typeface="Calibri" pitchFamily="34" charset="-120"/>
              </a:rPr>
              <a:t>SYSTEM DESIGN &amp; IMPLEMENTATION</a:t>
            </a:r>
            <a:endParaRPr lang="en-US" sz="1400" dirty="0"/>
          </a:p>
        </p:txBody>
      </p:sp>
      <p:sp>
        <p:nvSpPr>
          <p:cNvPr id="6" name="Shape 4"/>
          <p:cNvSpPr/>
          <p:nvPr/>
        </p:nvSpPr>
        <p:spPr>
          <a:xfrm>
            <a:off x="0" y="6492240"/>
            <a:ext cx="12191695" cy="54864"/>
          </a:xfrm>
          <a:prstGeom prst="rect">
            <a:avLst/>
          </a:prstGeom>
          <a:solidFill>
            <a:srgbClr val="C0392B"/>
          </a:solidFill>
          <a:ln/>
        </p:spPr>
        <p:txBody>
          <a:bodyPr/>
          <a:lstStyle/>
          <a:p>
            <a:endParaRPr lang="zh-CN" altLang="en-US"/>
          </a:p>
        </p:txBody>
      </p:sp>
      <p:sp>
        <p:nvSpPr>
          <p:cNvPr id="7" name="Shape 5"/>
          <p:cNvSpPr/>
          <p:nvPr/>
        </p:nvSpPr>
        <p:spPr>
          <a:xfrm>
            <a:off x="0" y="6565392"/>
            <a:ext cx="12191695" cy="36576"/>
          </a:xfrm>
          <a:prstGeom prst="rect">
            <a:avLst/>
          </a:prstGeom>
          <a:solidFill>
            <a:srgbClr val="E67E22"/>
          </a:solidFill>
          <a:ln/>
        </p:spPr>
        <p:txBody>
          <a:bodyPr/>
          <a:lstStyle/>
          <a:p>
            <a:endParaRPr lang="zh-CN" altLang="en-US"/>
          </a:p>
        </p:txBody>
      </p:sp>
      <p:sp>
        <p:nvSpPr>
          <p:cNvPr id="8" name="Shape 6"/>
          <p:cNvSpPr/>
          <p:nvPr/>
        </p:nvSpPr>
        <p:spPr>
          <a:xfrm>
            <a:off x="0" y="6620256"/>
            <a:ext cx="12191695" cy="27432"/>
          </a:xfrm>
          <a:prstGeom prst="rect">
            <a:avLst/>
          </a:prstGeom>
          <a:solidFill>
            <a:srgbClr val="F39C12"/>
          </a:solidFill>
          <a:ln/>
        </p:spPr>
        <p:txBody>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03</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软件需求分析</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REQUIREMENTS ANALYSIS</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12</a:t>
            </a:r>
            <a:endParaRPr lang="en-US" sz="1000" dirty="0"/>
          </a:p>
        </p:txBody>
      </p:sp>
      <p:sp>
        <p:nvSpPr>
          <p:cNvPr id="11" name="Shape 9"/>
          <p:cNvSpPr/>
          <p:nvPr/>
        </p:nvSpPr>
        <p:spPr>
          <a:xfrm>
            <a:off x="548640" y="1554480"/>
            <a:ext cx="5303520" cy="27432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2" name="Shape 10"/>
          <p:cNvSpPr/>
          <p:nvPr/>
        </p:nvSpPr>
        <p:spPr>
          <a:xfrm>
            <a:off x="548640" y="1554480"/>
            <a:ext cx="5303520" cy="54864"/>
          </a:xfrm>
          <a:prstGeom prst="rect">
            <a:avLst/>
          </a:prstGeom>
          <a:solidFill>
            <a:srgbClr val="C0392B"/>
          </a:solidFill>
          <a:ln/>
        </p:spPr>
        <p:txBody>
          <a:bodyPr/>
          <a:lstStyle/>
          <a:p>
            <a:endParaRPr lang="zh-CN" altLang="en-US"/>
          </a:p>
        </p:txBody>
      </p:sp>
      <p:sp>
        <p:nvSpPr>
          <p:cNvPr id="13" name="Text 11"/>
          <p:cNvSpPr/>
          <p:nvPr/>
        </p:nvSpPr>
        <p:spPr>
          <a:xfrm>
            <a:off x="822960" y="1783080"/>
            <a:ext cx="4754880" cy="365760"/>
          </a:xfrm>
          <a:prstGeom prst="rect">
            <a:avLst/>
          </a:prstGeom>
          <a:noFill/>
          <a:ln/>
        </p:spPr>
        <p:txBody>
          <a:bodyPr wrap="square" rtlCol="0" anchor="ctr"/>
          <a:lstStyle/>
          <a:p>
            <a:pPr marL="0" indent="0">
              <a:buNone/>
            </a:pPr>
            <a:r>
              <a:rPr lang="en-US" sz="1500" b="1" dirty="0">
                <a:solidFill>
                  <a:srgbClr val="2C1810"/>
                </a:solidFill>
                <a:latin typeface="Microsoft YaHei" pitchFamily="34" charset="0"/>
                <a:ea typeface="Microsoft YaHei" pitchFamily="34" charset="-122"/>
                <a:cs typeface="Microsoft YaHei" pitchFamily="34" charset="-120"/>
              </a:rPr>
              <a:t>核心用例</a:t>
            </a:r>
            <a:endParaRPr lang="en-US" sz="1500" dirty="0"/>
          </a:p>
        </p:txBody>
      </p:sp>
      <p:sp>
        <p:nvSpPr>
          <p:cNvPr id="14" name="Text 12"/>
          <p:cNvSpPr/>
          <p:nvPr/>
        </p:nvSpPr>
        <p:spPr>
          <a:xfrm>
            <a:off x="822960" y="228600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用户登录与角色鉴权（管理员 / 试验员）</a:t>
            </a:r>
            <a:endParaRPr lang="en-US" sz="1100" dirty="0"/>
          </a:p>
        </p:txBody>
      </p:sp>
      <p:sp>
        <p:nvSpPr>
          <p:cNvPr id="15" name="Text 13"/>
          <p:cNvSpPr/>
          <p:nvPr/>
        </p:nvSpPr>
        <p:spPr>
          <a:xfrm>
            <a:off x="822960" y="2578608"/>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新建不燃性试验（样品 + 参数配置）</a:t>
            </a:r>
            <a:endParaRPr lang="en-US" sz="1100" dirty="0"/>
          </a:p>
        </p:txBody>
      </p:sp>
      <p:sp>
        <p:nvSpPr>
          <p:cNvPr id="16" name="Text 14"/>
          <p:cNvSpPr/>
          <p:nvPr/>
        </p:nvSpPr>
        <p:spPr>
          <a:xfrm>
            <a:off x="822960" y="2871216"/>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实时温度监控与数据记录</a:t>
            </a:r>
            <a:endParaRPr lang="en-US" sz="1100" dirty="0"/>
          </a:p>
        </p:txBody>
      </p:sp>
      <p:sp>
        <p:nvSpPr>
          <p:cNvPr id="17" name="Text 15"/>
          <p:cNvSpPr/>
          <p:nvPr/>
        </p:nvSpPr>
        <p:spPr>
          <a:xfrm>
            <a:off x="822960" y="3163824"/>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试验数据统计分析（温升 / 失重率 / 判定）</a:t>
            </a:r>
            <a:endParaRPr lang="en-US" sz="1100" dirty="0"/>
          </a:p>
        </p:txBody>
      </p:sp>
      <p:sp>
        <p:nvSpPr>
          <p:cNvPr id="18" name="Text 16"/>
          <p:cNvSpPr/>
          <p:nvPr/>
        </p:nvSpPr>
        <p:spPr>
          <a:xfrm>
            <a:off x="822960" y="3456432"/>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标准格式报告导出（CSV / Excel / PDF）</a:t>
            </a:r>
            <a:endParaRPr lang="en-US" sz="1100" dirty="0"/>
          </a:p>
        </p:txBody>
      </p:sp>
      <p:sp>
        <p:nvSpPr>
          <p:cNvPr id="19" name="Text 17"/>
          <p:cNvSpPr/>
          <p:nvPr/>
        </p:nvSpPr>
        <p:spPr>
          <a:xfrm>
            <a:off x="822960" y="3749040"/>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历史试验记录查询与回溯</a:t>
            </a:r>
            <a:endParaRPr lang="en-US" sz="1100" dirty="0"/>
          </a:p>
        </p:txBody>
      </p:sp>
      <p:sp>
        <p:nvSpPr>
          <p:cNvPr id="20" name="Text 18"/>
          <p:cNvSpPr/>
          <p:nvPr/>
        </p:nvSpPr>
        <p:spPr>
          <a:xfrm>
            <a:off x="822960" y="4041648"/>
            <a:ext cx="475488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设备校准与数据管理</a:t>
            </a:r>
            <a:endParaRPr lang="en-US" sz="1100" dirty="0"/>
          </a:p>
        </p:txBody>
      </p:sp>
      <p:sp>
        <p:nvSpPr>
          <p:cNvPr id="21" name="Shape 19"/>
          <p:cNvSpPr/>
          <p:nvPr/>
        </p:nvSpPr>
        <p:spPr>
          <a:xfrm>
            <a:off x="6217920" y="1554480"/>
            <a:ext cx="5394960" cy="27432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2" name="Shape 20"/>
          <p:cNvSpPr/>
          <p:nvPr/>
        </p:nvSpPr>
        <p:spPr>
          <a:xfrm>
            <a:off x="6217920" y="1554480"/>
            <a:ext cx="5394960" cy="54864"/>
          </a:xfrm>
          <a:prstGeom prst="rect">
            <a:avLst/>
          </a:prstGeom>
          <a:solidFill>
            <a:srgbClr val="E67E22"/>
          </a:solidFill>
          <a:ln/>
        </p:spPr>
        <p:txBody>
          <a:bodyPr/>
          <a:lstStyle/>
          <a:p>
            <a:endParaRPr lang="zh-CN" altLang="en-US"/>
          </a:p>
        </p:txBody>
      </p:sp>
      <p:sp>
        <p:nvSpPr>
          <p:cNvPr id="23" name="Text 21"/>
          <p:cNvSpPr/>
          <p:nvPr/>
        </p:nvSpPr>
        <p:spPr>
          <a:xfrm>
            <a:off x="6492240" y="1783080"/>
            <a:ext cx="4846320" cy="365760"/>
          </a:xfrm>
          <a:prstGeom prst="rect">
            <a:avLst/>
          </a:prstGeom>
          <a:noFill/>
          <a:ln/>
        </p:spPr>
        <p:txBody>
          <a:bodyPr wrap="square" rtlCol="0" anchor="ctr"/>
          <a:lstStyle/>
          <a:p>
            <a:pPr marL="0" indent="0">
              <a:buNone/>
            </a:pPr>
            <a:r>
              <a:rPr lang="en-US" sz="1500" b="1" dirty="0">
                <a:solidFill>
                  <a:srgbClr val="2C1810"/>
                </a:solidFill>
                <a:latin typeface="Microsoft YaHei" pitchFamily="34" charset="0"/>
                <a:ea typeface="Microsoft YaHei" pitchFamily="34" charset="-122"/>
                <a:cs typeface="Microsoft YaHei" pitchFamily="34" charset="-120"/>
              </a:rPr>
              <a:t>业务流程（8 步）</a:t>
            </a:r>
            <a:endParaRPr lang="en-US" sz="1500" dirty="0"/>
          </a:p>
        </p:txBody>
      </p:sp>
      <p:sp>
        <p:nvSpPr>
          <p:cNvPr id="24" name="Shape 22"/>
          <p:cNvSpPr/>
          <p:nvPr/>
        </p:nvSpPr>
        <p:spPr>
          <a:xfrm>
            <a:off x="6583680" y="2404872"/>
            <a:ext cx="228600" cy="228600"/>
          </a:xfrm>
          <a:prstGeom prst="ellipse">
            <a:avLst/>
          </a:prstGeom>
          <a:solidFill>
            <a:srgbClr val="E67E22"/>
          </a:solidFill>
          <a:ln/>
        </p:spPr>
        <p:txBody>
          <a:bodyPr/>
          <a:lstStyle/>
          <a:p>
            <a:endParaRPr lang="zh-CN" altLang="en-US"/>
          </a:p>
        </p:txBody>
      </p:sp>
      <p:sp>
        <p:nvSpPr>
          <p:cNvPr id="25" name="Text 23"/>
          <p:cNvSpPr/>
          <p:nvPr/>
        </p:nvSpPr>
        <p:spPr>
          <a:xfrm>
            <a:off x="6583680" y="2404872"/>
            <a:ext cx="228600" cy="228600"/>
          </a:xfrm>
          <a:prstGeom prst="rect">
            <a:avLst/>
          </a:prstGeom>
          <a:noFill/>
          <a:ln/>
        </p:spPr>
        <p:txBody>
          <a:bodyPr wrap="square" rtlCol="0" anchor="ctr"/>
          <a:lstStyle/>
          <a:p>
            <a:pPr marL="0" indent="0" algn="ctr">
              <a:buNone/>
            </a:pPr>
            <a:r>
              <a:rPr lang="en-US" sz="800" b="1" dirty="0">
                <a:solidFill>
                  <a:srgbClr val="FAFAF7"/>
                </a:solidFill>
                <a:latin typeface="Impact" pitchFamily="34" charset="0"/>
                <a:ea typeface="Impact" pitchFamily="34" charset="-122"/>
                <a:cs typeface="Impact" pitchFamily="34" charset="-120"/>
              </a:rPr>
              <a:t>1</a:t>
            </a:r>
            <a:endParaRPr lang="en-US" sz="800" dirty="0"/>
          </a:p>
        </p:txBody>
      </p:sp>
      <p:sp>
        <p:nvSpPr>
          <p:cNvPr id="26" name="Text 24"/>
          <p:cNvSpPr/>
          <p:nvPr/>
        </p:nvSpPr>
        <p:spPr>
          <a:xfrm>
            <a:off x="6949440" y="2331720"/>
            <a:ext cx="4389120" cy="36576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1.登录系统 → 2. 新建试验 → 3. 升温至 750°C</a:t>
            </a:r>
            <a:endParaRPr lang="en-US" sz="1100" dirty="0"/>
          </a:p>
        </p:txBody>
      </p:sp>
      <p:sp>
        <p:nvSpPr>
          <p:cNvPr id="27" name="Shape 25"/>
          <p:cNvSpPr/>
          <p:nvPr/>
        </p:nvSpPr>
        <p:spPr>
          <a:xfrm>
            <a:off x="6583680" y="2907792"/>
            <a:ext cx="228600" cy="228600"/>
          </a:xfrm>
          <a:prstGeom prst="ellipse">
            <a:avLst/>
          </a:prstGeom>
          <a:solidFill>
            <a:srgbClr val="E67E22"/>
          </a:solidFill>
          <a:ln/>
        </p:spPr>
        <p:txBody>
          <a:bodyPr/>
          <a:lstStyle/>
          <a:p>
            <a:endParaRPr lang="zh-CN" altLang="en-US"/>
          </a:p>
        </p:txBody>
      </p:sp>
      <p:sp>
        <p:nvSpPr>
          <p:cNvPr id="28" name="Text 26"/>
          <p:cNvSpPr/>
          <p:nvPr/>
        </p:nvSpPr>
        <p:spPr>
          <a:xfrm>
            <a:off x="6583680" y="2907792"/>
            <a:ext cx="228600" cy="228600"/>
          </a:xfrm>
          <a:prstGeom prst="rect">
            <a:avLst/>
          </a:prstGeom>
          <a:noFill/>
          <a:ln/>
        </p:spPr>
        <p:txBody>
          <a:bodyPr wrap="square" rtlCol="0" anchor="ctr"/>
          <a:lstStyle/>
          <a:p>
            <a:pPr marL="0" indent="0" algn="ctr">
              <a:buNone/>
            </a:pPr>
            <a:r>
              <a:rPr lang="en-US" sz="800" b="1" dirty="0">
                <a:solidFill>
                  <a:srgbClr val="FAFAF7"/>
                </a:solidFill>
                <a:latin typeface="Impact" pitchFamily="34" charset="0"/>
                <a:ea typeface="Impact" pitchFamily="34" charset="-122"/>
                <a:cs typeface="Impact" pitchFamily="34" charset="-120"/>
              </a:rPr>
              <a:t>3</a:t>
            </a:r>
            <a:endParaRPr lang="en-US" sz="800" dirty="0"/>
          </a:p>
        </p:txBody>
      </p:sp>
      <p:sp>
        <p:nvSpPr>
          <p:cNvPr id="29" name="Text 27"/>
          <p:cNvSpPr/>
          <p:nvPr/>
        </p:nvSpPr>
        <p:spPr>
          <a:xfrm>
            <a:off x="6949440" y="2834640"/>
            <a:ext cx="4389120" cy="36576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4. 温度稳定判定 → 5. 开始记录数据</a:t>
            </a:r>
            <a:endParaRPr lang="en-US" sz="1100" dirty="0"/>
          </a:p>
        </p:txBody>
      </p:sp>
      <p:sp>
        <p:nvSpPr>
          <p:cNvPr id="30" name="Shape 28"/>
          <p:cNvSpPr/>
          <p:nvPr/>
        </p:nvSpPr>
        <p:spPr>
          <a:xfrm>
            <a:off x="6583680" y="3410712"/>
            <a:ext cx="228600" cy="228600"/>
          </a:xfrm>
          <a:prstGeom prst="ellipse">
            <a:avLst/>
          </a:prstGeom>
          <a:solidFill>
            <a:srgbClr val="E67E22"/>
          </a:solidFill>
          <a:ln/>
        </p:spPr>
        <p:txBody>
          <a:bodyPr/>
          <a:lstStyle/>
          <a:p>
            <a:endParaRPr lang="zh-CN" altLang="en-US"/>
          </a:p>
        </p:txBody>
      </p:sp>
      <p:sp>
        <p:nvSpPr>
          <p:cNvPr id="31" name="Text 29"/>
          <p:cNvSpPr/>
          <p:nvPr/>
        </p:nvSpPr>
        <p:spPr>
          <a:xfrm>
            <a:off x="6583680" y="3410712"/>
            <a:ext cx="228600" cy="228600"/>
          </a:xfrm>
          <a:prstGeom prst="rect">
            <a:avLst/>
          </a:prstGeom>
          <a:noFill/>
          <a:ln/>
        </p:spPr>
        <p:txBody>
          <a:bodyPr wrap="square" rtlCol="0" anchor="ctr"/>
          <a:lstStyle/>
          <a:p>
            <a:pPr marL="0" indent="0" algn="ctr">
              <a:buNone/>
            </a:pPr>
            <a:r>
              <a:rPr lang="en-US" sz="800" b="1" dirty="0">
                <a:solidFill>
                  <a:srgbClr val="FAFAF7"/>
                </a:solidFill>
                <a:latin typeface="Impact" pitchFamily="34" charset="0"/>
                <a:ea typeface="Impact" pitchFamily="34" charset="-122"/>
                <a:cs typeface="Impact" pitchFamily="34" charset="-120"/>
              </a:rPr>
              <a:t>5</a:t>
            </a:r>
            <a:endParaRPr lang="en-US" sz="800" dirty="0"/>
          </a:p>
        </p:txBody>
      </p:sp>
      <p:sp>
        <p:nvSpPr>
          <p:cNvPr id="32" name="Text 30"/>
          <p:cNvSpPr/>
          <p:nvPr/>
        </p:nvSpPr>
        <p:spPr>
          <a:xfrm>
            <a:off x="6949440" y="3337560"/>
            <a:ext cx="4389120" cy="36576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6. 达到终止条件 → 7. 记录试验现象</a:t>
            </a:r>
            <a:endParaRPr lang="en-US" sz="1100" dirty="0"/>
          </a:p>
        </p:txBody>
      </p:sp>
      <p:sp>
        <p:nvSpPr>
          <p:cNvPr id="33" name="Shape 31"/>
          <p:cNvSpPr/>
          <p:nvPr/>
        </p:nvSpPr>
        <p:spPr>
          <a:xfrm>
            <a:off x="6583680" y="3913632"/>
            <a:ext cx="228600" cy="228600"/>
          </a:xfrm>
          <a:prstGeom prst="ellipse">
            <a:avLst/>
          </a:prstGeom>
          <a:solidFill>
            <a:srgbClr val="E67E22"/>
          </a:solidFill>
          <a:ln/>
        </p:spPr>
        <p:txBody>
          <a:bodyPr/>
          <a:lstStyle/>
          <a:p>
            <a:endParaRPr lang="zh-CN" altLang="en-US"/>
          </a:p>
        </p:txBody>
      </p:sp>
      <p:sp>
        <p:nvSpPr>
          <p:cNvPr id="34" name="Text 32"/>
          <p:cNvSpPr/>
          <p:nvPr/>
        </p:nvSpPr>
        <p:spPr>
          <a:xfrm>
            <a:off x="6583680" y="3913632"/>
            <a:ext cx="228600" cy="228600"/>
          </a:xfrm>
          <a:prstGeom prst="rect">
            <a:avLst/>
          </a:prstGeom>
          <a:noFill/>
          <a:ln/>
        </p:spPr>
        <p:txBody>
          <a:bodyPr wrap="square" rtlCol="0" anchor="ctr"/>
          <a:lstStyle/>
          <a:p>
            <a:pPr marL="0" indent="0" algn="ctr">
              <a:buNone/>
            </a:pPr>
            <a:r>
              <a:rPr lang="en-US" sz="800" b="1" dirty="0">
                <a:solidFill>
                  <a:srgbClr val="FAFAF7"/>
                </a:solidFill>
                <a:latin typeface="Impact" pitchFamily="34" charset="0"/>
                <a:ea typeface="Impact" pitchFamily="34" charset="-122"/>
                <a:cs typeface="Impact" pitchFamily="34" charset="-120"/>
              </a:rPr>
              <a:t>7</a:t>
            </a:r>
            <a:endParaRPr lang="en-US" sz="800" dirty="0"/>
          </a:p>
        </p:txBody>
      </p:sp>
      <p:sp>
        <p:nvSpPr>
          <p:cNvPr id="35" name="Text 33"/>
          <p:cNvSpPr/>
          <p:nvPr/>
        </p:nvSpPr>
        <p:spPr>
          <a:xfrm>
            <a:off x="6949440" y="3840480"/>
            <a:ext cx="4389120" cy="36576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8. 保存结果 + 生成报告</a:t>
            </a:r>
            <a:endParaRPr lang="en-US" sz="1100" dirty="0"/>
          </a:p>
        </p:txBody>
      </p:sp>
      <p:pic>
        <p:nvPicPr>
          <p:cNvPr id="49" name="图形 48">
            <a:extLst>
              <a:ext uri="{FF2B5EF4-FFF2-40B4-BE49-F238E27FC236}">
                <a16:creationId xmlns:a16="http://schemas.microsoft.com/office/drawing/2014/main" id="{E39BA424-A3B1-D86B-4C91-8BC95C208B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80" y="4471416"/>
            <a:ext cx="6477000" cy="2162175"/>
          </a:xfrm>
          <a:prstGeom prst="rect">
            <a:avLst/>
          </a:prstGeom>
        </p:spPr>
      </p:pic>
      <p:pic>
        <p:nvPicPr>
          <p:cNvPr id="51" name="图形 50">
            <a:extLst>
              <a:ext uri="{FF2B5EF4-FFF2-40B4-BE49-F238E27FC236}">
                <a16:creationId xmlns:a16="http://schemas.microsoft.com/office/drawing/2014/main" id="{9FB9A6FB-C08A-1629-F47C-F5F4C89D0E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76900" y="4398645"/>
            <a:ext cx="6477000" cy="21621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03</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软件概要设计</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ARCHITECTURE OVERVIEW</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13</a:t>
            </a:r>
            <a:endParaRPr lang="en-US" sz="1000" dirty="0"/>
          </a:p>
        </p:txBody>
      </p:sp>
      <p:sp>
        <p:nvSpPr>
          <p:cNvPr id="11" name="Shape 9"/>
          <p:cNvSpPr/>
          <p:nvPr/>
        </p:nvSpPr>
        <p:spPr>
          <a:xfrm>
            <a:off x="731520" y="1920240"/>
            <a:ext cx="5029200" cy="1371600"/>
          </a:xfrm>
          <a:prstGeom prst="rect">
            <a:avLst/>
          </a:prstGeom>
          <a:solidFill>
            <a:srgbClr val="C0392B">
              <a:alpha val="85000"/>
            </a:srgbClr>
          </a:solidFill>
          <a:ln w="19050">
            <a:solidFill>
              <a:srgbClr val="C0392B"/>
            </a:solidFill>
            <a:prstDash val="solid"/>
          </a:ln>
        </p:spPr>
        <p:txBody>
          <a:bodyPr/>
          <a:lstStyle/>
          <a:p>
            <a:endParaRPr lang="zh-CN" altLang="en-US"/>
          </a:p>
        </p:txBody>
      </p:sp>
      <p:sp>
        <p:nvSpPr>
          <p:cNvPr id="12" name="Text 10"/>
          <p:cNvSpPr/>
          <p:nvPr/>
        </p:nvSpPr>
        <p:spPr>
          <a:xfrm>
            <a:off x="1005840" y="2011680"/>
            <a:ext cx="4572000" cy="365760"/>
          </a:xfrm>
          <a:prstGeom prst="rect">
            <a:avLst/>
          </a:prstGeom>
          <a:noFill/>
          <a:ln/>
        </p:spPr>
        <p:txBody>
          <a:bodyPr wrap="square" rtlCol="0" anchor="ctr"/>
          <a:lstStyle/>
          <a:p>
            <a:pPr marL="0" indent="0">
              <a:buNone/>
            </a:pPr>
            <a:r>
              <a:rPr lang="en-US" sz="1400" b="1" dirty="0">
                <a:solidFill>
                  <a:srgbClr val="C0392B"/>
                </a:solidFill>
                <a:latin typeface="Consolas" pitchFamily="34" charset="0"/>
                <a:ea typeface="Consolas" pitchFamily="34" charset="-122"/>
                <a:cs typeface="Consolas" pitchFamily="34" charset="-120"/>
              </a:rPr>
              <a:t>ISO11820.Forms</a:t>
            </a:r>
            <a:endParaRPr lang="en-US" sz="1400" dirty="0"/>
          </a:p>
        </p:txBody>
      </p:sp>
      <p:sp>
        <p:nvSpPr>
          <p:cNvPr id="13" name="Text 11"/>
          <p:cNvSpPr/>
          <p:nvPr/>
        </p:nvSpPr>
        <p:spPr>
          <a:xfrm>
            <a:off x="1005840" y="2377440"/>
            <a:ext cx="4572000" cy="822960"/>
          </a:xfrm>
          <a:prstGeom prst="rect">
            <a:avLst/>
          </a:prstGeom>
          <a:noFill/>
          <a:ln/>
        </p:spPr>
        <p:txBody>
          <a:bodyPr wrap="square" rtlCol="0" anchor="ctr"/>
          <a:lstStyle/>
          <a:p>
            <a:pPr marL="0" indent="0">
              <a:lnSpc>
                <a:spcPts val="1400"/>
              </a:lnSpc>
              <a:buNone/>
            </a:pPr>
            <a:r>
              <a:rPr lang="en-US" sz="1000" dirty="0">
                <a:solidFill>
                  <a:srgbClr val="5D4E44"/>
                </a:solidFill>
                <a:latin typeface="Calibri" pitchFamily="34" charset="0"/>
                <a:ea typeface="Calibri" pitchFamily="34" charset="-122"/>
                <a:cs typeface="Calibri" pitchFamily="34" charset="-120"/>
              </a:rPr>
              <a:t>WinForms UI</a:t>
            </a:r>
            <a:endParaRPr lang="en-US" sz="1000" dirty="0"/>
          </a:p>
          <a:p>
            <a:pPr marL="0" indent="0">
              <a:lnSpc>
                <a:spcPts val="1400"/>
              </a:lnSpc>
              <a:buNone/>
            </a:pPr>
            <a:r>
              <a:rPr lang="en-US" sz="1000" dirty="0">
                <a:solidFill>
                  <a:srgbClr val="5D4E44"/>
                </a:solidFill>
                <a:latin typeface="Calibri" pitchFamily="34" charset="0"/>
                <a:ea typeface="Calibri" pitchFamily="34" charset="-122"/>
                <a:cs typeface="Calibri" pitchFamily="34" charset="-120"/>
              </a:rPr>
              <a:t>LoginForm, MainForm, Dialogs</a:t>
            </a:r>
            <a:endParaRPr lang="en-US" sz="1000" dirty="0"/>
          </a:p>
        </p:txBody>
      </p:sp>
      <p:sp>
        <p:nvSpPr>
          <p:cNvPr id="14" name="Shape 12"/>
          <p:cNvSpPr/>
          <p:nvPr/>
        </p:nvSpPr>
        <p:spPr>
          <a:xfrm>
            <a:off x="731520" y="3474720"/>
            <a:ext cx="5029200" cy="914400"/>
          </a:xfrm>
          <a:prstGeom prst="rect">
            <a:avLst/>
          </a:prstGeom>
          <a:solidFill>
            <a:srgbClr val="D35400">
              <a:alpha val="85000"/>
            </a:srgbClr>
          </a:solidFill>
          <a:ln w="19050">
            <a:solidFill>
              <a:srgbClr val="D35400"/>
            </a:solidFill>
            <a:prstDash val="solid"/>
          </a:ln>
        </p:spPr>
        <p:txBody>
          <a:bodyPr/>
          <a:lstStyle/>
          <a:p>
            <a:endParaRPr lang="zh-CN" altLang="en-US"/>
          </a:p>
        </p:txBody>
      </p:sp>
      <p:sp>
        <p:nvSpPr>
          <p:cNvPr id="15" name="Text 13"/>
          <p:cNvSpPr/>
          <p:nvPr/>
        </p:nvSpPr>
        <p:spPr>
          <a:xfrm>
            <a:off x="1005840" y="3566160"/>
            <a:ext cx="4572000" cy="365760"/>
          </a:xfrm>
          <a:prstGeom prst="rect">
            <a:avLst/>
          </a:prstGeom>
          <a:noFill/>
          <a:ln/>
        </p:spPr>
        <p:txBody>
          <a:bodyPr wrap="square" rtlCol="0" anchor="ctr"/>
          <a:lstStyle/>
          <a:p>
            <a:pPr marL="0" indent="0">
              <a:buNone/>
            </a:pPr>
            <a:r>
              <a:rPr lang="en-US" sz="1400" b="1" dirty="0">
                <a:solidFill>
                  <a:srgbClr val="D35400"/>
                </a:solidFill>
                <a:latin typeface="Consolas" pitchFamily="34" charset="0"/>
                <a:ea typeface="Consolas" pitchFamily="34" charset="-122"/>
                <a:cs typeface="Consolas" pitchFamily="34" charset="-120"/>
              </a:rPr>
              <a:t>ISO11820.Core</a:t>
            </a:r>
            <a:endParaRPr lang="en-US" sz="1400" dirty="0"/>
          </a:p>
        </p:txBody>
      </p:sp>
      <p:sp>
        <p:nvSpPr>
          <p:cNvPr id="16" name="Text 14"/>
          <p:cNvSpPr/>
          <p:nvPr/>
        </p:nvSpPr>
        <p:spPr>
          <a:xfrm>
            <a:off x="1005840" y="3931920"/>
            <a:ext cx="4572000" cy="365760"/>
          </a:xfrm>
          <a:prstGeom prst="rect">
            <a:avLst/>
          </a:prstGeom>
          <a:noFill/>
          <a:ln/>
        </p:spPr>
        <p:txBody>
          <a:bodyPr wrap="square" rtlCol="0" anchor="ctr"/>
          <a:lstStyle/>
          <a:p>
            <a:pPr marL="0" indent="0">
              <a:lnSpc>
                <a:spcPts val="1400"/>
              </a:lnSpc>
              <a:buNone/>
            </a:pPr>
            <a:r>
              <a:rPr lang="en-US" sz="1000" dirty="0">
                <a:solidFill>
                  <a:srgbClr val="5D4E44"/>
                </a:solidFill>
                <a:latin typeface="Calibri" pitchFamily="34" charset="0"/>
                <a:ea typeface="Calibri" pitchFamily="34" charset="-122"/>
                <a:cs typeface="Calibri" pitchFamily="34" charset="-120"/>
              </a:rPr>
              <a:t>TestController 状态机</a:t>
            </a:r>
            <a:endParaRPr lang="en-US" sz="1000" dirty="0"/>
          </a:p>
          <a:p>
            <a:pPr marL="0" indent="0">
              <a:lnSpc>
                <a:spcPts val="1400"/>
              </a:lnSpc>
              <a:buNone/>
            </a:pPr>
            <a:r>
              <a:rPr lang="en-US" sz="1000" dirty="0">
                <a:solidFill>
                  <a:srgbClr val="5D4E44"/>
                </a:solidFill>
                <a:latin typeface="Calibri" pitchFamily="34" charset="0"/>
                <a:ea typeface="Calibri" pitchFamily="34" charset="-122"/>
                <a:cs typeface="Calibri" pitchFamily="34" charset="-120"/>
              </a:rPr>
              <a:t>AppGlobal 单例</a:t>
            </a:r>
            <a:endParaRPr lang="en-US" sz="1000" dirty="0"/>
          </a:p>
          <a:p>
            <a:pPr marL="0" indent="0">
              <a:lnSpc>
                <a:spcPts val="1400"/>
              </a:lnSpc>
              <a:buNone/>
            </a:pPr>
            <a:r>
              <a:rPr lang="en-US" sz="1000" dirty="0">
                <a:solidFill>
                  <a:srgbClr val="5D4E44"/>
                </a:solidFill>
                <a:latin typeface="Calibri" pitchFamily="34" charset="0"/>
                <a:ea typeface="Calibri" pitchFamily="34" charset="-122"/>
                <a:cs typeface="Calibri" pitchFamily="34" charset="-120"/>
              </a:rPr>
              <a:t>数据广播事件</a:t>
            </a:r>
            <a:endParaRPr lang="en-US" sz="1000" dirty="0"/>
          </a:p>
        </p:txBody>
      </p:sp>
      <p:sp>
        <p:nvSpPr>
          <p:cNvPr id="17" name="Shape 15"/>
          <p:cNvSpPr/>
          <p:nvPr/>
        </p:nvSpPr>
        <p:spPr>
          <a:xfrm>
            <a:off x="731520" y="4572000"/>
            <a:ext cx="5029200" cy="731520"/>
          </a:xfrm>
          <a:prstGeom prst="rect">
            <a:avLst/>
          </a:prstGeom>
          <a:solidFill>
            <a:srgbClr val="E67E22">
              <a:alpha val="85000"/>
            </a:srgbClr>
          </a:solidFill>
          <a:ln w="19050">
            <a:solidFill>
              <a:srgbClr val="E67E22"/>
            </a:solidFill>
            <a:prstDash val="solid"/>
          </a:ln>
        </p:spPr>
        <p:txBody>
          <a:bodyPr/>
          <a:lstStyle/>
          <a:p>
            <a:endParaRPr lang="zh-CN" altLang="en-US"/>
          </a:p>
        </p:txBody>
      </p:sp>
      <p:sp>
        <p:nvSpPr>
          <p:cNvPr id="18" name="Text 16"/>
          <p:cNvSpPr/>
          <p:nvPr/>
        </p:nvSpPr>
        <p:spPr>
          <a:xfrm>
            <a:off x="1005840" y="4663440"/>
            <a:ext cx="4572000" cy="365760"/>
          </a:xfrm>
          <a:prstGeom prst="rect">
            <a:avLst/>
          </a:prstGeom>
          <a:noFill/>
          <a:ln/>
        </p:spPr>
        <p:txBody>
          <a:bodyPr wrap="square" rtlCol="0" anchor="ctr"/>
          <a:lstStyle/>
          <a:p>
            <a:pPr marL="0" indent="0">
              <a:buNone/>
            </a:pPr>
            <a:r>
              <a:rPr lang="en-US" sz="1400" b="1" dirty="0">
                <a:solidFill>
                  <a:srgbClr val="E67E22"/>
                </a:solidFill>
                <a:latin typeface="Consolas" pitchFamily="34" charset="0"/>
                <a:ea typeface="Consolas" pitchFamily="34" charset="-122"/>
                <a:cs typeface="Consolas" pitchFamily="34" charset="-120"/>
              </a:rPr>
              <a:t>ISO11820.Data</a:t>
            </a:r>
            <a:endParaRPr lang="en-US" sz="1400" dirty="0"/>
          </a:p>
        </p:txBody>
      </p:sp>
      <p:sp>
        <p:nvSpPr>
          <p:cNvPr id="19" name="Text 17"/>
          <p:cNvSpPr/>
          <p:nvPr/>
        </p:nvSpPr>
        <p:spPr>
          <a:xfrm>
            <a:off x="1005840" y="5029200"/>
            <a:ext cx="4572000" cy="182880"/>
          </a:xfrm>
          <a:prstGeom prst="rect">
            <a:avLst/>
          </a:prstGeom>
          <a:noFill/>
          <a:ln/>
        </p:spPr>
        <p:txBody>
          <a:bodyPr wrap="square" rtlCol="0" anchor="ctr"/>
          <a:lstStyle/>
          <a:p>
            <a:pPr marL="0" indent="0">
              <a:lnSpc>
                <a:spcPts val="1400"/>
              </a:lnSpc>
              <a:buNone/>
            </a:pPr>
            <a:r>
              <a:rPr lang="en-US" sz="1000" dirty="0">
                <a:solidFill>
                  <a:srgbClr val="5D4E44"/>
                </a:solidFill>
                <a:latin typeface="Calibri" pitchFamily="34" charset="0"/>
                <a:ea typeface="Calibri" pitchFamily="34" charset="-122"/>
                <a:cs typeface="Calibri" pitchFamily="34" charset="-120"/>
              </a:rPr>
              <a:t>DbHelper 数据库操作</a:t>
            </a:r>
            <a:endParaRPr lang="en-US" sz="1000" dirty="0"/>
          </a:p>
          <a:p>
            <a:pPr marL="0" indent="0">
              <a:lnSpc>
                <a:spcPts val="1400"/>
              </a:lnSpc>
              <a:buNone/>
            </a:pPr>
            <a:r>
              <a:rPr lang="en-US" sz="1000" dirty="0">
                <a:solidFill>
                  <a:srgbClr val="5D4E44"/>
                </a:solidFill>
                <a:latin typeface="Calibri" pitchFamily="34" charset="0"/>
                <a:ea typeface="Calibri" pitchFamily="34" charset="-122"/>
                <a:cs typeface="Calibri" pitchFamily="34" charset="-120"/>
              </a:rPr>
              <a:t>SQLite CRUD</a:t>
            </a:r>
            <a:endParaRPr lang="en-US" sz="1000" dirty="0"/>
          </a:p>
        </p:txBody>
      </p:sp>
      <p:sp>
        <p:nvSpPr>
          <p:cNvPr id="20" name="Shape 18"/>
          <p:cNvSpPr/>
          <p:nvPr/>
        </p:nvSpPr>
        <p:spPr>
          <a:xfrm>
            <a:off x="731520" y="5486400"/>
            <a:ext cx="5029200" cy="731520"/>
          </a:xfrm>
          <a:prstGeom prst="rect">
            <a:avLst/>
          </a:prstGeom>
          <a:solidFill>
            <a:srgbClr val="F39C12">
              <a:alpha val="85000"/>
            </a:srgbClr>
          </a:solidFill>
          <a:ln w="19050">
            <a:solidFill>
              <a:srgbClr val="F39C12"/>
            </a:solidFill>
            <a:prstDash val="solid"/>
          </a:ln>
        </p:spPr>
        <p:txBody>
          <a:bodyPr/>
          <a:lstStyle/>
          <a:p>
            <a:endParaRPr lang="zh-CN" altLang="en-US"/>
          </a:p>
        </p:txBody>
      </p:sp>
      <p:sp>
        <p:nvSpPr>
          <p:cNvPr id="21" name="Text 19"/>
          <p:cNvSpPr/>
          <p:nvPr/>
        </p:nvSpPr>
        <p:spPr>
          <a:xfrm>
            <a:off x="1005840" y="5577840"/>
            <a:ext cx="4572000" cy="365760"/>
          </a:xfrm>
          <a:prstGeom prst="rect">
            <a:avLst/>
          </a:prstGeom>
          <a:noFill/>
          <a:ln/>
        </p:spPr>
        <p:txBody>
          <a:bodyPr wrap="square" rtlCol="0" anchor="ctr"/>
          <a:lstStyle/>
          <a:p>
            <a:pPr marL="0" indent="0">
              <a:buNone/>
            </a:pPr>
            <a:r>
              <a:rPr lang="en-US" sz="1400" b="1" dirty="0">
                <a:solidFill>
                  <a:srgbClr val="F39C12"/>
                </a:solidFill>
                <a:latin typeface="Consolas" pitchFamily="34" charset="0"/>
                <a:ea typeface="Consolas" pitchFamily="34" charset="-122"/>
                <a:cs typeface="Consolas" pitchFamily="34" charset="-120"/>
              </a:rPr>
              <a:t>ISO11820.Services</a:t>
            </a:r>
            <a:endParaRPr lang="en-US" sz="1400" dirty="0"/>
          </a:p>
        </p:txBody>
      </p:sp>
      <p:sp>
        <p:nvSpPr>
          <p:cNvPr id="22" name="Text 20"/>
          <p:cNvSpPr/>
          <p:nvPr/>
        </p:nvSpPr>
        <p:spPr>
          <a:xfrm>
            <a:off x="1005840" y="5943600"/>
            <a:ext cx="4572000" cy="182880"/>
          </a:xfrm>
          <a:prstGeom prst="rect">
            <a:avLst/>
          </a:prstGeom>
          <a:noFill/>
          <a:ln/>
        </p:spPr>
        <p:txBody>
          <a:bodyPr wrap="square" rtlCol="0" anchor="ctr"/>
          <a:lstStyle/>
          <a:p>
            <a:pPr marL="0" indent="0">
              <a:lnSpc>
                <a:spcPts val="1400"/>
              </a:lnSpc>
              <a:buNone/>
            </a:pPr>
            <a:r>
              <a:rPr lang="en-US" sz="1000" dirty="0">
                <a:solidFill>
                  <a:srgbClr val="5D4E44"/>
                </a:solidFill>
                <a:latin typeface="Calibri" pitchFamily="34" charset="0"/>
                <a:ea typeface="Calibri" pitchFamily="34" charset="-122"/>
                <a:cs typeface="Calibri" pitchFamily="34" charset="-120"/>
              </a:rPr>
              <a:t>CSV/Excel/PDF 导出</a:t>
            </a:r>
            <a:endParaRPr lang="en-US" sz="1000" dirty="0"/>
          </a:p>
          <a:p>
            <a:pPr marL="0" indent="0">
              <a:lnSpc>
                <a:spcPts val="1400"/>
              </a:lnSpc>
              <a:buNone/>
            </a:pPr>
            <a:r>
              <a:rPr lang="en-US" sz="1000" dirty="0">
                <a:solidFill>
                  <a:srgbClr val="5D4E44"/>
                </a:solidFill>
                <a:latin typeface="Calibri" pitchFamily="34" charset="0"/>
                <a:ea typeface="Calibri" pitchFamily="34" charset="-122"/>
                <a:cs typeface="Calibri" pitchFamily="34" charset="-120"/>
              </a:rPr>
              <a:t>DAQ Worker</a:t>
            </a:r>
            <a:endParaRPr lang="en-US" sz="1000" dirty="0"/>
          </a:p>
        </p:txBody>
      </p:sp>
      <p:sp>
        <p:nvSpPr>
          <p:cNvPr id="23" name="Text 21"/>
          <p:cNvSpPr/>
          <p:nvPr/>
        </p:nvSpPr>
        <p:spPr>
          <a:xfrm>
            <a:off x="731520" y="3291840"/>
            <a:ext cx="5029200" cy="228600"/>
          </a:xfrm>
          <a:prstGeom prst="rect">
            <a:avLst/>
          </a:prstGeom>
          <a:noFill/>
          <a:ln/>
        </p:spPr>
        <p:txBody>
          <a:bodyPr wrap="square" rtlCol="0" anchor="ctr"/>
          <a:lstStyle/>
          <a:p>
            <a:pPr marL="0" indent="0" algn="ctr">
              <a:buNone/>
            </a:pPr>
            <a:r>
              <a:rPr lang="en-US" sz="800" dirty="0">
                <a:solidFill>
                  <a:srgbClr val="A09088"/>
                </a:solidFill>
                <a:latin typeface="Calibri" pitchFamily="34" charset="0"/>
                <a:ea typeface="Calibri" pitchFamily="34" charset="-122"/>
                <a:cs typeface="Calibri" pitchFamily="34" charset="-120"/>
              </a:rPr>
              <a:t>▼  事件驱动  ▲</a:t>
            </a:r>
            <a:endParaRPr lang="en-US" sz="800" dirty="0"/>
          </a:p>
        </p:txBody>
      </p:sp>
      <p:sp>
        <p:nvSpPr>
          <p:cNvPr id="24" name="Text 22"/>
          <p:cNvSpPr/>
          <p:nvPr/>
        </p:nvSpPr>
        <p:spPr>
          <a:xfrm>
            <a:off x="731520" y="4389120"/>
            <a:ext cx="5029200" cy="228600"/>
          </a:xfrm>
          <a:prstGeom prst="rect">
            <a:avLst/>
          </a:prstGeom>
          <a:noFill/>
          <a:ln/>
        </p:spPr>
        <p:txBody>
          <a:bodyPr wrap="square" rtlCol="0" anchor="ctr"/>
          <a:lstStyle/>
          <a:p>
            <a:pPr marL="0" indent="0" algn="ctr">
              <a:buNone/>
            </a:pPr>
            <a:r>
              <a:rPr lang="en-US" sz="800" dirty="0">
                <a:solidFill>
                  <a:srgbClr val="A09088"/>
                </a:solidFill>
                <a:latin typeface="Calibri" pitchFamily="34" charset="0"/>
                <a:ea typeface="Calibri" pitchFamily="34" charset="-122"/>
                <a:cs typeface="Calibri" pitchFamily="34" charset="-120"/>
              </a:rPr>
              <a:t>▼  事件驱动  ▲</a:t>
            </a:r>
            <a:endParaRPr lang="en-US" sz="800" dirty="0"/>
          </a:p>
        </p:txBody>
      </p:sp>
      <p:sp>
        <p:nvSpPr>
          <p:cNvPr id="25" name="Text 23"/>
          <p:cNvSpPr/>
          <p:nvPr/>
        </p:nvSpPr>
        <p:spPr>
          <a:xfrm>
            <a:off x="731520" y="5303520"/>
            <a:ext cx="5029200" cy="228600"/>
          </a:xfrm>
          <a:prstGeom prst="rect">
            <a:avLst/>
          </a:prstGeom>
          <a:noFill/>
          <a:ln/>
        </p:spPr>
        <p:txBody>
          <a:bodyPr wrap="square" rtlCol="0" anchor="ctr"/>
          <a:lstStyle/>
          <a:p>
            <a:pPr marL="0" indent="0" algn="ctr">
              <a:buNone/>
            </a:pPr>
            <a:r>
              <a:rPr lang="en-US" sz="800" dirty="0">
                <a:solidFill>
                  <a:srgbClr val="A09088"/>
                </a:solidFill>
                <a:latin typeface="Calibri" pitchFamily="34" charset="0"/>
                <a:ea typeface="Calibri" pitchFamily="34" charset="-122"/>
                <a:cs typeface="Calibri" pitchFamily="34" charset="-120"/>
              </a:rPr>
              <a:t>▼  事件驱动  ▲</a:t>
            </a:r>
            <a:endParaRPr lang="en-US" sz="800" dirty="0"/>
          </a:p>
        </p:txBody>
      </p:sp>
      <p:sp>
        <p:nvSpPr>
          <p:cNvPr id="26" name="Shape 24"/>
          <p:cNvSpPr/>
          <p:nvPr/>
        </p:nvSpPr>
        <p:spPr>
          <a:xfrm>
            <a:off x="6217920" y="1920240"/>
            <a:ext cx="5394960" cy="429768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7" name="Shape 25"/>
          <p:cNvSpPr/>
          <p:nvPr/>
        </p:nvSpPr>
        <p:spPr>
          <a:xfrm>
            <a:off x="6217920" y="1920240"/>
            <a:ext cx="5394960" cy="54864"/>
          </a:xfrm>
          <a:prstGeom prst="rect">
            <a:avLst/>
          </a:prstGeom>
          <a:solidFill>
            <a:srgbClr val="E67E22"/>
          </a:solidFill>
          <a:ln/>
        </p:spPr>
        <p:txBody>
          <a:bodyPr/>
          <a:lstStyle/>
          <a:p>
            <a:endParaRPr lang="zh-CN" altLang="en-US"/>
          </a:p>
        </p:txBody>
      </p:sp>
      <p:sp>
        <p:nvSpPr>
          <p:cNvPr id="28" name="Text 26"/>
          <p:cNvSpPr/>
          <p:nvPr/>
        </p:nvSpPr>
        <p:spPr>
          <a:xfrm>
            <a:off x="6492240" y="2148840"/>
            <a:ext cx="4846320" cy="365760"/>
          </a:xfrm>
          <a:prstGeom prst="rect">
            <a:avLst/>
          </a:prstGeom>
          <a:noFill/>
          <a:ln/>
        </p:spPr>
        <p:txBody>
          <a:bodyPr wrap="square" rtlCol="0" anchor="ctr"/>
          <a:lstStyle/>
          <a:p>
            <a:pPr marL="0" indent="0">
              <a:buNone/>
            </a:pPr>
            <a:r>
              <a:rPr lang="en-US" sz="1500" b="1" dirty="0">
                <a:solidFill>
                  <a:srgbClr val="2C1810"/>
                </a:solidFill>
                <a:latin typeface="Microsoft YaHei" pitchFamily="34" charset="0"/>
                <a:ea typeface="Microsoft YaHei" pitchFamily="34" charset="-122"/>
                <a:cs typeface="Microsoft YaHei" pitchFamily="34" charset="-120"/>
              </a:rPr>
              <a:t>关键设计要点</a:t>
            </a:r>
            <a:endParaRPr lang="en-US" sz="1500" dirty="0"/>
          </a:p>
        </p:txBody>
      </p:sp>
      <p:sp>
        <p:nvSpPr>
          <p:cNvPr id="29" name="Shape 27"/>
          <p:cNvSpPr/>
          <p:nvPr/>
        </p:nvSpPr>
        <p:spPr>
          <a:xfrm>
            <a:off x="6583680" y="2697480"/>
            <a:ext cx="54864" cy="502920"/>
          </a:xfrm>
          <a:prstGeom prst="rect">
            <a:avLst/>
          </a:prstGeom>
          <a:solidFill>
            <a:srgbClr val="E67E22"/>
          </a:solidFill>
          <a:ln/>
        </p:spPr>
        <p:txBody>
          <a:bodyPr/>
          <a:lstStyle/>
          <a:p>
            <a:endParaRPr lang="zh-CN" altLang="en-US"/>
          </a:p>
        </p:txBody>
      </p:sp>
      <p:sp>
        <p:nvSpPr>
          <p:cNvPr id="30" name="Text 28"/>
          <p:cNvSpPr/>
          <p:nvPr/>
        </p:nvSpPr>
        <p:spPr>
          <a:xfrm>
            <a:off x="6812280" y="2715768"/>
            <a:ext cx="4572000" cy="228600"/>
          </a:xfrm>
          <a:prstGeom prst="rect">
            <a:avLst/>
          </a:prstGeom>
          <a:noFill/>
          <a:ln/>
        </p:spPr>
        <p:txBody>
          <a:bodyPr wrap="square" rtlCol="0" anchor="ctr"/>
          <a:lstStyle/>
          <a:p>
            <a:pPr marL="0" indent="0">
              <a:buNone/>
            </a:pPr>
            <a:r>
              <a:rPr lang="en-US" sz="1300" b="1" dirty="0">
                <a:solidFill>
                  <a:srgbClr val="96281B"/>
                </a:solidFill>
                <a:latin typeface="Microsoft YaHei" pitchFamily="34" charset="0"/>
                <a:ea typeface="Microsoft YaHei" pitchFamily="34" charset="-122"/>
                <a:cs typeface="Microsoft YaHei" pitchFamily="34" charset="-120"/>
              </a:rPr>
              <a:t>分层原则</a:t>
            </a:r>
            <a:endParaRPr lang="en-US" sz="1300" dirty="0"/>
          </a:p>
        </p:txBody>
      </p:sp>
      <p:sp>
        <p:nvSpPr>
          <p:cNvPr id="31" name="Text 29"/>
          <p:cNvSpPr/>
          <p:nvPr/>
        </p:nvSpPr>
        <p:spPr>
          <a:xfrm>
            <a:off x="6812280" y="2953512"/>
            <a:ext cx="4572000" cy="274320"/>
          </a:xfrm>
          <a:prstGeom prst="rect">
            <a:avLst/>
          </a:prstGeom>
          <a:noFill/>
          <a:ln/>
        </p:spPr>
        <p:txBody>
          <a:bodyPr wrap="square" rtlCol="0" anchor="ctr"/>
          <a:lstStyle/>
          <a:p>
            <a:pPr marL="0" indent="0">
              <a:buNone/>
            </a:pPr>
            <a:r>
              <a:rPr lang="en-US" sz="1000" dirty="0">
                <a:solidFill>
                  <a:srgbClr val="5D4E44"/>
                </a:solidFill>
                <a:latin typeface="Calibri" pitchFamily="34" charset="0"/>
                <a:ea typeface="Calibri" pitchFamily="34" charset="-122"/>
                <a:cs typeface="Calibri" pitchFamily="34" charset="-120"/>
              </a:rPr>
              <a:t>上层依赖下层，下层通过事件向上通知</a:t>
            </a:r>
            <a:endParaRPr lang="en-US" sz="1000" dirty="0"/>
          </a:p>
          <a:p>
            <a:pPr marL="0" indent="0">
              <a:buNone/>
            </a:pPr>
            <a:r>
              <a:rPr lang="en-US" sz="1000" dirty="0">
                <a:solidFill>
                  <a:srgbClr val="5D4E44"/>
                </a:solidFill>
                <a:latin typeface="Calibri" pitchFamily="34" charset="0"/>
                <a:ea typeface="Calibri" pitchFamily="34" charset="-122"/>
                <a:cs typeface="Calibri" pitchFamily="34" charset="-120"/>
              </a:rPr>
              <a:t>严禁反向依赖</a:t>
            </a:r>
            <a:endParaRPr lang="en-US" sz="1000" dirty="0"/>
          </a:p>
        </p:txBody>
      </p:sp>
      <p:sp>
        <p:nvSpPr>
          <p:cNvPr id="32" name="Shape 30"/>
          <p:cNvSpPr/>
          <p:nvPr/>
        </p:nvSpPr>
        <p:spPr>
          <a:xfrm>
            <a:off x="6583680" y="3383280"/>
            <a:ext cx="54864" cy="502920"/>
          </a:xfrm>
          <a:prstGeom prst="rect">
            <a:avLst/>
          </a:prstGeom>
          <a:solidFill>
            <a:srgbClr val="E67E22"/>
          </a:solidFill>
          <a:ln/>
        </p:spPr>
        <p:txBody>
          <a:bodyPr/>
          <a:lstStyle/>
          <a:p>
            <a:endParaRPr lang="zh-CN" altLang="en-US"/>
          </a:p>
        </p:txBody>
      </p:sp>
      <p:sp>
        <p:nvSpPr>
          <p:cNvPr id="33" name="Text 31"/>
          <p:cNvSpPr/>
          <p:nvPr/>
        </p:nvSpPr>
        <p:spPr>
          <a:xfrm>
            <a:off x="6812280" y="3401568"/>
            <a:ext cx="4572000" cy="228600"/>
          </a:xfrm>
          <a:prstGeom prst="rect">
            <a:avLst/>
          </a:prstGeom>
          <a:noFill/>
          <a:ln/>
        </p:spPr>
        <p:txBody>
          <a:bodyPr wrap="square" rtlCol="0" anchor="ctr"/>
          <a:lstStyle/>
          <a:p>
            <a:pPr marL="0" indent="0">
              <a:buNone/>
            </a:pPr>
            <a:r>
              <a:rPr lang="en-US" sz="1300" b="1" dirty="0">
                <a:solidFill>
                  <a:srgbClr val="96281B"/>
                </a:solidFill>
                <a:latin typeface="Microsoft YaHei" pitchFamily="34" charset="0"/>
                <a:ea typeface="Microsoft YaHei" pitchFamily="34" charset="-122"/>
                <a:cs typeface="Microsoft YaHei" pitchFamily="34" charset="-120"/>
              </a:rPr>
              <a:t>线程安全</a:t>
            </a:r>
            <a:endParaRPr lang="en-US" sz="1300" dirty="0"/>
          </a:p>
        </p:txBody>
      </p:sp>
      <p:sp>
        <p:nvSpPr>
          <p:cNvPr id="34" name="Text 32"/>
          <p:cNvSpPr/>
          <p:nvPr/>
        </p:nvSpPr>
        <p:spPr>
          <a:xfrm>
            <a:off x="6812280" y="3639312"/>
            <a:ext cx="4572000" cy="274320"/>
          </a:xfrm>
          <a:prstGeom prst="rect">
            <a:avLst/>
          </a:prstGeom>
          <a:noFill/>
          <a:ln/>
        </p:spPr>
        <p:txBody>
          <a:bodyPr wrap="square" rtlCol="0" anchor="ctr"/>
          <a:lstStyle/>
          <a:p>
            <a:pPr marL="0" indent="0">
              <a:buNone/>
            </a:pPr>
            <a:r>
              <a:rPr lang="en-US" sz="1000" dirty="0">
                <a:solidFill>
                  <a:srgbClr val="5D4E44"/>
                </a:solidFill>
                <a:latin typeface="Calibri" pitchFamily="34" charset="0"/>
                <a:ea typeface="Calibri" pitchFamily="34" charset="-122"/>
                <a:cs typeface="Calibri" pitchFamily="34" charset="-120"/>
              </a:rPr>
              <a:t>DataBroadcast 事件在后台线程触发</a:t>
            </a:r>
            <a:endParaRPr lang="en-US" sz="1000" dirty="0"/>
          </a:p>
          <a:p>
            <a:pPr marL="0" indent="0">
              <a:buNone/>
            </a:pPr>
            <a:r>
              <a:rPr lang="en-US" sz="1000" dirty="0">
                <a:solidFill>
                  <a:srgbClr val="5D4E44"/>
                </a:solidFill>
                <a:latin typeface="Calibri" pitchFamily="34" charset="0"/>
                <a:ea typeface="Calibri" pitchFamily="34" charset="-122"/>
                <a:cs typeface="Calibri" pitchFamily="34" charset="-120"/>
              </a:rPr>
              <a:t>UI 层通过 Control.Invoke() 切回主线程</a:t>
            </a:r>
            <a:endParaRPr lang="en-US" sz="1000" dirty="0"/>
          </a:p>
        </p:txBody>
      </p:sp>
      <p:sp>
        <p:nvSpPr>
          <p:cNvPr id="35" name="Shape 33"/>
          <p:cNvSpPr/>
          <p:nvPr/>
        </p:nvSpPr>
        <p:spPr>
          <a:xfrm>
            <a:off x="6583680" y="4069080"/>
            <a:ext cx="54864" cy="502920"/>
          </a:xfrm>
          <a:prstGeom prst="rect">
            <a:avLst/>
          </a:prstGeom>
          <a:solidFill>
            <a:srgbClr val="E67E22"/>
          </a:solidFill>
          <a:ln/>
        </p:spPr>
        <p:txBody>
          <a:bodyPr/>
          <a:lstStyle/>
          <a:p>
            <a:endParaRPr lang="zh-CN" altLang="en-US"/>
          </a:p>
        </p:txBody>
      </p:sp>
      <p:sp>
        <p:nvSpPr>
          <p:cNvPr id="36" name="Text 34"/>
          <p:cNvSpPr/>
          <p:nvPr/>
        </p:nvSpPr>
        <p:spPr>
          <a:xfrm>
            <a:off x="6812280" y="4087368"/>
            <a:ext cx="4572000" cy="228600"/>
          </a:xfrm>
          <a:prstGeom prst="rect">
            <a:avLst/>
          </a:prstGeom>
          <a:noFill/>
          <a:ln/>
        </p:spPr>
        <p:txBody>
          <a:bodyPr wrap="square" rtlCol="0" anchor="ctr"/>
          <a:lstStyle/>
          <a:p>
            <a:pPr marL="0" indent="0">
              <a:buNone/>
            </a:pPr>
            <a:r>
              <a:rPr lang="en-US" sz="1300" b="1" dirty="0">
                <a:solidFill>
                  <a:srgbClr val="96281B"/>
                </a:solidFill>
                <a:latin typeface="Microsoft YaHei" pitchFamily="34" charset="0"/>
                <a:ea typeface="Microsoft YaHei" pitchFamily="34" charset="-122"/>
                <a:cs typeface="Microsoft YaHei" pitchFamily="34" charset="-120"/>
              </a:rPr>
              <a:t>数据流</a:t>
            </a:r>
            <a:endParaRPr lang="en-US" sz="1300" dirty="0"/>
          </a:p>
        </p:txBody>
      </p:sp>
      <p:sp>
        <p:nvSpPr>
          <p:cNvPr id="37" name="Text 35"/>
          <p:cNvSpPr/>
          <p:nvPr/>
        </p:nvSpPr>
        <p:spPr>
          <a:xfrm>
            <a:off x="6812280" y="4325112"/>
            <a:ext cx="4572000" cy="274320"/>
          </a:xfrm>
          <a:prstGeom prst="rect">
            <a:avLst/>
          </a:prstGeom>
          <a:noFill/>
          <a:ln/>
        </p:spPr>
        <p:txBody>
          <a:bodyPr wrap="square" rtlCol="0" anchor="ctr"/>
          <a:lstStyle/>
          <a:p>
            <a:pPr marL="0" indent="0">
              <a:buNone/>
            </a:pPr>
            <a:r>
              <a:rPr lang="en-US" sz="1000" dirty="0">
                <a:solidFill>
                  <a:srgbClr val="5D4E44"/>
                </a:solidFill>
                <a:latin typeface="Calibri" pitchFamily="34" charset="0"/>
                <a:ea typeface="Calibri" pitchFamily="34" charset="-122"/>
                <a:cs typeface="Calibri" pitchFamily="34" charset="-120"/>
              </a:rPr>
              <a:t>按钮点击 → TestController API → Timer 800ms</a:t>
            </a:r>
            <a:endParaRPr lang="en-US" sz="1000" dirty="0"/>
          </a:p>
          <a:p>
            <a:pPr marL="0" indent="0">
              <a:buNone/>
            </a:pPr>
            <a:r>
              <a:rPr lang="en-US" sz="1000" dirty="0">
                <a:solidFill>
                  <a:srgbClr val="5D4E44"/>
                </a:solidFill>
                <a:latin typeface="Calibri" pitchFamily="34" charset="0"/>
                <a:ea typeface="Calibri" pitchFamily="34" charset="-122"/>
                <a:cs typeface="Calibri" pitchFamily="34" charset="-120"/>
              </a:rPr>
              <a:t>→ UpdateTemperatures → DataBroadcast → UI 更新</a:t>
            </a:r>
            <a:endParaRPr lang="en-US" sz="1000" dirty="0"/>
          </a:p>
        </p:txBody>
      </p:sp>
      <p:sp>
        <p:nvSpPr>
          <p:cNvPr id="38" name="Shape 36"/>
          <p:cNvSpPr/>
          <p:nvPr/>
        </p:nvSpPr>
        <p:spPr>
          <a:xfrm>
            <a:off x="6583680" y="4754880"/>
            <a:ext cx="54864" cy="502920"/>
          </a:xfrm>
          <a:prstGeom prst="rect">
            <a:avLst/>
          </a:prstGeom>
          <a:solidFill>
            <a:srgbClr val="E67E22"/>
          </a:solidFill>
          <a:ln/>
        </p:spPr>
        <p:txBody>
          <a:bodyPr/>
          <a:lstStyle/>
          <a:p>
            <a:endParaRPr lang="zh-CN" altLang="en-US"/>
          </a:p>
        </p:txBody>
      </p:sp>
      <p:sp>
        <p:nvSpPr>
          <p:cNvPr id="39" name="Text 37"/>
          <p:cNvSpPr/>
          <p:nvPr/>
        </p:nvSpPr>
        <p:spPr>
          <a:xfrm>
            <a:off x="6812280" y="4773168"/>
            <a:ext cx="4572000" cy="228600"/>
          </a:xfrm>
          <a:prstGeom prst="rect">
            <a:avLst/>
          </a:prstGeom>
          <a:noFill/>
          <a:ln/>
        </p:spPr>
        <p:txBody>
          <a:bodyPr wrap="square" rtlCol="0" anchor="ctr"/>
          <a:lstStyle/>
          <a:p>
            <a:pPr marL="0" indent="0">
              <a:buNone/>
            </a:pPr>
            <a:r>
              <a:rPr lang="en-US" sz="1300" b="1" dirty="0">
                <a:solidFill>
                  <a:srgbClr val="96281B"/>
                </a:solidFill>
                <a:latin typeface="Microsoft YaHei" pitchFamily="34" charset="0"/>
                <a:ea typeface="Microsoft YaHei" pitchFamily="34" charset="-122"/>
                <a:cs typeface="Microsoft YaHei" pitchFamily="34" charset="-120"/>
              </a:rPr>
              <a:t>接口约定</a:t>
            </a:r>
            <a:endParaRPr lang="en-US" sz="1300" dirty="0"/>
          </a:p>
        </p:txBody>
      </p:sp>
      <p:sp>
        <p:nvSpPr>
          <p:cNvPr id="40" name="Text 38"/>
          <p:cNvSpPr/>
          <p:nvPr/>
        </p:nvSpPr>
        <p:spPr>
          <a:xfrm>
            <a:off x="6812280" y="5010912"/>
            <a:ext cx="4572000" cy="274320"/>
          </a:xfrm>
          <a:prstGeom prst="rect">
            <a:avLst/>
          </a:prstGeom>
          <a:noFill/>
          <a:ln/>
        </p:spPr>
        <p:txBody>
          <a:bodyPr wrap="square" rtlCol="0" anchor="ctr"/>
          <a:lstStyle/>
          <a:p>
            <a:pPr marL="0" indent="0">
              <a:buNone/>
            </a:pPr>
            <a:r>
              <a:rPr lang="en-US" sz="1000" dirty="0">
                <a:solidFill>
                  <a:srgbClr val="5D4E44"/>
                </a:solidFill>
                <a:latin typeface="Calibri" pitchFamily="34" charset="0"/>
                <a:ea typeface="Calibri" pitchFamily="34" charset="-122"/>
                <a:cs typeface="Calibri" pitchFamily="34" charset="-120"/>
              </a:rPr>
              <a:t>DbHelper: Login / InsertTest / UpdateTestResult / QueryTests</a:t>
            </a:r>
            <a:endParaRPr lang="en-US" sz="1000" dirty="0"/>
          </a:p>
          <a:p>
            <a:pPr marL="0" indent="0">
              <a:buNone/>
            </a:pPr>
            <a:r>
              <a:rPr lang="en-US" sz="1000" dirty="0">
                <a:solidFill>
                  <a:srgbClr val="5D4E44"/>
                </a:solidFill>
                <a:latin typeface="Calibri" pitchFamily="34" charset="0"/>
                <a:ea typeface="Calibri" pitchFamily="34" charset="-122"/>
                <a:cs typeface="Calibri" pitchFamily="34" charset="-120"/>
              </a:rPr>
              <a:t>TestController: StartHeating / StopHeating / StartRecording / StopRecording</a:t>
            </a:r>
            <a:endParaRPr lang="en-US" sz="1000" dirty="0"/>
          </a:p>
        </p:txBody>
      </p:sp>
      <p:sp>
        <p:nvSpPr>
          <p:cNvPr id="41" name="Shape 39"/>
          <p:cNvSpPr/>
          <p:nvPr/>
        </p:nvSpPr>
        <p:spPr>
          <a:xfrm>
            <a:off x="6583680" y="5440680"/>
            <a:ext cx="54864" cy="502920"/>
          </a:xfrm>
          <a:prstGeom prst="rect">
            <a:avLst/>
          </a:prstGeom>
          <a:solidFill>
            <a:srgbClr val="E67E22"/>
          </a:solidFill>
          <a:ln/>
        </p:spPr>
        <p:txBody>
          <a:bodyPr/>
          <a:lstStyle/>
          <a:p>
            <a:endParaRPr lang="zh-CN" altLang="en-US"/>
          </a:p>
        </p:txBody>
      </p:sp>
      <p:sp>
        <p:nvSpPr>
          <p:cNvPr id="42" name="Text 40"/>
          <p:cNvSpPr/>
          <p:nvPr/>
        </p:nvSpPr>
        <p:spPr>
          <a:xfrm>
            <a:off x="6812280" y="5458968"/>
            <a:ext cx="4572000" cy="228600"/>
          </a:xfrm>
          <a:prstGeom prst="rect">
            <a:avLst/>
          </a:prstGeom>
          <a:noFill/>
          <a:ln/>
        </p:spPr>
        <p:txBody>
          <a:bodyPr wrap="square" rtlCol="0" anchor="ctr"/>
          <a:lstStyle/>
          <a:p>
            <a:pPr marL="0" indent="0">
              <a:buNone/>
            </a:pPr>
            <a:r>
              <a:rPr lang="en-US" sz="1300" b="1" dirty="0">
                <a:solidFill>
                  <a:srgbClr val="96281B"/>
                </a:solidFill>
                <a:latin typeface="Microsoft YaHei" pitchFamily="34" charset="0"/>
                <a:ea typeface="Microsoft YaHei" pitchFamily="34" charset="-122"/>
                <a:cs typeface="Microsoft YaHei" pitchFamily="34" charset="-120"/>
              </a:rPr>
              <a:t>配置驱动</a:t>
            </a:r>
            <a:endParaRPr lang="en-US" sz="1300" dirty="0"/>
          </a:p>
        </p:txBody>
      </p:sp>
      <p:sp>
        <p:nvSpPr>
          <p:cNvPr id="43" name="Text 41"/>
          <p:cNvSpPr/>
          <p:nvPr/>
        </p:nvSpPr>
        <p:spPr>
          <a:xfrm>
            <a:off x="6812280" y="5696712"/>
            <a:ext cx="4572000" cy="274320"/>
          </a:xfrm>
          <a:prstGeom prst="rect">
            <a:avLst/>
          </a:prstGeom>
          <a:noFill/>
          <a:ln/>
        </p:spPr>
        <p:txBody>
          <a:bodyPr wrap="square" rtlCol="0" anchor="ctr"/>
          <a:lstStyle/>
          <a:p>
            <a:pPr marL="0" indent="0">
              <a:buNone/>
            </a:pPr>
            <a:r>
              <a:rPr lang="en-US" sz="1000" dirty="0">
                <a:solidFill>
                  <a:srgbClr val="5D4E44"/>
                </a:solidFill>
                <a:latin typeface="Calibri" pitchFamily="34" charset="0"/>
                <a:ea typeface="Calibri" pitchFamily="34" charset="-122"/>
                <a:cs typeface="Calibri" pitchFamily="34" charset="-120"/>
              </a:rPr>
              <a:t>appsettings.json 控制加热速率、仿真开关</a:t>
            </a:r>
            <a:endParaRPr lang="en-US" sz="1000" dirty="0"/>
          </a:p>
          <a:p>
            <a:pPr marL="0" indent="0">
              <a:buNone/>
            </a:pPr>
            <a:r>
              <a:rPr lang="en-US" sz="1000" dirty="0">
                <a:solidFill>
                  <a:srgbClr val="5D4E44"/>
                </a:solidFill>
                <a:latin typeface="Calibri" pitchFamily="34" charset="0"/>
                <a:ea typeface="Calibri" pitchFamily="34" charset="-122"/>
                <a:cs typeface="Calibri" pitchFamily="34" charset="-120"/>
              </a:rPr>
              <a:t>Simulation.EnableSimulation = true（开发模式）</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03</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数据库设计</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DATABASE DESIGN</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14</a:t>
            </a:r>
            <a:endParaRPr lang="en-US" sz="1000" dirty="0"/>
          </a:p>
        </p:txBody>
      </p:sp>
      <p:sp>
        <p:nvSpPr>
          <p:cNvPr id="15" name="Shape 13"/>
          <p:cNvSpPr/>
          <p:nvPr/>
        </p:nvSpPr>
        <p:spPr>
          <a:xfrm>
            <a:off x="7772400" y="1554480"/>
            <a:ext cx="3931920" cy="27432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6" name="Shape 14"/>
          <p:cNvSpPr/>
          <p:nvPr/>
        </p:nvSpPr>
        <p:spPr>
          <a:xfrm>
            <a:off x="7772400" y="1554480"/>
            <a:ext cx="3931920" cy="54864"/>
          </a:xfrm>
          <a:prstGeom prst="rect">
            <a:avLst/>
          </a:prstGeom>
          <a:solidFill>
            <a:srgbClr val="E67E22"/>
          </a:solidFill>
          <a:ln/>
        </p:spPr>
        <p:txBody>
          <a:bodyPr/>
          <a:lstStyle/>
          <a:p>
            <a:endParaRPr lang="zh-CN" altLang="en-US"/>
          </a:p>
        </p:txBody>
      </p:sp>
      <p:sp>
        <p:nvSpPr>
          <p:cNvPr id="17" name="Text 15"/>
          <p:cNvSpPr/>
          <p:nvPr/>
        </p:nvSpPr>
        <p:spPr>
          <a:xfrm>
            <a:off x="8046720" y="1783080"/>
            <a:ext cx="3383280" cy="36576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6 张核心数据表</a:t>
            </a:r>
            <a:endParaRPr lang="en-US" sz="1400" dirty="0"/>
          </a:p>
        </p:txBody>
      </p:sp>
      <p:sp>
        <p:nvSpPr>
          <p:cNvPr id="18" name="Text 16"/>
          <p:cNvSpPr/>
          <p:nvPr/>
        </p:nvSpPr>
        <p:spPr>
          <a:xfrm>
            <a:off x="8046720" y="2286000"/>
            <a:ext cx="1645920" cy="274320"/>
          </a:xfrm>
          <a:prstGeom prst="rect">
            <a:avLst/>
          </a:prstGeom>
          <a:noFill/>
          <a:ln/>
        </p:spPr>
        <p:txBody>
          <a:bodyPr wrap="square" rtlCol="0" anchor="ctr"/>
          <a:lstStyle/>
          <a:p>
            <a:pPr marL="0" indent="0">
              <a:buNone/>
            </a:pPr>
            <a:r>
              <a:rPr lang="en-US" sz="1000" b="1" dirty="0">
                <a:solidFill>
                  <a:srgbClr val="96281B"/>
                </a:solidFill>
                <a:latin typeface="Consolas" pitchFamily="34" charset="0"/>
                <a:ea typeface="Consolas" pitchFamily="34" charset="-122"/>
                <a:cs typeface="Consolas" pitchFamily="34" charset="-120"/>
              </a:rPr>
              <a:t>operators</a:t>
            </a:r>
            <a:endParaRPr lang="en-US" sz="1000" dirty="0"/>
          </a:p>
        </p:txBody>
      </p:sp>
      <p:sp>
        <p:nvSpPr>
          <p:cNvPr id="19" name="Text 17"/>
          <p:cNvSpPr/>
          <p:nvPr/>
        </p:nvSpPr>
        <p:spPr>
          <a:xfrm>
            <a:off x="9692640" y="2286000"/>
            <a:ext cx="1828800" cy="27432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人员表 (无主键)</a:t>
            </a:r>
            <a:endParaRPr lang="en-US" sz="900" dirty="0"/>
          </a:p>
        </p:txBody>
      </p:sp>
      <p:sp>
        <p:nvSpPr>
          <p:cNvPr id="20" name="Text 18"/>
          <p:cNvSpPr/>
          <p:nvPr/>
        </p:nvSpPr>
        <p:spPr>
          <a:xfrm>
            <a:off x="8046720" y="2606040"/>
            <a:ext cx="1645920" cy="274320"/>
          </a:xfrm>
          <a:prstGeom prst="rect">
            <a:avLst/>
          </a:prstGeom>
          <a:noFill/>
          <a:ln/>
        </p:spPr>
        <p:txBody>
          <a:bodyPr wrap="square" rtlCol="0" anchor="ctr"/>
          <a:lstStyle/>
          <a:p>
            <a:pPr marL="0" indent="0">
              <a:buNone/>
            </a:pPr>
            <a:r>
              <a:rPr lang="en-US" sz="1000" b="1" dirty="0">
                <a:solidFill>
                  <a:srgbClr val="96281B"/>
                </a:solidFill>
                <a:latin typeface="Consolas" pitchFamily="34" charset="0"/>
                <a:ea typeface="Consolas" pitchFamily="34" charset="-122"/>
                <a:cs typeface="Consolas" pitchFamily="34" charset="-120"/>
              </a:rPr>
              <a:t>apparatus</a:t>
            </a:r>
            <a:endParaRPr lang="en-US" sz="1000" dirty="0"/>
          </a:p>
        </p:txBody>
      </p:sp>
      <p:sp>
        <p:nvSpPr>
          <p:cNvPr id="21" name="Text 19"/>
          <p:cNvSpPr/>
          <p:nvPr/>
        </p:nvSpPr>
        <p:spPr>
          <a:xfrm>
            <a:off x="9692640" y="2606040"/>
            <a:ext cx="1828800" cy="27432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设备信息表</a:t>
            </a:r>
            <a:endParaRPr lang="en-US" sz="900" dirty="0"/>
          </a:p>
        </p:txBody>
      </p:sp>
      <p:sp>
        <p:nvSpPr>
          <p:cNvPr id="22" name="Text 20"/>
          <p:cNvSpPr/>
          <p:nvPr/>
        </p:nvSpPr>
        <p:spPr>
          <a:xfrm>
            <a:off x="8046720" y="2926080"/>
            <a:ext cx="1645920" cy="274320"/>
          </a:xfrm>
          <a:prstGeom prst="rect">
            <a:avLst/>
          </a:prstGeom>
          <a:noFill/>
          <a:ln/>
        </p:spPr>
        <p:txBody>
          <a:bodyPr wrap="square" rtlCol="0" anchor="ctr"/>
          <a:lstStyle/>
          <a:p>
            <a:pPr marL="0" indent="0">
              <a:buNone/>
            </a:pPr>
            <a:r>
              <a:rPr lang="en-US" sz="1000" b="1" dirty="0">
                <a:solidFill>
                  <a:srgbClr val="96281B"/>
                </a:solidFill>
                <a:latin typeface="Consolas" pitchFamily="34" charset="0"/>
                <a:ea typeface="Consolas" pitchFamily="34" charset="-122"/>
                <a:cs typeface="Consolas" pitchFamily="34" charset="-120"/>
              </a:rPr>
              <a:t>productmaster</a:t>
            </a:r>
            <a:endParaRPr lang="en-US" sz="1000" dirty="0"/>
          </a:p>
        </p:txBody>
      </p:sp>
      <p:sp>
        <p:nvSpPr>
          <p:cNvPr id="23" name="Text 21"/>
          <p:cNvSpPr/>
          <p:nvPr/>
        </p:nvSpPr>
        <p:spPr>
          <a:xfrm>
            <a:off x="9692640" y="2926080"/>
            <a:ext cx="1828800" cy="27432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样品主数据表</a:t>
            </a:r>
            <a:endParaRPr lang="en-US" sz="900" dirty="0"/>
          </a:p>
        </p:txBody>
      </p:sp>
      <p:sp>
        <p:nvSpPr>
          <p:cNvPr id="24" name="Text 22"/>
          <p:cNvSpPr/>
          <p:nvPr/>
        </p:nvSpPr>
        <p:spPr>
          <a:xfrm>
            <a:off x="8046720" y="3246120"/>
            <a:ext cx="1645920" cy="274320"/>
          </a:xfrm>
          <a:prstGeom prst="rect">
            <a:avLst/>
          </a:prstGeom>
          <a:noFill/>
          <a:ln/>
        </p:spPr>
        <p:txBody>
          <a:bodyPr wrap="square" rtlCol="0" anchor="ctr"/>
          <a:lstStyle/>
          <a:p>
            <a:pPr marL="0" indent="0">
              <a:buNone/>
            </a:pPr>
            <a:r>
              <a:rPr lang="en-US" sz="1000" b="1" dirty="0">
                <a:solidFill>
                  <a:srgbClr val="96281B"/>
                </a:solidFill>
                <a:latin typeface="Consolas" pitchFamily="34" charset="0"/>
                <a:ea typeface="Consolas" pitchFamily="34" charset="-122"/>
                <a:cs typeface="Consolas" pitchFamily="34" charset="-120"/>
              </a:rPr>
              <a:t>testmaster</a:t>
            </a:r>
            <a:endParaRPr lang="en-US" sz="1000" dirty="0"/>
          </a:p>
        </p:txBody>
      </p:sp>
      <p:sp>
        <p:nvSpPr>
          <p:cNvPr id="25" name="Text 23"/>
          <p:cNvSpPr/>
          <p:nvPr/>
        </p:nvSpPr>
        <p:spPr>
          <a:xfrm>
            <a:off x="9692640" y="3246120"/>
            <a:ext cx="1828800" cy="27432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试验记录表 (核心)</a:t>
            </a:r>
            <a:endParaRPr lang="en-US" sz="900" dirty="0"/>
          </a:p>
        </p:txBody>
      </p:sp>
      <p:sp>
        <p:nvSpPr>
          <p:cNvPr id="26" name="Text 24"/>
          <p:cNvSpPr/>
          <p:nvPr/>
        </p:nvSpPr>
        <p:spPr>
          <a:xfrm>
            <a:off x="8046720" y="3566160"/>
            <a:ext cx="1645920" cy="274320"/>
          </a:xfrm>
          <a:prstGeom prst="rect">
            <a:avLst/>
          </a:prstGeom>
          <a:noFill/>
          <a:ln/>
        </p:spPr>
        <p:txBody>
          <a:bodyPr wrap="square" rtlCol="0" anchor="ctr"/>
          <a:lstStyle/>
          <a:p>
            <a:pPr marL="0" indent="0">
              <a:buNone/>
            </a:pPr>
            <a:r>
              <a:rPr lang="en-US" sz="1000" b="1" dirty="0">
                <a:solidFill>
                  <a:srgbClr val="96281B"/>
                </a:solidFill>
                <a:latin typeface="Consolas" pitchFamily="34" charset="0"/>
                <a:ea typeface="Consolas" pitchFamily="34" charset="-122"/>
                <a:cs typeface="Consolas" pitchFamily="34" charset="-120"/>
              </a:rPr>
              <a:t>sensors</a:t>
            </a:r>
            <a:endParaRPr lang="en-US" sz="1000" dirty="0"/>
          </a:p>
        </p:txBody>
      </p:sp>
      <p:sp>
        <p:nvSpPr>
          <p:cNvPr id="27" name="Text 25"/>
          <p:cNvSpPr/>
          <p:nvPr/>
        </p:nvSpPr>
        <p:spPr>
          <a:xfrm>
            <a:off x="9692640" y="3566160"/>
            <a:ext cx="1828800" cy="27432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传感器配置表 (17路)</a:t>
            </a:r>
            <a:endParaRPr lang="en-US" sz="900" dirty="0"/>
          </a:p>
        </p:txBody>
      </p:sp>
      <p:sp>
        <p:nvSpPr>
          <p:cNvPr id="28" name="Text 26"/>
          <p:cNvSpPr/>
          <p:nvPr/>
        </p:nvSpPr>
        <p:spPr>
          <a:xfrm>
            <a:off x="8046720" y="3886200"/>
            <a:ext cx="1645920" cy="274320"/>
          </a:xfrm>
          <a:prstGeom prst="rect">
            <a:avLst/>
          </a:prstGeom>
          <a:noFill/>
          <a:ln/>
        </p:spPr>
        <p:txBody>
          <a:bodyPr wrap="square" rtlCol="0" anchor="ctr"/>
          <a:lstStyle/>
          <a:p>
            <a:pPr marL="0" indent="0">
              <a:buNone/>
            </a:pPr>
            <a:r>
              <a:rPr lang="en-US" sz="1000" b="1" dirty="0">
                <a:solidFill>
                  <a:srgbClr val="96281B"/>
                </a:solidFill>
                <a:latin typeface="Consolas" pitchFamily="34" charset="0"/>
                <a:ea typeface="Consolas" pitchFamily="34" charset="-122"/>
                <a:cs typeface="Consolas" pitchFamily="34" charset="-120"/>
              </a:rPr>
              <a:t>CalibrationRecords</a:t>
            </a:r>
            <a:endParaRPr lang="en-US" sz="1000" dirty="0"/>
          </a:p>
        </p:txBody>
      </p:sp>
      <p:sp>
        <p:nvSpPr>
          <p:cNvPr id="29" name="Text 27"/>
          <p:cNvSpPr/>
          <p:nvPr/>
        </p:nvSpPr>
        <p:spPr>
          <a:xfrm>
            <a:off x="9692640" y="3886200"/>
            <a:ext cx="1828800" cy="27432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校准记录表 (PascalCase)</a:t>
            </a:r>
            <a:endParaRPr lang="en-US" sz="900" dirty="0"/>
          </a:p>
        </p:txBody>
      </p:sp>
      <p:sp>
        <p:nvSpPr>
          <p:cNvPr id="30" name="Shape 28"/>
          <p:cNvSpPr/>
          <p:nvPr/>
        </p:nvSpPr>
        <p:spPr>
          <a:xfrm>
            <a:off x="548640" y="4480560"/>
            <a:ext cx="5303520" cy="18288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31" name="Shape 29"/>
          <p:cNvSpPr/>
          <p:nvPr/>
        </p:nvSpPr>
        <p:spPr>
          <a:xfrm>
            <a:off x="548640" y="4480560"/>
            <a:ext cx="5303520" cy="54864"/>
          </a:xfrm>
          <a:prstGeom prst="rect">
            <a:avLst/>
          </a:prstGeom>
          <a:solidFill>
            <a:srgbClr val="C0392B"/>
          </a:solidFill>
          <a:ln/>
        </p:spPr>
        <p:txBody>
          <a:bodyPr/>
          <a:lstStyle/>
          <a:p>
            <a:endParaRPr lang="zh-CN" altLang="en-US"/>
          </a:p>
        </p:txBody>
      </p:sp>
      <p:sp>
        <p:nvSpPr>
          <p:cNvPr id="32" name="Text 30"/>
          <p:cNvSpPr/>
          <p:nvPr/>
        </p:nvSpPr>
        <p:spPr>
          <a:xfrm>
            <a:off x="822960" y="4663440"/>
            <a:ext cx="4754880" cy="365760"/>
          </a:xfrm>
          <a:prstGeom prst="rect">
            <a:avLst/>
          </a:prstGeom>
          <a:noFill/>
          <a:ln/>
        </p:spPr>
        <p:txBody>
          <a:bodyPr wrap="square" rtlCol="0" anchor="ctr"/>
          <a:lstStyle/>
          <a:p>
            <a:pPr marL="0" indent="0">
              <a:buNone/>
            </a:pPr>
            <a:r>
              <a:rPr lang="en-US" sz="1300" b="1" dirty="0">
                <a:solidFill>
                  <a:srgbClr val="2C1810"/>
                </a:solidFill>
                <a:latin typeface="Microsoft YaHei" pitchFamily="34" charset="0"/>
                <a:ea typeface="Microsoft YaHei" pitchFamily="34" charset="-122"/>
                <a:cs typeface="Microsoft YaHei" pitchFamily="34" charset="-120"/>
              </a:rPr>
              <a:t>testmaster 核心字段</a:t>
            </a:r>
            <a:endParaRPr lang="en-US" sz="1300" dirty="0"/>
          </a:p>
        </p:txBody>
      </p:sp>
      <p:sp>
        <p:nvSpPr>
          <p:cNvPr id="33" name="Text 31"/>
          <p:cNvSpPr/>
          <p:nvPr/>
        </p:nvSpPr>
        <p:spPr>
          <a:xfrm>
            <a:off x="822960" y="5074920"/>
            <a:ext cx="475488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复合主键: productid + testid</a:t>
            </a:r>
            <a:endParaRPr lang="en-US" sz="1000" dirty="0"/>
          </a:p>
        </p:txBody>
      </p:sp>
      <p:sp>
        <p:nvSpPr>
          <p:cNvPr id="34" name="Text 32"/>
          <p:cNvSpPr/>
          <p:nvPr/>
        </p:nvSpPr>
        <p:spPr>
          <a:xfrm>
            <a:off x="822960" y="5303520"/>
            <a:ext cx="475488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试验参数: testdate, ambtemp, ambhumi, according, operator</a:t>
            </a:r>
            <a:endParaRPr lang="en-US" sz="1000" dirty="0"/>
          </a:p>
        </p:txBody>
      </p:sp>
      <p:sp>
        <p:nvSpPr>
          <p:cNvPr id="35" name="Text 33"/>
          <p:cNvSpPr/>
          <p:nvPr/>
        </p:nvSpPr>
        <p:spPr>
          <a:xfrm>
            <a:off x="822960" y="5532120"/>
            <a:ext cx="475488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质量数据: preweight, postweight, lostweight, lostweight_per</a:t>
            </a:r>
            <a:endParaRPr lang="en-US" sz="1000" dirty="0"/>
          </a:p>
        </p:txBody>
      </p:sp>
      <p:sp>
        <p:nvSpPr>
          <p:cNvPr id="36" name="Text 34"/>
          <p:cNvSpPr/>
          <p:nvPr/>
        </p:nvSpPr>
        <p:spPr>
          <a:xfrm>
            <a:off x="822960" y="5760720"/>
            <a:ext cx="475488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温度统计: maxtf1~tcal, finaltf1~tcal, deltatf1~tcal, deltatf</a:t>
            </a:r>
            <a:endParaRPr lang="en-US" sz="1000" dirty="0"/>
          </a:p>
        </p:txBody>
      </p:sp>
      <p:sp>
        <p:nvSpPr>
          <p:cNvPr id="37" name="Text 35"/>
          <p:cNvSpPr/>
          <p:nvPr/>
        </p:nvSpPr>
        <p:spPr>
          <a:xfrm>
            <a:off x="822960" y="5989320"/>
            <a:ext cx="475488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判定字段: phenocode, flametime, flameduration, flag(10000000=已保存)</a:t>
            </a:r>
            <a:endParaRPr lang="en-US" sz="1000" dirty="0"/>
          </a:p>
        </p:txBody>
      </p:sp>
      <p:sp>
        <p:nvSpPr>
          <p:cNvPr id="38" name="Shape 36"/>
          <p:cNvSpPr/>
          <p:nvPr/>
        </p:nvSpPr>
        <p:spPr>
          <a:xfrm>
            <a:off x="6217920" y="4480560"/>
            <a:ext cx="5394960" cy="18288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39" name="Shape 37"/>
          <p:cNvSpPr/>
          <p:nvPr/>
        </p:nvSpPr>
        <p:spPr>
          <a:xfrm>
            <a:off x="6217920" y="4480560"/>
            <a:ext cx="5394960" cy="54864"/>
          </a:xfrm>
          <a:prstGeom prst="rect">
            <a:avLst/>
          </a:prstGeom>
          <a:solidFill>
            <a:srgbClr val="E67E22"/>
          </a:solidFill>
          <a:ln/>
        </p:spPr>
        <p:txBody>
          <a:bodyPr/>
          <a:lstStyle/>
          <a:p>
            <a:endParaRPr lang="zh-CN" altLang="en-US"/>
          </a:p>
        </p:txBody>
      </p:sp>
      <p:sp>
        <p:nvSpPr>
          <p:cNvPr id="40" name="Text 38"/>
          <p:cNvSpPr/>
          <p:nvPr/>
        </p:nvSpPr>
        <p:spPr>
          <a:xfrm>
            <a:off x="6492240" y="4663440"/>
            <a:ext cx="4846320" cy="365760"/>
          </a:xfrm>
          <a:prstGeom prst="rect">
            <a:avLst/>
          </a:prstGeom>
          <a:noFill/>
          <a:ln/>
        </p:spPr>
        <p:txBody>
          <a:bodyPr wrap="square" rtlCol="0" anchor="ctr"/>
          <a:lstStyle/>
          <a:p>
            <a:pPr marL="0" indent="0">
              <a:buNone/>
            </a:pPr>
            <a:r>
              <a:rPr lang="en-US" sz="1300" b="1" dirty="0">
                <a:solidFill>
                  <a:srgbClr val="2C1810"/>
                </a:solidFill>
                <a:latin typeface="Microsoft YaHei" pitchFamily="34" charset="0"/>
                <a:ea typeface="Microsoft YaHei" pitchFamily="34" charset="-122"/>
                <a:cs typeface="Microsoft YaHei" pitchFamily="34" charset="-120"/>
              </a:rPr>
              <a:t>索引策略 &amp; 关键约束</a:t>
            </a:r>
            <a:endParaRPr lang="en-US" sz="1300" dirty="0"/>
          </a:p>
        </p:txBody>
      </p:sp>
      <p:sp>
        <p:nvSpPr>
          <p:cNvPr id="41" name="Text 39"/>
          <p:cNvSpPr/>
          <p:nvPr/>
        </p:nvSpPr>
        <p:spPr>
          <a:xfrm>
            <a:off x="6492240" y="5074920"/>
            <a:ext cx="484632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IX_Testmaster_Testdate — 按日期范围查询历史</a:t>
            </a:r>
            <a:endParaRPr lang="en-US" sz="1000" dirty="0"/>
          </a:p>
        </p:txBody>
      </p:sp>
      <p:sp>
        <p:nvSpPr>
          <p:cNvPr id="42" name="Text 40"/>
          <p:cNvSpPr/>
          <p:nvPr/>
        </p:nvSpPr>
        <p:spPr>
          <a:xfrm>
            <a:off x="6492240" y="5303520"/>
            <a:ext cx="484632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IX_Testmaster_Operator — 按操作员筛选</a:t>
            </a:r>
            <a:endParaRPr lang="en-US" sz="1000" dirty="0"/>
          </a:p>
        </p:txBody>
      </p:sp>
      <p:sp>
        <p:nvSpPr>
          <p:cNvPr id="43" name="Text 41"/>
          <p:cNvSpPr/>
          <p:nvPr/>
        </p:nvSpPr>
        <p:spPr>
          <a:xfrm>
            <a:off x="6492240" y="5532120"/>
            <a:ext cx="484632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IX_Testmaster_Testdate_Productid — 复合索引</a:t>
            </a:r>
            <a:endParaRPr lang="en-US" sz="1000" dirty="0"/>
          </a:p>
        </p:txBody>
      </p:sp>
      <p:sp>
        <p:nvSpPr>
          <p:cNvPr id="44" name="Text 42"/>
          <p:cNvSpPr/>
          <p:nvPr/>
        </p:nvSpPr>
        <p:spPr>
          <a:xfrm>
            <a:off x="6492240" y="5760720"/>
            <a:ext cx="484632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温度时序数据存 CSV，不存数据库</a:t>
            </a:r>
            <a:endParaRPr lang="en-US" sz="1000" dirty="0"/>
          </a:p>
        </p:txBody>
      </p:sp>
      <p:sp>
        <p:nvSpPr>
          <p:cNvPr id="45" name="Text 43"/>
          <p:cNvSpPr/>
          <p:nvPr/>
        </p:nvSpPr>
        <p:spPr>
          <a:xfrm>
            <a:off x="6492240" y="5989320"/>
            <a:ext cx="4846320" cy="201168"/>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flag = 10000000 标记已保存，阻止重复操作</a:t>
            </a:r>
            <a:endParaRPr lang="en-US" sz="1000" dirty="0"/>
          </a:p>
        </p:txBody>
      </p:sp>
      <p:pic>
        <p:nvPicPr>
          <p:cNvPr id="52" name="图形 51">
            <a:extLst>
              <a:ext uri="{FF2B5EF4-FFF2-40B4-BE49-F238E27FC236}">
                <a16:creationId xmlns:a16="http://schemas.microsoft.com/office/drawing/2014/main" id="{A1A1C3E5-069D-BA75-3C74-DAB1D058A6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1603819"/>
            <a:ext cx="7064393" cy="247253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03</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核心算法详细设计</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ALGORITHM DETAILED DESIGN</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15</a:t>
            </a:r>
            <a:endParaRPr lang="en-US" sz="1000" dirty="0"/>
          </a:p>
        </p:txBody>
      </p:sp>
      <p:sp>
        <p:nvSpPr>
          <p:cNvPr id="15" name="Shape 13"/>
          <p:cNvSpPr/>
          <p:nvPr/>
        </p:nvSpPr>
        <p:spPr>
          <a:xfrm>
            <a:off x="6766560" y="1554480"/>
            <a:ext cx="4846320" cy="237744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6" name="Shape 14"/>
          <p:cNvSpPr/>
          <p:nvPr/>
        </p:nvSpPr>
        <p:spPr>
          <a:xfrm>
            <a:off x="6766560" y="1554480"/>
            <a:ext cx="4846320" cy="54864"/>
          </a:xfrm>
          <a:prstGeom prst="rect">
            <a:avLst/>
          </a:prstGeom>
          <a:solidFill>
            <a:srgbClr val="C0392B"/>
          </a:solidFill>
          <a:ln/>
        </p:spPr>
        <p:txBody>
          <a:bodyPr/>
          <a:lstStyle/>
          <a:p>
            <a:endParaRPr lang="zh-CN" altLang="en-US"/>
          </a:p>
        </p:txBody>
      </p:sp>
      <p:sp>
        <p:nvSpPr>
          <p:cNvPr id="17" name="Text 15"/>
          <p:cNvSpPr/>
          <p:nvPr/>
        </p:nvSpPr>
        <p:spPr>
          <a:xfrm>
            <a:off x="7040880" y="1737360"/>
            <a:ext cx="4297680" cy="320040"/>
          </a:xfrm>
          <a:prstGeom prst="rect">
            <a:avLst/>
          </a:prstGeom>
          <a:noFill/>
          <a:ln/>
        </p:spPr>
        <p:txBody>
          <a:bodyPr wrap="square" rtlCol="0" anchor="ctr"/>
          <a:lstStyle/>
          <a:p>
            <a:pPr marL="0" indent="0">
              <a:buNone/>
            </a:pPr>
            <a:r>
              <a:rPr lang="en-US" sz="1300" b="1" dirty="0">
                <a:solidFill>
                  <a:srgbClr val="2C1810"/>
                </a:solidFill>
                <a:latin typeface="Microsoft YaHei" pitchFamily="34" charset="0"/>
                <a:ea typeface="Microsoft YaHei" pitchFamily="34" charset="-122"/>
                <a:cs typeface="Microsoft YaHei" pitchFamily="34" charset="-120"/>
              </a:rPr>
              <a:t>状态转移规则</a:t>
            </a:r>
            <a:endParaRPr lang="en-US" sz="1300" dirty="0"/>
          </a:p>
        </p:txBody>
      </p:sp>
      <p:sp>
        <p:nvSpPr>
          <p:cNvPr id="18" name="Shape 16"/>
          <p:cNvSpPr/>
          <p:nvPr/>
        </p:nvSpPr>
        <p:spPr>
          <a:xfrm>
            <a:off x="7040880" y="2194560"/>
            <a:ext cx="1234440" cy="256032"/>
          </a:xfrm>
          <a:prstGeom prst="rect">
            <a:avLst/>
          </a:prstGeom>
          <a:solidFill>
            <a:srgbClr val="E67E22"/>
          </a:solidFill>
          <a:ln/>
        </p:spPr>
        <p:txBody>
          <a:bodyPr/>
          <a:lstStyle/>
          <a:p>
            <a:endParaRPr lang="zh-CN" altLang="en-US"/>
          </a:p>
        </p:txBody>
      </p:sp>
      <p:sp>
        <p:nvSpPr>
          <p:cNvPr id="19" name="Text 17"/>
          <p:cNvSpPr/>
          <p:nvPr/>
        </p:nvSpPr>
        <p:spPr>
          <a:xfrm>
            <a:off x="7040880" y="2194560"/>
            <a:ext cx="1234440" cy="256032"/>
          </a:xfrm>
          <a:prstGeom prst="rect">
            <a:avLst/>
          </a:prstGeom>
          <a:noFill/>
          <a:ln/>
        </p:spPr>
        <p:txBody>
          <a:bodyPr wrap="square" rtlCol="0" anchor="ctr"/>
          <a:lstStyle/>
          <a:p>
            <a:pPr marL="0" indent="0" algn="ctr">
              <a:buNone/>
            </a:pPr>
            <a:r>
              <a:rPr lang="en-US" sz="800" b="1" dirty="0">
                <a:solidFill>
                  <a:srgbClr val="FAFAF7"/>
                </a:solidFill>
                <a:latin typeface="Calibri" pitchFamily="34" charset="0"/>
                <a:ea typeface="Calibri" pitchFamily="34" charset="-122"/>
                <a:cs typeface="Calibri" pitchFamily="34" charset="-120"/>
              </a:rPr>
              <a:t>IDLE</a:t>
            </a:r>
            <a:endParaRPr lang="en-US" sz="800" dirty="0"/>
          </a:p>
        </p:txBody>
      </p:sp>
      <p:sp>
        <p:nvSpPr>
          <p:cNvPr id="20" name="Text 18"/>
          <p:cNvSpPr/>
          <p:nvPr/>
        </p:nvSpPr>
        <p:spPr>
          <a:xfrm>
            <a:off x="8321040" y="2194560"/>
            <a:ext cx="274320" cy="256032"/>
          </a:xfrm>
          <a:prstGeom prst="rect">
            <a:avLst/>
          </a:prstGeom>
          <a:noFill/>
          <a:ln/>
        </p:spPr>
        <p:txBody>
          <a:bodyPr wrap="square" rtlCol="0" anchor="ctr"/>
          <a:lstStyle/>
          <a:p>
            <a:pPr marL="0" indent="0" algn="ctr">
              <a:buNone/>
            </a:pPr>
            <a:r>
              <a:rPr lang="en-US" sz="1200" dirty="0">
                <a:solidFill>
                  <a:srgbClr val="5D4E44"/>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8595360" y="2194560"/>
            <a:ext cx="1234440" cy="256032"/>
          </a:xfrm>
          <a:prstGeom prst="rect">
            <a:avLst/>
          </a:prstGeom>
          <a:solidFill>
            <a:srgbClr val="F39C12"/>
          </a:solidFill>
          <a:ln/>
        </p:spPr>
        <p:txBody>
          <a:bodyPr/>
          <a:lstStyle/>
          <a:p>
            <a:endParaRPr lang="zh-CN" altLang="en-US"/>
          </a:p>
        </p:txBody>
      </p:sp>
      <p:sp>
        <p:nvSpPr>
          <p:cNvPr id="22" name="Text 20"/>
          <p:cNvSpPr/>
          <p:nvPr/>
        </p:nvSpPr>
        <p:spPr>
          <a:xfrm>
            <a:off x="8595360" y="2194560"/>
            <a:ext cx="1234440" cy="256032"/>
          </a:xfrm>
          <a:prstGeom prst="rect">
            <a:avLst/>
          </a:prstGeom>
          <a:noFill/>
          <a:ln/>
        </p:spPr>
        <p:txBody>
          <a:bodyPr wrap="square" rtlCol="0" anchor="ctr"/>
          <a:lstStyle/>
          <a:p>
            <a:pPr marL="0" indent="0" algn="ctr">
              <a:buNone/>
            </a:pPr>
            <a:r>
              <a:rPr lang="en-US" sz="800" b="1" dirty="0">
                <a:solidFill>
                  <a:srgbClr val="2C1810"/>
                </a:solidFill>
                <a:latin typeface="Calibri" pitchFamily="34" charset="0"/>
                <a:ea typeface="Calibri" pitchFamily="34" charset="-122"/>
                <a:cs typeface="Calibri" pitchFamily="34" charset="-120"/>
              </a:rPr>
              <a:t>PREPARING</a:t>
            </a:r>
            <a:endParaRPr lang="en-US" sz="800" dirty="0"/>
          </a:p>
        </p:txBody>
      </p:sp>
      <p:sp>
        <p:nvSpPr>
          <p:cNvPr id="23" name="Text 21"/>
          <p:cNvSpPr/>
          <p:nvPr/>
        </p:nvSpPr>
        <p:spPr>
          <a:xfrm>
            <a:off x="9921240" y="2194560"/>
            <a:ext cx="1417320" cy="256032"/>
          </a:xfrm>
          <a:prstGeom prst="rect">
            <a:avLst/>
          </a:prstGeom>
          <a:noFill/>
          <a:ln/>
        </p:spPr>
        <p:txBody>
          <a:bodyPr wrap="square" rtlCol="0" anchor="ctr"/>
          <a:lstStyle/>
          <a:p>
            <a:pPr marL="0" indent="0">
              <a:buNone/>
            </a:pPr>
            <a:r>
              <a:rPr lang="en-US" sz="800" dirty="0">
                <a:solidFill>
                  <a:srgbClr val="5D4E44"/>
                </a:solidFill>
                <a:latin typeface="Calibri" pitchFamily="34" charset="0"/>
                <a:ea typeface="Calibri" pitchFamily="34" charset="-122"/>
                <a:cs typeface="Calibri" pitchFamily="34" charset="-120"/>
              </a:rPr>
              <a:t>点击开始升温</a:t>
            </a:r>
            <a:endParaRPr lang="en-US" sz="800" dirty="0"/>
          </a:p>
        </p:txBody>
      </p:sp>
      <p:sp>
        <p:nvSpPr>
          <p:cNvPr id="24" name="Shape 22"/>
          <p:cNvSpPr/>
          <p:nvPr/>
        </p:nvSpPr>
        <p:spPr>
          <a:xfrm>
            <a:off x="7040880" y="2514600"/>
            <a:ext cx="1234440" cy="256032"/>
          </a:xfrm>
          <a:prstGeom prst="rect">
            <a:avLst/>
          </a:prstGeom>
          <a:solidFill>
            <a:srgbClr val="E67E22"/>
          </a:solidFill>
          <a:ln/>
        </p:spPr>
        <p:txBody>
          <a:bodyPr/>
          <a:lstStyle/>
          <a:p>
            <a:endParaRPr lang="zh-CN" altLang="en-US"/>
          </a:p>
        </p:txBody>
      </p:sp>
      <p:sp>
        <p:nvSpPr>
          <p:cNvPr id="25" name="Text 23"/>
          <p:cNvSpPr/>
          <p:nvPr/>
        </p:nvSpPr>
        <p:spPr>
          <a:xfrm>
            <a:off x="7040880" y="2514600"/>
            <a:ext cx="1234440" cy="256032"/>
          </a:xfrm>
          <a:prstGeom prst="rect">
            <a:avLst/>
          </a:prstGeom>
          <a:noFill/>
          <a:ln/>
        </p:spPr>
        <p:txBody>
          <a:bodyPr wrap="square" rtlCol="0" anchor="ctr"/>
          <a:lstStyle/>
          <a:p>
            <a:pPr marL="0" indent="0" algn="ctr">
              <a:buNone/>
            </a:pPr>
            <a:r>
              <a:rPr lang="en-US" sz="800" b="1" dirty="0">
                <a:solidFill>
                  <a:srgbClr val="FAFAF7"/>
                </a:solidFill>
                <a:latin typeface="Calibri" pitchFamily="34" charset="0"/>
                <a:ea typeface="Calibri" pitchFamily="34" charset="-122"/>
                <a:cs typeface="Calibri" pitchFamily="34" charset="-120"/>
              </a:rPr>
              <a:t>PREP.</a:t>
            </a:r>
            <a:endParaRPr lang="en-US" sz="800" dirty="0"/>
          </a:p>
        </p:txBody>
      </p:sp>
      <p:sp>
        <p:nvSpPr>
          <p:cNvPr id="26" name="Text 24"/>
          <p:cNvSpPr/>
          <p:nvPr/>
        </p:nvSpPr>
        <p:spPr>
          <a:xfrm>
            <a:off x="8321040" y="2514600"/>
            <a:ext cx="274320" cy="256032"/>
          </a:xfrm>
          <a:prstGeom prst="rect">
            <a:avLst/>
          </a:prstGeom>
          <a:noFill/>
          <a:ln/>
        </p:spPr>
        <p:txBody>
          <a:bodyPr wrap="square" rtlCol="0" anchor="ctr"/>
          <a:lstStyle/>
          <a:p>
            <a:pPr marL="0" indent="0" algn="ctr">
              <a:buNone/>
            </a:pPr>
            <a:r>
              <a:rPr lang="en-US" sz="1200" dirty="0">
                <a:solidFill>
                  <a:srgbClr val="5D4E44"/>
                </a:solidFill>
                <a:latin typeface="Calibri" pitchFamily="34" charset="0"/>
                <a:ea typeface="Calibri" pitchFamily="34" charset="-122"/>
                <a:cs typeface="Calibri" pitchFamily="34" charset="-120"/>
              </a:rPr>
              <a:t>→</a:t>
            </a:r>
            <a:endParaRPr lang="en-US" sz="1200" dirty="0"/>
          </a:p>
        </p:txBody>
      </p:sp>
      <p:sp>
        <p:nvSpPr>
          <p:cNvPr id="27" name="Shape 25"/>
          <p:cNvSpPr/>
          <p:nvPr/>
        </p:nvSpPr>
        <p:spPr>
          <a:xfrm>
            <a:off x="8595360" y="2514600"/>
            <a:ext cx="1234440" cy="256032"/>
          </a:xfrm>
          <a:prstGeom prst="rect">
            <a:avLst/>
          </a:prstGeom>
          <a:solidFill>
            <a:srgbClr val="F39C12"/>
          </a:solidFill>
          <a:ln/>
        </p:spPr>
        <p:txBody>
          <a:bodyPr/>
          <a:lstStyle/>
          <a:p>
            <a:endParaRPr lang="zh-CN" altLang="en-US"/>
          </a:p>
        </p:txBody>
      </p:sp>
      <p:sp>
        <p:nvSpPr>
          <p:cNvPr id="28" name="Text 26"/>
          <p:cNvSpPr/>
          <p:nvPr/>
        </p:nvSpPr>
        <p:spPr>
          <a:xfrm>
            <a:off x="8595360" y="2514600"/>
            <a:ext cx="1234440" cy="256032"/>
          </a:xfrm>
          <a:prstGeom prst="rect">
            <a:avLst/>
          </a:prstGeom>
          <a:noFill/>
          <a:ln/>
        </p:spPr>
        <p:txBody>
          <a:bodyPr wrap="square" rtlCol="0" anchor="ctr"/>
          <a:lstStyle/>
          <a:p>
            <a:pPr marL="0" indent="0" algn="ctr">
              <a:buNone/>
            </a:pPr>
            <a:r>
              <a:rPr lang="en-US" sz="800" b="1" dirty="0">
                <a:solidFill>
                  <a:srgbClr val="2C1810"/>
                </a:solidFill>
                <a:latin typeface="Calibri" pitchFamily="34" charset="0"/>
                <a:ea typeface="Calibri" pitchFamily="34" charset="-122"/>
                <a:cs typeface="Calibri" pitchFamily="34" charset="-120"/>
              </a:rPr>
              <a:t>READY</a:t>
            </a:r>
            <a:endParaRPr lang="en-US" sz="800" dirty="0"/>
          </a:p>
        </p:txBody>
      </p:sp>
      <p:sp>
        <p:nvSpPr>
          <p:cNvPr id="29" name="Text 27"/>
          <p:cNvSpPr/>
          <p:nvPr/>
        </p:nvSpPr>
        <p:spPr>
          <a:xfrm>
            <a:off x="9921240" y="2514600"/>
            <a:ext cx="1417320" cy="256032"/>
          </a:xfrm>
          <a:prstGeom prst="rect">
            <a:avLst/>
          </a:prstGeom>
          <a:noFill/>
          <a:ln/>
        </p:spPr>
        <p:txBody>
          <a:bodyPr wrap="square" rtlCol="0" anchor="ctr"/>
          <a:lstStyle/>
          <a:p>
            <a:pPr marL="0" indent="0">
              <a:buNone/>
            </a:pPr>
            <a:r>
              <a:rPr lang="en-US" sz="800" dirty="0">
                <a:solidFill>
                  <a:srgbClr val="5D4E44"/>
                </a:solidFill>
                <a:latin typeface="Calibri" pitchFamily="34" charset="0"/>
                <a:ea typeface="Calibri" pitchFamily="34" charset="-122"/>
                <a:cs typeface="Calibri" pitchFamily="34" charset="-120"/>
              </a:rPr>
              <a:t>TF1∈745~755°C</a:t>
            </a:r>
            <a:endParaRPr lang="en-US" sz="800" dirty="0"/>
          </a:p>
        </p:txBody>
      </p:sp>
      <p:sp>
        <p:nvSpPr>
          <p:cNvPr id="30" name="Shape 28"/>
          <p:cNvSpPr/>
          <p:nvPr/>
        </p:nvSpPr>
        <p:spPr>
          <a:xfrm>
            <a:off x="7040880" y="2834640"/>
            <a:ext cx="1234440" cy="256032"/>
          </a:xfrm>
          <a:prstGeom prst="rect">
            <a:avLst/>
          </a:prstGeom>
          <a:solidFill>
            <a:srgbClr val="E67E22"/>
          </a:solidFill>
          <a:ln/>
        </p:spPr>
        <p:txBody>
          <a:bodyPr/>
          <a:lstStyle/>
          <a:p>
            <a:endParaRPr lang="zh-CN" altLang="en-US"/>
          </a:p>
        </p:txBody>
      </p:sp>
      <p:sp>
        <p:nvSpPr>
          <p:cNvPr id="31" name="Text 29"/>
          <p:cNvSpPr/>
          <p:nvPr/>
        </p:nvSpPr>
        <p:spPr>
          <a:xfrm>
            <a:off x="7040880" y="2834640"/>
            <a:ext cx="1234440" cy="256032"/>
          </a:xfrm>
          <a:prstGeom prst="rect">
            <a:avLst/>
          </a:prstGeom>
          <a:noFill/>
          <a:ln/>
        </p:spPr>
        <p:txBody>
          <a:bodyPr wrap="square" rtlCol="0" anchor="ctr"/>
          <a:lstStyle/>
          <a:p>
            <a:pPr marL="0" indent="0" algn="ctr">
              <a:buNone/>
            </a:pPr>
            <a:r>
              <a:rPr lang="en-US" sz="800" b="1" dirty="0">
                <a:solidFill>
                  <a:srgbClr val="FAFAF7"/>
                </a:solidFill>
                <a:latin typeface="Calibri" pitchFamily="34" charset="0"/>
                <a:ea typeface="Calibri" pitchFamily="34" charset="-122"/>
                <a:cs typeface="Calibri" pitchFamily="34" charset="-120"/>
              </a:rPr>
              <a:t>READY</a:t>
            </a:r>
            <a:endParaRPr lang="en-US" sz="800" dirty="0"/>
          </a:p>
        </p:txBody>
      </p:sp>
      <p:sp>
        <p:nvSpPr>
          <p:cNvPr id="32" name="Text 30"/>
          <p:cNvSpPr/>
          <p:nvPr/>
        </p:nvSpPr>
        <p:spPr>
          <a:xfrm>
            <a:off x="8321040" y="2834640"/>
            <a:ext cx="274320" cy="256032"/>
          </a:xfrm>
          <a:prstGeom prst="rect">
            <a:avLst/>
          </a:prstGeom>
          <a:noFill/>
          <a:ln/>
        </p:spPr>
        <p:txBody>
          <a:bodyPr wrap="square" rtlCol="0" anchor="ctr"/>
          <a:lstStyle/>
          <a:p>
            <a:pPr marL="0" indent="0" algn="ctr">
              <a:buNone/>
            </a:pPr>
            <a:r>
              <a:rPr lang="en-US" sz="1200" dirty="0">
                <a:solidFill>
                  <a:srgbClr val="5D4E44"/>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8595360" y="2834640"/>
            <a:ext cx="1234440" cy="256032"/>
          </a:xfrm>
          <a:prstGeom prst="rect">
            <a:avLst/>
          </a:prstGeom>
          <a:solidFill>
            <a:srgbClr val="F39C12"/>
          </a:solidFill>
          <a:ln/>
        </p:spPr>
        <p:txBody>
          <a:bodyPr/>
          <a:lstStyle/>
          <a:p>
            <a:endParaRPr lang="zh-CN" altLang="en-US"/>
          </a:p>
        </p:txBody>
      </p:sp>
      <p:sp>
        <p:nvSpPr>
          <p:cNvPr id="34" name="Text 32"/>
          <p:cNvSpPr/>
          <p:nvPr/>
        </p:nvSpPr>
        <p:spPr>
          <a:xfrm>
            <a:off x="8595360" y="2834640"/>
            <a:ext cx="1234440" cy="256032"/>
          </a:xfrm>
          <a:prstGeom prst="rect">
            <a:avLst/>
          </a:prstGeom>
          <a:noFill/>
          <a:ln/>
        </p:spPr>
        <p:txBody>
          <a:bodyPr wrap="square" rtlCol="0" anchor="ctr"/>
          <a:lstStyle/>
          <a:p>
            <a:pPr marL="0" indent="0" algn="ctr">
              <a:buNone/>
            </a:pPr>
            <a:r>
              <a:rPr lang="en-US" sz="800" b="1" dirty="0">
                <a:solidFill>
                  <a:srgbClr val="2C1810"/>
                </a:solidFill>
                <a:latin typeface="Calibri" pitchFamily="34" charset="0"/>
                <a:ea typeface="Calibri" pitchFamily="34" charset="-122"/>
                <a:cs typeface="Calibri" pitchFamily="34" charset="-120"/>
              </a:rPr>
              <a:t>RECORD.</a:t>
            </a:r>
            <a:endParaRPr lang="en-US" sz="800" dirty="0"/>
          </a:p>
        </p:txBody>
      </p:sp>
      <p:sp>
        <p:nvSpPr>
          <p:cNvPr id="35" name="Text 33"/>
          <p:cNvSpPr/>
          <p:nvPr/>
        </p:nvSpPr>
        <p:spPr>
          <a:xfrm>
            <a:off x="9921240" y="2834640"/>
            <a:ext cx="1417320" cy="256032"/>
          </a:xfrm>
          <a:prstGeom prst="rect">
            <a:avLst/>
          </a:prstGeom>
          <a:noFill/>
          <a:ln/>
        </p:spPr>
        <p:txBody>
          <a:bodyPr wrap="square" rtlCol="0" anchor="ctr"/>
          <a:lstStyle/>
          <a:p>
            <a:pPr marL="0" indent="0">
              <a:buNone/>
            </a:pPr>
            <a:r>
              <a:rPr lang="en-US" sz="800" dirty="0">
                <a:solidFill>
                  <a:srgbClr val="5D4E44"/>
                </a:solidFill>
                <a:latin typeface="Calibri" pitchFamily="34" charset="0"/>
                <a:ea typeface="Calibri" pitchFamily="34" charset="-122"/>
                <a:cs typeface="Calibri" pitchFamily="34" charset="-120"/>
              </a:rPr>
              <a:t>点击开始记录</a:t>
            </a:r>
            <a:endParaRPr lang="en-US" sz="800" dirty="0"/>
          </a:p>
        </p:txBody>
      </p:sp>
      <p:sp>
        <p:nvSpPr>
          <p:cNvPr id="36" name="Shape 34"/>
          <p:cNvSpPr/>
          <p:nvPr/>
        </p:nvSpPr>
        <p:spPr>
          <a:xfrm>
            <a:off x="7040880" y="3154680"/>
            <a:ext cx="1234440" cy="256032"/>
          </a:xfrm>
          <a:prstGeom prst="rect">
            <a:avLst/>
          </a:prstGeom>
          <a:solidFill>
            <a:srgbClr val="E67E22"/>
          </a:solidFill>
          <a:ln/>
        </p:spPr>
        <p:txBody>
          <a:bodyPr/>
          <a:lstStyle/>
          <a:p>
            <a:endParaRPr lang="zh-CN" altLang="en-US"/>
          </a:p>
        </p:txBody>
      </p:sp>
      <p:sp>
        <p:nvSpPr>
          <p:cNvPr id="37" name="Text 35"/>
          <p:cNvSpPr/>
          <p:nvPr/>
        </p:nvSpPr>
        <p:spPr>
          <a:xfrm>
            <a:off x="7040880" y="3154680"/>
            <a:ext cx="1234440" cy="256032"/>
          </a:xfrm>
          <a:prstGeom prst="rect">
            <a:avLst/>
          </a:prstGeom>
          <a:noFill/>
          <a:ln/>
        </p:spPr>
        <p:txBody>
          <a:bodyPr wrap="square" rtlCol="0" anchor="ctr"/>
          <a:lstStyle/>
          <a:p>
            <a:pPr marL="0" indent="0" algn="ctr">
              <a:buNone/>
            </a:pPr>
            <a:r>
              <a:rPr lang="en-US" sz="800" b="1" dirty="0">
                <a:solidFill>
                  <a:srgbClr val="FAFAF7"/>
                </a:solidFill>
                <a:latin typeface="Calibri" pitchFamily="34" charset="0"/>
                <a:ea typeface="Calibri" pitchFamily="34" charset="-122"/>
                <a:cs typeface="Calibri" pitchFamily="34" charset="-120"/>
              </a:rPr>
              <a:t>RECORD.</a:t>
            </a:r>
            <a:endParaRPr lang="en-US" sz="800" dirty="0"/>
          </a:p>
        </p:txBody>
      </p:sp>
      <p:sp>
        <p:nvSpPr>
          <p:cNvPr id="38" name="Text 36"/>
          <p:cNvSpPr/>
          <p:nvPr/>
        </p:nvSpPr>
        <p:spPr>
          <a:xfrm>
            <a:off x="8321040" y="3154680"/>
            <a:ext cx="274320" cy="256032"/>
          </a:xfrm>
          <a:prstGeom prst="rect">
            <a:avLst/>
          </a:prstGeom>
          <a:noFill/>
          <a:ln/>
        </p:spPr>
        <p:txBody>
          <a:bodyPr wrap="square" rtlCol="0" anchor="ctr"/>
          <a:lstStyle/>
          <a:p>
            <a:pPr marL="0" indent="0" algn="ctr">
              <a:buNone/>
            </a:pPr>
            <a:r>
              <a:rPr lang="en-US" sz="1200" dirty="0">
                <a:solidFill>
                  <a:srgbClr val="5D4E44"/>
                </a:solidFill>
                <a:latin typeface="Calibri" pitchFamily="34" charset="0"/>
                <a:ea typeface="Calibri" pitchFamily="34" charset="-122"/>
                <a:cs typeface="Calibri" pitchFamily="34" charset="-120"/>
              </a:rPr>
              <a:t>→</a:t>
            </a:r>
            <a:endParaRPr lang="en-US" sz="1200" dirty="0"/>
          </a:p>
        </p:txBody>
      </p:sp>
      <p:sp>
        <p:nvSpPr>
          <p:cNvPr id="39" name="Shape 37"/>
          <p:cNvSpPr/>
          <p:nvPr/>
        </p:nvSpPr>
        <p:spPr>
          <a:xfrm>
            <a:off x="8595360" y="3154680"/>
            <a:ext cx="1234440" cy="256032"/>
          </a:xfrm>
          <a:prstGeom prst="rect">
            <a:avLst/>
          </a:prstGeom>
          <a:solidFill>
            <a:srgbClr val="F39C12"/>
          </a:solidFill>
          <a:ln/>
        </p:spPr>
        <p:txBody>
          <a:bodyPr/>
          <a:lstStyle/>
          <a:p>
            <a:endParaRPr lang="zh-CN" altLang="en-US"/>
          </a:p>
        </p:txBody>
      </p:sp>
      <p:sp>
        <p:nvSpPr>
          <p:cNvPr id="40" name="Text 38"/>
          <p:cNvSpPr/>
          <p:nvPr/>
        </p:nvSpPr>
        <p:spPr>
          <a:xfrm>
            <a:off x="8595360" y="3154680"/>
            <a:ext cx="1234440" cy="256032"/>
          </a:xfrm>
          <a:prstGeom prst="rect">
            <a:avLst/>
          </a:prstGeom>
          <a:noFill/>
          <a:ln/>
        </p:spPr>
        <p:txBody>
          <a:bodyPr wrap="square" rtlCol="0" anchor="ctr"/>
          <a:lstStyle/>
          <a:p>
            <a:pPr marL="0" indent="0" algn="ctr">
              <a:buNone/>
            </a:pPr>
            <a:r>
              <a:rPr lang="en-US" sz="800" b="1" dirty="0">
                <a:solidFill>
                  <a:srgbClr val="2C1810"/>
                </a:solidFill>
                <a:latin typeface="Calibri" pitchFamily="34" charset="0"/>
                <a:ea typeface="Calibri" pitchFamily="34" charset="-122"/>
                <a:cs typeface="Calibri" pitchFamily="34" charset="-120"/>
              </a:rPr>
              <a:t>COMPLETE</a:t>
            </a:r>
            <a:endParaRPr lang="en-US" sz="800" dirty="0"/>
          </a:p>
        </p:txBody>
      </p:sp>
      <p:sp>
        <p:nvSpPr>
          <p:cNvPr id="41" name="Text 39"/>
          <p:cNvSpPr/>
          <p:nvPr/>
        </p:nvSpPr>
        <p:spPr>
          <a:xfrm>
            <a:off x="9921240" y="3154680"/>
            <a:ext cx="1417320" cy="256032"/>
          </a:xfrm>
          <a:prstGeom prst="rect">
            <a:avLst/>
          </a:prstGeom>
          <a:noFill/>
          <a:ln/>
        </p:spPr>
        <p:txBody>
          <a:bodyPr wrap="square" rtlCol="0" anchor="ctr"/>
          <a:lstStyle/>
          <a:p>
            <a:pPr marL="0" indent="0">
              <a:buNone/>
            </a:pPr>
            <a:r>
              <a:rPr lang="en-US" sz="800" dirty="0">
                <a:solidFill>
                  <a:srgbClr val="5D4E44"/>
                </a:solidFill>
                <a:latin typeface="Calibri" pitchFamily="34" charset="0"/>
                <a:ea typeface="Calibri" pitchFamily="34" charset="-122"/>
                <a:cs typeface="Calibri" pitchFamily="34" charset="-120"/>
              </a:rPr>
              <a:t>终止条件 / 手动</a:t>
            </a:r>
            <a:endParaRPr lang="en-US" sz="800" dirty="0"/>
          </a:p>
        </p:txBody>
      </p:sp>
      <p:sp>
        <p:nvSpPr>
          <p:cNvPr id="42" name="Shape 40"/>
          <p:cNvSpPr/>
          <p:nvPr/>
        </p:nvSpPr>
        <p:spPr>
          <a:xfrm>
            <a:off x="7040880" y="3474720"/>
            <a:ext cx="1234440" cy="256032"/>
          </a:xfrm>
          <a:prstGeom prst="rect">
            <a:avLst/>
          </a:prstGeom>
          <a:solidFill>
            <a:srgbClr val="E67E22"/>
          </a:solidFill>
          <a:ln/>
        </p:spPr>
        <p:txBody>
          <a:bodyPr/>
          <a:lstStyle/>
          <a:p>
            <a:endParaRPr lang="zh-CN" altLang="en-US"/>
          </a:p>
        </p:txBody>
      </p:sp>
      <p:sp>
        <p:nvSpPr>
          <p:cNvPr id="43" name="Text 41"/>
          <p:cNvSpPr/>
          <p:nvPr/>
        </p:nvSpPr>
        <p:spPr>
          <a:xfrm>
            <a:off x="7040880" y="3474720"/>
            <a:ext cx="1234440" cy="256032"/>
          </a:xfrm>
          <a:prstGeom prst="rect">
            <a:avLst/>
          </a:prstGeom>
          <a:noFill/>
          <a:ln/>
        </p:spPr>
        <p:txBody>
          <a:bodyPr wrap="square" rtlCol="0" anchor="ctr"/>
          <a:lstStyle/>
          <a:p>
            <a:pPr marL="0" indent="0" algn="ctr">
              <a:buNone/>
            </a:pPr>
            <a:r>
              <a:rPr lang="en-US" sz="800" b="1" dirty="0">
                <a:solidFill>
                  <a:srgbClr val="FAFAF7"/>
                </a:solidFill>
                <a:latin typeface="Calibri" pitchFamily="34" charset="0"/>
                <a:ea typeface="Calibri" pitchFamily="34" charset="-122"/>
                <a:cs typeface="Calibri" pitchFamily="34" charset="-120"/>
              </a:rPr>
              <a:t>COMPLETE</a:t>
            </a:r>
            <a:endParaRPr lang="en-US" sz="800" dirty="0"/>
          </a:p>
        </p:txBody>
      </p:sp>
      <p:sp>
        <p:nvSpPr>
          <p:cNvPr id="44" name="Text 42"/>
          <p:cNvSpPr/>
          <p:nvPr/>
        </p:nvSpPr>
        <p:spPr>
          <a:xfrm>
            <a:off x="8321040" y="3474720"/>
            <a:ext cx="274320" cy="256032"/>
          </a:xfrm>
          <a:prstGeom prst="rect">
            <a:avLst/>
          </a:prstGeom>
          <a:noFill/>
          <a:ln/>
        </p:spPr>
        <p:txBody>
          <a:bodyPr wrap="square" rtlCol="0" anchor="ctr"/>
          <a:lstStyle/>
          <a:p>
            <a:pPr marL="0" indent="0" algn="ctr">
              <a:buNone/>
            </a:pPr>
            <a:r>
              <a:rPr lang="en-US" sz="1200" dirty="0">
                <a:solidFill>
                  <a:srgbClr val="5D4E44"/>
                </a:solidFill>
                <a:latin typeface="Calibri" pitchFamily="34" charset="0"/>
                <a:ea typeface="Calibri" pitchFamily="34" charset="-122"/>
                <a:cs typeface="Calibri" pitchFamily="34" charset="-120"/>
              </a:rPr>
              <a:t>→</a:t>
            </a:r>
            <a:endParaRPr lang="en-US" sz="1200" dirty="0"/>
          </a:p>
        </p:txBody>
      </p:sp>
      <p:sp>
        <p:nvSpPr>
          <p:cNvPr id="45" name="Shape 43"/>
          <p:cNvSpPr/>
          <p:nvPr/>
        </p:nvSpPr>
        <p:spPr>
          <a:xfrm>
            <a:off x="8595360" y="3474720"/>
            <a:ext cx="1234440" cy="256032"/>
          </a:xfrm>
          <a:prstGeom prst="rect">
            <a:avLst/>
          </a:prstGeom>
          <a:solidFill>
            <a:srgbClr val="F39C12"/>
          </a:solidFill>
          <a:ln/>
        </p:spPr>
        <p:txBody>
          <a:bodyPr/>
          <a:lstStyle/>
          <a:p>
            <a:endParaRPr lang="zh-CN" altLang="en-US"/>
          </a:p>
        </p:txBody>
      </p:sp>
      <p:sp>
        <p:nvSpPr>
          <p:cNvPr id="46" name="Text 44"/>
          <p:cNvSpPr/>
          <p:nvPr/>
        </p:nvSpPr>
        <p:spPr>
          <a:xfrm>
            <a:off x="8595360" y="3474720"/>
            <a:ext cx="1234440" cy="256032"/>
          </a:xfrm>
          <a:prstGeom prst="rect">
            <a:avLst/>
          </a:prstGeom>
          <a:noFill/>
          <a:ln/>
        </p:spPr>
        <p:txBody>
          <a:bodyPr wrap="square" rtlCol="0" anchor="ctr"/>
          <a:lstStyle/>
          <a:p>
            <a:pPr marL="0" indent="0" algn="ctr">
              <a:buNone/>
            </a:pPr>
            <a:r>
              <a:rPr lang="en-US" sz="800" b="1" dirty="0">
                <a:solidFill>
                  <a:srgbClr val="2C1810"/>
                </a:solidFill>
                <a:latin typeface="Calibri" pitchFamily="34" charset="0"/>
                <a:ea typeface="Calibri" pitchFamily="34" charset="-122"/>
                <a:cs typeface="Calibri" pitchFamily="34" charset="-120"/>
              </a:rPr>
              <a:t>PREP.</a:t>
            </a:r>
            <a:endParaRPr lang="en-US" sz="800" dirty="0"/>
          </a:p>
        </p:txBody>
      </p:sp>
      <p:sp>
        <p:nvSpPr>
          <p:cNvPr id="47" name="Text 45"/>
          <p:cNvSpPr/>
          <p:nvPr/>
        </p:nvSpPr>
        <p:spPr>
          <a:xfrm>
            <a:off x="9921240" y="3474720"/>
            <a:ext cx="1417320" cy="256032"/>
          </a:xfrm>
          <a:prstGeom prst="rect">
            <a:avLst/>
          </a:prstGeom>
          <a:noFill/>
          <a:ln/>
        </p:spPr>
        <p:txBody>
          <a:bodyPr wrap="square" rtlCol="0" anchor="ctr"/>
          <a:lstStyle/>
          <a:p>
            <a:pPr marL="0" indent="0">
              <a:buNone/>
            </a:pPr>
            <a:r>
              <a:rPr lang="en-US" sz="800" dirty="0">
                <a:solidFill>
                  <a:srgbClr val="5D4E44"/>
                </a:solidFill>
                <a:latin typeface="Calibri" pitchFamily="34" charset="0"/>
                <a:ea typeface="Calibri" pitchFamily="34" charset="-122"/>
                <a:cs typeface="Calibri" pitchFamily="34" charset="-120"/>
              </a:rPr>
              <a:t>保存试验记录</a:t>
            </a:r>
            <a:endParaRPr lang="en-US" sz="800" dirty="0"/>
          </a:p>
        </p:txBody>
      </p:sp>
      <p:sp>
        <p:nvSpPr>
          <p:cNvPr id="48" name="Shape 46"/>
          <p:cNvSpPr/>
          <p:nvPr/>
        </p:nvSpPr>
        <p:spPr>
          <a:xfrm>
            <a:off x="548640" y="4206240"/>
            <a:ext cx="594360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49" name="Shape 47"/>
          <p:cNvSpPr/>
          <p:nvPr/>
        </p:nvSpPr>
        <p:spPr>
          <a:xfrm>
            <a:off x="548640" y="4206240"/>
            <a:ext cx="5943600" cy="54864"/>
          </a:xfrm>
          <a:prstGeom prst="rect">
            <a:avLst/>
          </a:prstGeom>
          <a:solidFill>
            <a:srgbClr val="D35400"/>
          </a:solidFill>
          <a:ln/>
        </p:spPr>
        <p:txBody>
          <a:bodyPr/>
          <a:lstStyle/>
          <a:p>
            <a:endParaRPr lang="zh-CN" altLang="en-US"/>
          </a:p>
        </p:txBody>
      </p:sp>
      <p:sp>
        <p:nvSpPr>
          <p:cNvPr id="50" name="Text 48"/>
          <p:cNvSpPr/>
          <p:nvPr/>
        </p:nvSpPr>
        <p:spPr>
          <a:xfrm>
            <a:off x="822960" y="4389120"/>
            <a:ext cx="5394960" cy="320040"/>
          </a:xfrm>
          <a:prstGeom prst="rect">
            <a:avLst/>
          </a:prstGeom>
          <a:noFill/>
          <a:ln/>
        </p:spPr>
        <p:txBody>
          <a:bodyPr wrap="square" rtlCol="0" anchor="ctr"/>
          <a:lstStyle/>
          <a:p>
            <a:pPr marL="0" indent="0">
              <a:buNone/>
            </a:pPr>
            <a:r>
              <a:rPr lang="en-US" sz="1300" b="1" dirty="0">
                <a:solidFill>
                  <a:srgbClr val="2C1810"/>
                </a:solidFill>
                <a:latin typeface="Microsoft YaHei" pitchFamily="34" charset="0"/>
                <a:ea typeface="Microsoft YaHei" pitchFamily="34" charset="-122"/>
                <a:cs typeface="Microsoft YaHei" pitchFamily="34" charset="-120"/>
              </a:rPr>
              <a:t>终止条件判定逻辑</a:t>
            </a:r>
            <a:endParaRPr lang="en-US" sz="1300" dirty="0"/>
          </a:p>
        </p:txBody>
      </p:sp>
      <p:sp>
        <p:nvSpPr>
          <p:cNvPr id="51" name="Text 49"/>
          <p:cNvSpPr/>
          <p:nvPr/>
        </p:nvSpPr>
        <p:spPr>
          <a:xfrm>
            <a:off x="822960" y="4754880"/>
            <a:ext cx="5394960" cy="228600"/>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标准 60 分钟模式：每 5 分钟检查一次（1800/2100/2400/2700/3000/3300s）</a:t>
            </a:r>
            <a:endParaRPr lang="en-US" sz="1000" dirty="0"/>
          </a:p>
        </p:txBody>
      </p:sp>
      <p:sp>
        <p:nvSpPr>
          <p:cNvPr id="52" name="Text 50"/>
          <p:cNvSpPr/>
          <p:nvPr/>
        </p:nvSpPr>
        <p:spPr>
          <a:xfrm>
            <a:off x="822960" y="5010912"/>
            <a:ext cx="5394960" cy="228600"/>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判定条件：10 分钟温漂有效 AND TF1/TF2 温漂 ≤ 2°C/10min</a:t>
            </a:r>
            <a:endParaRPr lang="en-US" sz="1000" dirty="0"/>
          </a:p>
        </p:txBody>
      </p:sp>
      <p:sp>
        <p:nvSpPr>
          <p:cNvPr id="53" name="Text 51"/>
          <p:cNvSpPr/>
          <p:nvPr/>
        </p:nvSpPr>
        <p:spPr>
          <a:xfrm>
            <a:off x="822960" y="5266944"/>
            <a:ext cx="5394960" cy="228600"/>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无条件终止：t = 3600s</a:t>
            </a:r>
            <a:endParaRPr lang="en-US" sz="1000" dirty="0"/>
          </a:p>
        </p:txBody>
      </p:sp>
      <p:sp>
        <p:nvSpPr>
          <p:cNvPr id="54" name="Text 52"/>
          <p:cNvSpPr/>
          <p:nvPr/>
        </p:nvSpPr>
        <p:spPr>
          <a:xfrm>
            <a:off x="822960" y="5522976"/>
            <a:ext cx="5394960" cy="228600"/>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手动终止：用户随时点击停止（有有效样本→Complete，否则→Preparing）</a:t>
            </a:r>
            <a:endParaRPr lang="en-US" sz="1000" dirty="0"/>
          </a:p>
        </p:txBody>
      </p:sp>
      <p:sp>
        <p:nvSpPr>
          <p:cNvPr id="55" name="Text 53"/>
          <p:cNvSpPr/>
          <p:nvPr/>
        </p:nvSpPr>
        <p:spPr>
          <a:xfrm>
            <a:off x="822960" y="5779008"/>
            <a:ext cx="5394960" cy="228600"/>
          </a:xfrm>
          <a:prstGeom prst="rect">
            <a:avLst/>
          </a:prstGeom>
          <a:noFill/>
          <a:ln/>
        </p:spPr>
        <p:txBody>
          <a:bodyPr wrap="square" rtlCol="0" anchor="ctr"/>
          <a:lstStyle/>
          <a:p>
            <a:pPr marL="0" indent="0">
              <a:buNone/>
            </a:pPr>
            <a:r>
              <a:rPr lang="en-US" sz="1000" dirty="0">
                <a:solidFill>
                  <a:srgbClr val="2C1810"/>
                </a:solidFill>
                <a:latin typeface="Calibri" pitchFamily="34" charset="0"/>
                <a:ea typeface="Calibri" pitchFamily="34" charset="-122"/>
                <a:cs typeface="Calibri" pitchFamily="34" charset="-120"/>
              </a:rPr>
              <a:t>最终判定公式：passed = ΔTF ≤ 50 AND 失重率 ≤ 50% AND 火焰 &lt; 5s</a:t>
            </a:r>
            <a:endParaRPr lang="en-US" sz="1000" dirty="0"/>
          </a:p>
        </p:txBody>
      </p:sp>
      <p:sp>
        <p:nvSpPr>
          <p:cNvPr id="56" name="Shape 54"/>
          <p:cNvSpPr/>
          <p:nvPr/>
        </p:nvSpPr>
        <p:spPr>
          <a:xfrm>
            <a:off x="6766560" y="4206240"/>
            <a:ext cx="4846320" cy="210312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57" name="Shape 55"/>
          <p:cNvSpPr/>
          <p:nvPr/>
        </p:nvSpPr>
        <p:spPr>
          <a:xfrm>
            <a:off x="6766560" y="4206240"/>
            <a:ext cx="4846320" cy="54864"/>
          </a:xfrm>
          <a:prstGeom prst="rect">
            <a:avLst/>
          </a:prstGeom>
          <a:solidFill>
            <a:srgbClr val="E67E22"/>
          </a:solidFill>
          <a:ln/>
        </p:spPr>
        <p:txBody>
          <a:bodyPr/>
          <a:lstStyle/>
          <a:p>
            <a:endParaRPr lang="zh-CN" altLang="en-US"/>
          </a:p>
        </p:txBody>
      </p:sp>
      <p:sp>
        <p:nvSpPr>
          <p:cNvPr id="58" name="Text 56"/>
          <p:cNvSpPr/>
          <p:nvPr/>
        </p:nvSpPr>
        <p:spPr>
          <a:xfrm>
            <a:off x="7040880" y="4389120"/>
            <a:ext cx="4297680" cy="320040"/>
          </a:xfrm>
          <a:prstGeom prst="rect">
            <a:avLst/>
          </a:prstGeom>
          <a:noFill/>
          <a:ln/>
        </p:spPr>
        <p:txBody>
          <a:bodyPr wrap="square" rtlCol="0" anchor="ctr"/>
          <a:lstStyle/>
          <a:p>
            <a:pPr marL="0" indent="0">
              <a:buNone/>
            </a:pPr>
            <a:r>
              <a:rPr lang="en-US" sz="1300" b="1" dirty="0">
                <a:solidFill>
                  <a:srgbClr val="2C1810"/>
                </a:solidFill>
                <a:latin typeface="Microsoft YaHei" pitchFamily="34" charset="0"/>
                <a:ea typeface="Microsoft YaHei" pitchFamily="34" charset="-122"/>
                <a:cs typeface="Microsoft YaHei" pitchFamily="34" charset="-120"/>
              </a:rPr>
              <a:t>按钮状态控制矩阵</a:t>
            </a:r>
            <a:endParaRPr lang="en-US" sz="13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6903720" y="4754880"/>
          <a:ext cx="4572000" cy="1536192"/>
        </p:xfrm>
        <a:graphic>
          <a:graphicData uri="http://schemas.openxmlformats.org/drawingml/2006/table">
            <a:tbl>
              <a:tblPr/>
              <a:tblGrid>
                <a:gridCol w="1051560">
                  <a:extLst>
                    <a:ext uri="{9D8B030D-6E8A-4147-A177-3AD203B41FA5}">
                      <a16:colId xmlns:a16="http://schemas.microsoft.com/office/drawing/2014/main" val="20000"/>
                    </a:ext>
                  </a:extLst>
                </a:gridCol>
                <a:gridCol w="704088">
                  <a:extLst>
                    <a:ext uri="{9D8B030D-6E8A-4147-A177-3AD203B41FA5}">
                      <a16:colId xmlns:a16="http://schemas.microsoft.com/office/drawing/2014/main" val="20001"/>
                    </a:ext>
                  </a:extLst>
                </a:gridCol>
                <a:gridCol w="704088">
                  <a:extLst>
                    <a:ext uri="{9D8B030D-6E8A-4147-A177-3AD203B41FA5}">
                      <a16:colId xmlns:a16="http://schemas.microsoft.com/office/drawing/2014/main" val="20002"/>
                    </a:ext>
                  </a:extLst>
                </a:gridCol>
                <a:gridCol w="704088">
                  <a:extLst>
                    <a:ext uri="{9D8B030D-6E8A-4147-A177-3AD203B41FA5}">
                      <a16:colId xmlns:a16="http://schemas.microsoft.com/office/drawing/2014/main" val="20003"/>
                    </a:ext>
                  </a:extLst>
                </a:gridCol>
                <a:gridCol w="704088">
                  <a:extLst>
                    <a:ext uri="{9D8B030D-6E8A-4147-A177-3AD203B41FA5}">
                      <a16:colId xmlns:a16="http://schemas.microsoft.com/office/drawing/2014/main" val="20004"/>
                    </a:ext>
                  </a:extLst>
                </a:gridCol>
                <a:gridCol w="704088">
                  <a:extLst>
                    <a:ext uri="{9D8B030D-6E8A-4147-A177-3AD203B41FA5}">
                      <a16:colId xmlns:a16="http://schemas.microsoft.com/office/drawing/2014/main" val="20005"/>
                    </a:ext>
                  </a:extLst>
                </a:gridCol>
              </a:tblGrid>
              <a:tr h="256032">
                <a:tc>
                  <a:txBody>
                    <a:bodyPr/>
                    <a:lstStyle/>
                    <a:p>
                      <a:pPr marL="0" indent="0" algn="ctr">
                        <a:buNone/>
                      </a:pPr>
                      <a:r>
                        <a:rPr lang="en-US" sz="900" b="1" dirty="0">
                          <a:solidFill>
                            <a:srgbClr val="2C1810"/>
                          </a:solidFill>
                          <a:latin typeface="Calibri" pitchFamily="34" charset="0"/>
                          <a:ea typeface="Calibri" pitchFamily="34" charset="-122"/>
                          <a:cs typeface="Calibri" pitchFamily="34" charset="-120"/>
                        </a:rPr>
                        <a:t>按钮</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FFF3E0"/>
                    </a:solidFill>
                  </a:tcPr>
                </a:tc>
                <a:tc>
                  <a:txBody>
                    <a:bodyPr/>
                    <a:lstStyle/>
                    <a:p>
                      <a:pPr marL="0" indent="0" algn="ctr">
                        <a:buNone/>
                      </a:pPr>
                      <a:r>
                        <a:rPr lang="en-US" sz="900" b="1" dirty="0">
                          <a:solidFill>
                            <a:srgbClr val="2C1810"/>
                          </a:solidFill>
                          <a:latin typeface="Calibri" pitchFamily="34" charset="0"/>
                          <a:ea typeface="Calibri" pitchFamily="34" charset="-122"/>
                          <a:cs typeface="Calibri" pitchFamily="34" charset="-120"/>
                        </a:rPr>
                        <a:t>IDLE</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FFF3E0"/>
                    </a:solidFill>
                  </a:tcPr>
                </a:tc>
                <a:tc>
                  <a:txBody>
                    <a:bodyPr/>
                    <a:lstStyle/>
                    <a:p>
                      <a:pPr marL="0" indent="0" algn="ctr">
                        <a:buNone/>
                      </a:pPr>
                      <a:r>
                        <a:rPr lang="en-US" sz="900" b="1" dirty="0">
                          <a:solidFill>
                            <a:srgbClr val="2C1810"/>
                          </a:solidFill>
                          <a:latin typeface="Calibri" pitchFamily="34" charset="0"/>
                          <a:ea typeface="Calibri" pitchFamily="34" charset="-122"/>
                          <a:cs typeface="Calibri" pitchFamily="34" charset="-120"/>
                        </a:rPr>
                        <a:t>PREP</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FFF3E0"/>
                    </a:solidFill>
                  </a:tcPr>
                </a:tc>
                <a:tc>
                  <a:txBody>
                    <a:bodyPr/>
                    <a:lstStyle/>
                    <a:p>
                      <a:pPr marL="0" indent="0" algn="ctr">
                        <a:buNone/>
                      </a:pPr>
                      <a:r>
                        <a:rPr lang="en-US" sz="900" b="1" dirty="0">
                          <a:solidFill>
                            <a:srgbClr val="2C1810"/>
                          </a:solidFill>
                          <a:latin typeface="Calibri" pitchFamily="34" charset="0"/>
                          <a:ea typeface="Calibri" pitchFamily="34" charset="-122"/>
                          <a:cs typeface="Calibri" pitchFamily="34" charset="-120"/>
                        </a:rPr>
                        <a:t>READY</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FFF3E0"/>
                    </a:solidFill>
                  </a:tcPr>
                </a:tc>
                <a:tc>
                  <a:txBody>
                    <a:bodyPr/>
                    <a:lstStyle/>
                    <a:p>
                      <a:pPr marL="0" indent="0" algn="ctr">
                        <a:buNone/>
                      </a:pPr>
                      <a:r>
                        <a:rPr lang="en-US" sz="900" b="1" dirty="0">
                          <a:solidFill>
                            <a:srgbClr val="2C1810"/>
                          </a:solidFill>
                          <a:latin typeface="Calibri" pitchFamily="34" charset="0"/>
                          <a:ea typeface="Calibri" pitchFamily="34" charset="-122"/>
                          <a:cs typeface="Calibri" pitchFamily="34" charset="-120"/>
                        </a:rPr>
                        <a:t>REC</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FFF3E0"/>
                    </a:solidFill>
                  </a:tcPr>
                </a:tc>
                <a:tc>
                  <a:txBody>
                    <a:bodyPr/>
                    <a:lstStyle/>
                    <a:p>
                      <a:pPr marL="0" indent="0" algn="ctr">
                        <a:buNone/>
                      </a:pPr>
                      <a:r>
                        <a:rPr lang="en-US" sz="900" b="1" dirty="0">
                          <a:solidFill>
                            <a:srgbClr val="2C1810"/>
                          </a:solidFill>
                          <a:latin typeface="Calibri" pitchFamily="34" charset="0"/>
                          <a:ea typeface="Calibri" pitchFamily="34" charset="-122"/>
                          <a:cs typeface="Calibri" pitchFamily="34" charset="-120"/>
                        </a:rPr>
                        <a:t>COMP</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solidFill>
                      <a:srgbClr val="FFF3E0"/>
                    </a:solidFill>
                  </a:tcPr>
                </a:tc>
                <a:extLst>
                  <a:ext uri="{0D108BD9-81ED-4DB2-BD59-A6C34878D82A}">
                    <a16:rowId xmlns:a16="http://schemas.microsoft.com/office/drawing/2014/main" val="10000"/>
                  </a:ext>
                </a:extLst>
              </a:tr>
              <a:tr h="256032">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新建试验</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7AE6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开始升温</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停止升温</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开始记录</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停止记录</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tc>
                  <a:txBody>
                    <a:bodyPr/>
                    <a:lstStyle/>
                    <a:p>
                      <a:pPr marL="0" indent="0" algn="ctr">
                        <a:buNone/>
                      </a:pPr>
                      <a:r>
                        <a:rPr lang="en-US" sz="900" dirty="0">
                          <a:solidFill>
                            <a:srgbClr val="2C181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F0E8E0"/>
                      </a:solidFill>
                      <a:prstDash val="solid"/>
                      <a:round/>
                      <a:headEnd type="none" w="med" len="med"/>
                      <a:tailEnd type="none" w="med" len="med"/>
                    </a:lnL>
                    <a:lnR w="6350" cap="flat" cmpd="sng" algn="ctr">
                      <a:solidFill>
                        <a:srgbClr val="F0E8E0"/>
                      </a:solidFill>
                      <a:prstDash val="solid"/>
                      <a:round/>
                      <a:headEnd type="none" w="med" len="med"/>
                      <a:tailEnd type="none" w="med" len="med"/>
                    </a:lnR>
                    <a:lnT w="6350" cap="flat" cmpd="sng" algn="ctr">
                      <a:solidFill>
                        <a:srgbClr val="F0E8E0"/>
                      </a:solidFill>
                      <a:prstDash val="solid"/>
                      <a:round/>
                      <a:headEnd type="none" w="med" len="med"/>
                      <a:tailEnd type="none" w="med" len="med"/>
                    </a:lnT>
                    <a:lnB w="6350" cap="flat" cmpd="sng" algn="ctr">
                      <a:solidFill>
                        <a:srgbClr val="F0E8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63" name="图形 62">
            <a:extLst>
              <a:ext uri="{FF2B5EF4-FFF2-40B4-BE49-F238E27FC236}">
                <a16:creationId xmlns:a16="http://schemas.microsoft.com/office/drawing/2014/main" id="{F24D5D6C-7596-FA87-D398-3964603BC5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8120" y="1453324"/>
            <a:ext cx="6477000" cy="24288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pic>
        <p:nvPicPr>
          <p:cNvPr id="49" name="图片 48" descr="图形用户界面, 应用程序&#10;&#10;AI 生成的内容可能不正确。">
            <a:extLst>
              <a:ext uri="{FF2B5EF4-FFF2-40B4-BE49-F238E27FC236}">
                <a16:creationId xmlns:a16="http://schemas.microsoft.com/office/drawing/2014/main" id="{E0061827-878B-E181-99C0-A0A84F652A2B}"/>
              </a:ext>
            </a:extLst>
          </p:cNvPr>
          <p:cNvPicPr>
            <a:picLocks noChangeAspect="1"/>
          </p:cNvPicPr>
          <p:nvPr/>
        </p:nvPicPr>
        <p:blipFill>
          <a:blip r:embed="rId3"/>
          <a:srcRect t="3730" r="2481"/>
          <a:stretch>
            <a:fillRect/>
          </a:stretch>
        </p:blipFill>
        <p:spPr>
          <a:xfrm>
            <a:off x="672856" y="4530313"/>
            <a:ext cx="2673336" cy="2126111"/>
          </a:xfrm>
          <a:prstGeom prst="rect">
            <a:avLst/>
          </a:prstGeom>
        </p:spPr>
      </p:pic>
      <p:pic>
        <p:nvPicPr>
          <p:cNvPr id="51" name="图片 50" descr="图形用户界面&#10;&#10;AI 生成的内容可能不正确。">
            <a:extLst>
              <a:ext uri="{FF2B5EF4-FFF2-40B4-BE49-F238E27FC236}">
                <a16:creationId xmlns:a16="http://schemas.microsoft.com/office/drawing/2014/main" id="{6D16A9E5-F7D0-2DCB-ECDD-7853FB3C8C24}"/>
              </a:ext>
            </a:extLst>
          </p:cNvPr>
          <p:cNvPicPr>
            <a:picLocks noChangeAspect="1"/>
          </p:cNvPicPr>
          <p:nvPr/>
        </p:nvPicPr>
        <p:blipFill>
          <a:blip r:embed="rId4"/>
          <a:stretch>
            <a:fillRect/>
          </a:stretch>
        </p:blipFill>
        <p:spPr>
          <a:xfrm>
            <a:off x="8845809" y="4530313"/>
            <a:ext cx="2252461" cy="2172456"/>
          </a:xfrm>
          <a:prstGeom prst="rect">
            <a:avLst/>
          </a:prstGeom>
        </p:spPr>
      </p:pic>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03</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界面设计与实现</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UI DESIGN &amp; IMPLEMENTATION</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16</a:t>
            </a:r>
            <a:endParaRPr lang="en-US" sz="1000" dirty="0"/>
          </a:p>
        </p:txBody>
      </p:sp>
      <p:sp>
        <p:nvSpPr>
          <p:cNvPr id="11" name="Shape 9"/>
          <p:cNvSpPr/>
          <p:nvPr/>
        </p:nvSpPr>
        <p:spPr>
          <a:xfrm>
            <a:off x="548640" y="1554480"/>
            <a:ext cx="4019480" cy="27432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2" name="Shape 10"/>
          <p:cNvSpPr/>
          <p:nvPr/>
        </p:nvSpPr>
        <p:spPr>
          <a:xfrm>
            <a:off x="548640" y="1554480"/>
            <a:ext cx="4019480" cy="54864"/>
          </a:xfrm>
          <a:prstGeom prst="rect">
            <a:avLst/>
          </a:prstGeom>
          <a:solidFill>
            <a:srgbClr val="C0392B"/>
          </a:solidFill>
          <a:ln/>
        </p:spPr>
        <p:txBody>
          <a:bodyPr/>
          <a:lstStyle/>
          <a:p>
            <a:endParaRPr lang="zh-CN" altLang="en-US"/>
          </a:p>
        </p:txBody>
      </p:sp>
      <p:sp>
        <p:nvSpPr>
          <p:cNvPr id="13" name="Text 11"/>
          <p:cNvSpPr/>
          <p:nvPr/>
        </p:nvSpPr>
        <p:spPr>
          <a:xfrm>
            <a:off x="822960" y="1783080"/>
            <a:ext cx="5394960" cy="320040"/>
          </a:xfrm>
          <a:prstGeom prst="rect">
            <a:avLst/>
          </a:prstGeom>
          <a:noFill/>
          <a:ln/>
        </p:spPr>
        <p:txBody>
          <a:bodyPr wrap="square" rtlCol="0" anchor="ctr"/>
          <a:lstStyle/>
          <a:p>
            <a:pPr marL="0" indent="0">
              <a:buNone/>
            </a:pPr>
            <a:r>
              <a:rPr lang="en-US" sz="1300" b="1" dirty="0">
                <a:solidFill>
                  <a:srgbClr val="2C1810"/>
                </a:solidFill>
                <a:latin typeface="Microsoft YaHei" pitchFamily="34" charset="0"/>
                <a:ea typeface="Microsoft YaHei" pitchFamily="34" charset="-122"/>
                <a:cs typeface="Microsoft YaHei" pitchFamily="34" charset="-120"/>
              </a:rPr>
              <a:t>MainForm 布局结构（1280×800）</a:t>
            </a:r>
            <a:endParaRPr lang="en-US" sz="1300" dirty="0"/>
          </a:p>
        </p:txBody>
      </p:sp>
      <p:sp>
        <p:nvSpPr>
          <p:cNvPr id="14" name="Text 12"/>
          <p:cNvSpPr/>
          <p:nvPr/>
        </p:nvSpPr>
        <p:spPr>
          <a:xfrm>
            <a:off x="822960" y="2286000"/>
            <a:ext cx="539496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TabControl：试验控制 | 记录查询 | 设备校准</a:t>
            </a:r>
            <a:endParaRPr lang="en-US" sz="1100" dirty="0"/>
          </a:p>
        </p:txBody>
      </p:sp>
      <p:sp>
        <p:nvSpPr>
          <p:cNvPr id="15" name="Text 13"/>
          <p:cNvSpPr/>
          <p:nvPr/>
        </p:nvSpPr>
        <p:spPr>
          <a:xfrm>
            <a:off x="822960" y="2587752"/>
            <a:ext cx="539496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左侧温度面板：TF1/F2/TS/TC/TCal（LED 大字体）</a:t>
            </a:r>
            <a:endParaRPr lang="en-US" sz="1100" dirty="0"/>
          </a:p>
        </p:txBody>
      </p:sp>
      <p:sp>
        <p:nvSpPr>
          <p:cNvPr id="16" name="Text 14"/>
          <p:cNvSpPr/>
          <p:nvPr/>
        </p:nvSpPr>
        <p:spPr>
          <a:xfrm>
            <a:off x="822960" y="2889504"/>
            <a:ext cx="539496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右侧 </a:t>
            </a:r>
            <a:r>
              <a:rPr lang="en-US" sz="1100" dirty="0" err="1">
                <a:solidFill>
                  <a:srgbClr val="2C1810"/>
                </a:solidFill>
                <a:latin typeface="Calibri" pitchFamily="34" charset="0"/>
                <a:ea typeface="Calibri" pitchFamily="34" charset="-122"/>
                <a:cs typeface="Calibri" pitchFamily="34" charset="-120"/>
              </a:rPr>
              <a:t>OxyPlot：实时</a:t>
            </a:r>
            <a:r>
              <a:rPr lang="en-US" sz="1100" dirty="0">
                <a:solidFill>
                  <a:srgbClr val="2C1810"/>
                </a:solidFill>
                <a:latin typeface="Calibri" pitchFamily="34" charset="0"/>
                <a:ea typeface="Calibri" pitchFamily="34" charset="-122"/>
                <a:cs typeface="Calibri" pitchFamily="34" charset="-120"/>
              </a:rPr>
              <a:t> 4 曲线图（10 分钟滚动窗口）</a:t>
            </a:r>
            <a:endParaRPr lang="en-US" sz="1100" dirty="0"/>
          </a:p>
        </p:txBody>
      </p:sp>
      <p:sp>
        <p:nvSpPr>
          <p:cNvPr id="17" name="Text 15"/>
          <p:cNvSpPr/>
          <p:nvPr/>
        </p:nvSpPr>
        <p:spPr>
          <a:xfrm>
            <a:off x="822960" y="3191256"/>
            <a:ext cx="539496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面板下方：计时器 / 温漂值 / 当前状态 / 样品编号</a:t>
            </a:r>
            <a:endParaRPr lang="en-US" sz="1100" dirty="0"/>
          </a:p>
        </p:txBody>
      </p:sp>
      <p:sp>
        <p:nvSpPr>
          <p:cNvPr id="18" name="Text 16"/>
          <p:cNvSpPr/>
          <p:nvPr/>
        </p:nvSpPr>
        <p:spPr>
          <a:xfrm>
            <a:off x="822960" y="3493008"/>
            <a:ext cx="539496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6 个控制按钮：新建/升温/停止/记录/停止/设置</a:t>
            </a:r>
            <a:endParaRPr lang="en-US" sz="1100" dirty="0"/>
          </a:p>
        </p:txBody>
      </p:sp>
      <p:sp>
        <p:nvSpPr>
          <p:cNvPr id="19" name="Text 17"/>
          <p:cNvSpPr/>
          <p:nvPr/>
        </p:nvSpPr>
        <p:spPr>
          <a:xfrm>
            <a:off x="822960" y="3794760"/>
            <a:ext cx="539496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底部 RichTextBox：系统消息日志</a:t>
            </a:r>
            <a:endParaRPr lang="en-US" sz="1100" dirty="0"/>
          </a:p>
        </p:txBody>
      </p:sp>
      <p:sp>
        <p:nvSpPr>
          <p:cNvPr id="20" name="Shape 18"/>
          <p:cNvSpPr/>
          <p:nvPr/>
        </p:nvSpPr>
        <p:spPr>
          <a:xfrm>
            <a:off x="5299640" y="242571"/>
            <a:ext cx="6343720" cy="4054964"/>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dirty="0"/>
          </a:p>
        </p:txBody>
      </p:sp>
      <p:sp>
        <p:nvSpPr>
          <p:cNvPr id="21" name="Shape 19"/>
          <p:cNvSpPr/>
          <p:nvPr/>
        </p:nvSpPr>
        <p:spPr>
          <a:xfrm>
            <a:off x="5299640" y="226314"/>
            <a:ext cx="6343720" cy="54864"/>
          </a:xfrm>
          <a:prstGeom prst="rect">
            <a:avLst/>
          </a:prstGeom>
          <a:solidFill>
            <a:srgbClr val="E67E22"/>
          </a:solidFill>
          <a:ln/>
        </p:spPr>
        <p:txBody>
          <a:bodyPr/>
          <a:lstStyle/>
          <a:p>
            <a:endParaRPr lang="zh-CN" altLang="en-US"/>
          </a:p>
        </p:txBody>
      </p:sp>
      <p:sp>
        <p:nvSpPr>
          <p:cNvPr id="22" name="Text 20"/>
          <p:cNvSpPr/>
          <p:nvPr/>
        </p:nvSpPr>
        <p:spPr>
          <a:xfrm>
            <a:off x="5644324" y="535851"/>
            <a:ext cx="4803217" cy="482777"/>
          </a:xfrm>
          <a:prstGeom prst="rect">
            <a:avLst/>
          </a:prstGeom>
          <a:noFill/>
          <a:ln/>
        </p:spPr>
        <p:txBody>
          <a:bodyPr wrap="square" rtlCol="0" anchor="ctr"/>
          <a:lstStyle/>
          <a:p>
            <a:pPr marL="0" indent="0">
              <a:buNone/>
            </a:pPr>
            <a:r>
              <a:rPr lang="en-US" sz="1300" b="1" dirty="0">
                <a:solidFill>
                  <a:srgbClr val="2C1810"/>
                </a:solidFill>
                <a:latin typeface="Microsoft YaHei" pitchFamily="34" charset="0"/>
                <a:ea typeface="Microsoft YaHei" pitchFamily="34" charset="-122"/>
                <a:cs typeface="Microsoft YaHei" pitchFamily="34" charset="-120"/>
              </a:rPr>
              <a:t>DataBroadcast 数据流</a:t>
            </a:r>
            <a:endParaRPr lang="en-US" sz="1300" dirty="0"/>
          </a:p>
        </p:txBody>
      </p:sp>
      <p:sp>
        <p:nvSpPr>
          <p:cNvPr id="38" name="Text 36"/>
          <p:cNvSpPr/>
          <p:nvPr/>
        </p:nvSpPr>
        <p:spPr>
          <a:xfrm>
            <a:off x="2057400" y="4892040"/>
            <a:ext cx="548640" cy="548640"/>
          </a:xfrm>
          <a:prstGeom prst="rect">
            <a:avLst/>
          </a:prstGeom>
          <a:noFill/>
          <a:ln/>
        </p:spPr>
        <p:txBody>
          <a:bodyPr wrap="square" rtlCol="0" anchor="ctr"/>
          <a:lstStyle/>
          <a:p>
            <a:pPr marL="0" indent="0" algn="ctr">
              <a:buNone/>
            </a:pPr>
            <a:endParaRPr lang="en-US" sz="1600" dirty="0"/>
          </a:p>
        </p:txBody>
      </p:sp>
      <p:sp>
        <p:nvSpPr>
          <p:cNvPr id="39" name="Text 37"/>
          <p:cNvSpPr/>
          <p:nvPr/>
        </p:nvSpPr>
        <p:spPr>
          <a:xfrm>
            <a:off x="457200" y="4318726"/>
            <a:ext cx="3200400" cy="0"/>
          </a:xfrm>
          <a:prstGeom prst="rect">
            <a:avLst/>
          </a:prstGeom>
          <a:noFill/>
          <a:ln/>
        </p:spPr>
        <p:txBody>
          <a:bodyPr wrap="square" rtlCol="0" anchor="t"/>
          <a:lstStyle/>
          <a:p>
            <a:pPr marL="0" indent="0" algn="ctr">
              <a:buNone/>
            </a:pPr>
            <a:r>
              <a:rPr lang="en-US" sz="1100" dirty="0" err="1">
                <a:solidFill>
                  <a:srgbClr val="5D4E44"/>
                </a:solidFill>
                <a:latin typeface="Calibri" pitchFamily="34" charset="0"/>
                <a:ea typeface="Calibri" pitchFamily="34" charset="-122"/>
                <a:cs typeface="Calibri" pitchFamily="34" charset="-120"/>
              </a:rPr>
              <a:t>登录界面截图</a:t>
            </a:r>
            <a:endParaRPr lang="en-US" sz="1100" dirty="0"/>
          </a:p>
        </p:txBody>
      </p:sp>
      <p:sp>
        <p:nvSpPr>
          <p:cNvPr id="43" name="Text 41"/>
          <p:cNvSpPr/>
          <p:nvPr/>
        </p:nvSpPr>
        <p:spPr>
          <a:xfrm>
            <a:off x="4492897" y="4375331"/>
            <a:ext cx="3200400" cy="0"/>
          </a:xfrm>
          <a:prstGeom prst="rect">
            <a:avLst/>
          </a:prstGeom>
          <a:noFill/>
          <a:ln/>
        </p:spPr>
        <p:txBody>
          <a:bodyPr wrap="square" rtlCol="0" anchor="t"/>
          <a:lstStyle/>
          <a:p>
            <a:pPr marL="0" indent="0" algn="ctr">
              <a:buNone/>
            </a:pPr>
            <a:r>
              <a:rPr lang="en-US" sz="1100" dirty="0" err="1">
                <a:solidFill>
                  <a:srgbClr val="5D4E44"/>
                </a:solidFill>
                <a:latin typeface="Calibri" pitchFamily="34" charset="0"/>
                <a:ea typeface="Calibri" pitchFamily="34" charset="-122"/>
                <a:cs typeface="Calibri" pitchFamily="34" charset="-120"/>
              </a:rPr>
              <a:t>主界面截图</a:t>
            </a:r>
            <a:endParaRPr lang="en-US" sz="1100" dirty="0"/>
          </a:p>
        </p:txBody>
      </p:sp>
      <p:sp>
        <p:nvSpPr>
          <p:cNvPr id="47" name="Text 45"/>
          <p:cNvSpPr/>
          <p:nvPr/>
        </p:nvSpPr>
        <p:spPr>
          <a:xfrm>
            <a:off x="8528594" y="4318726"/>
            <a:ext cx="3017520" cy="0"/>
          </a:xfrm>
          <a:prstGeom prst="rect">
            <a:avLst/>
          </a:prstGeom>
          <a:noFill/>
          <a:ln/>
        </p:spPr>
        <p:txBody>
          <a:bodyPr wrap="square" rtlCol="0" anchor="t"/>
          <a:lstStyle/>
          <a:p>
            <a:pPr marL="0" indent="0" algn="ctr">
              <a:buNone/>
            </a:pPr>
            <a:r>
              <a:rPr lang="en-US" sz="1100" dirty="0" err="1">
                <a:solidFill>
                  <a:srgbClr val="5D4E44"/>
                </a:solidFill>
                <a:latin typeface="Calibri" pitchFamily="34" charset="0"/>
                <a:ea typeface="Calibri" pitchFamily="34" charset="-122"/>
                <a:cs typeface="Calibri" pitchFamily="34" charset="-120"/>
              </a:rPr>
              <a:t>新建试验界面截图</a:t>
            </a:r>
            <a:endParaRPr lang="en-US" sz="1100" dirty="0"/>
          </a:p>
        </p:txBody>
      </p:sp>
      <p:pic>
        <p:nvPicPr>
          <p:cNvPr id="53" name="图片 52" descr="电脑萤幕的截图&#10;&#10;AI 生成的内容可能不正确。">
            <a:extLst>
              <a:ext uri="{FF2B5EF4-FFF2-40B4-BE49-F238E27FC236}">
                <a16:creationId xmlns:a16="http://schemas.microsoft.com/office/drawing/2014/main" id="{C04A3C4C-AF79-F8F5-7644-4CC63005B2B5}"/>
              </a:ext>
            </a:extLst>
          </p:cNvPr>
          <p:cNvPicPr>
            <a:picLocks noChangeAspect="1"/>
          </p:cNvPicPr>
          <p:nvPr/>
        </p:nvPicPr>
        <p:blipFill>
          <a:blip r:embed="rId5"/>
          <a:stretch>
            <a:fillRect/>
          </a:stretch>
        </p:blipFill>
        <p:spPr>
          <a:xfrm>
            <a:off x="4086261" y="4573758"/>
            <a:ext cx="4019480" cy="2280625"/>
          </a:xfrm>
          <a:prstGeom prst="rect">
            <a:avLst/>
          </a:prstGeom>
        </p:spPr>
      </p:pic>
      <p:pic>
        <p:nvPicPr>
          <p:cNvPr id="55" name="图片 54" descr="图示&#10;&#10;AI 生成的内容可能不正确。">
            <a:extLst>
              <a:ext uri="{FF2B5EF4-FFF2-40B4-BE49-F238E27FC236}">
                <a16:creationId xmlns:a16="http://schemas.microsoft.com/office/drawing/2014/main" id="{FA195876-9B70-8677-1DB3-39B6E4D48991}"/>
              </a:ext>
            </a:extLst>
          </p:cNvPr>
          <p:cNvPicPr>
            <a:picLocks noChangeAspect="1"/>
          </p:cNvPicPr>
          <p:nvPr/>
        </p:nvPicPr>
        <p:blipFill>
          <a:blip r:embed="rId6"/>
          <a:stretch>
            <a:fillRect/>
          </a:stretch>
        </p:blipFill>
        <p:spPr>
          <a:xfrm>
            <a:off x="8991314" y="406693"/>
            <a:ext cx="2469166" cy="3703749"/>
          </a:xfrm>
          <a:prstGeom prst="rect">
            <a:avLst/>
          </a:prstGeom>
        </p:spPr>
      </p:pic>
      <p:sp>
        <p:nvSpPr>
          <p:cNvPr id="58" name="文本框 57">
            <a:extLst>
              <a:ext uri="{FF2B5EF4-FFF2-40B4-BE49-F238E27FC236}">
                <a16:creationId xmlns:a16="http://schemas.microsoft.com/office/drawing/2014/main" id="{DA2C4CCB-581B-EBA2-1CB6-6B0A4ECD5246}"/>
              </a:ext>
            </a:extLst>
          </p:cNvPr>
          <p:cNvSpPr txBox="1"/>
          <p:nvPr/>
        </p:nvSpPr>
        <p:spPr>
          <a:xfrm>
            <a:off x="5644324" y="1190933"/>
            <a:ext cx="3346990" cy="2605585"/>
          </a:xfrm>
          <a:prstGeom prst="rect">
            <a:avLst/>
          </a:prstGeom>
          <a:noFill/>
        </p:spPr>
        <p:txBody>
          <a:bodyPr wrap="square" rtlCol="0">
            <a:spAutoFit/>
          </a:bodyPr>
          <a:lstStyle/>
          <a:p>
            <a:pPr>
              <a:lnSpc>
                <a:spcPct val="150000"/>
              </a:lnSpc>
            </a:pPr>
            <a:r>
              <a:rPr lang="zh-CN" altLang="en-US" sz="1100" dirty="0">
                <a:solidFill>
                  <a:srgbClr val="2C1810"/>
                </a:solidFill>
                <a:latin typeface="Calibri" pitchFamily="34" charset="0"/>
                <a:cs typeface="Calibri" pitchFamily="34" charset="-120"/>
              </a:rPr>
              <a:t>用户点击按钮后，系统进入以 </a:t>
            </a:r>
            <a:r>
              <a:rPr lang="en-US" altLang="zh-CN" sz="1100" dirty="0" err="1">
                <a:solidFill>
                  <a:srgbClr val="2C1810"/>
                </a:solidFill>
                <a:latin typeface="Calibri" pitchFamily="34" charset="0"/>
                <a:ea typeface="Calibri" pitchFamily="34" charset="-122"/>
                <a:cs typeface="Calibri" pitchFamily="34" charset="-120"/>
              </a:rPr>
              <a:t>TestController</a:t>
            </a:r>
            <a:r>
              <a:rPr lang="zh-CN" altLang="en-US" sz="1100" dirty="0">
                <a:solidFill>
                  <a:srgbClr val="2C1810"/>
                </a:solidFill>
                <a:latin typeface="Calibri" pitchFamily="34" charset="0"/>
                <a:cs typeface="Calibri" pitchFamily="34" charset="-120"/>
              </a:rPr>
              <a:t> 为中心的 </a:t>
            </a:r>
            <a:r>
              <a:rPr lang="en-US" altLang="zh-CN" sz="1100" dirty="0">
                <a:solidFill>
                  <a:srgbClr val="2C1810"/>
                </a:solidFill>
                <a:latin typeface="Calibri" pitchFamily="34" charset="0"/>
                <a:ea typeface="Calibri" pitchFamily="34" charset="-122"/>
                <a:cs typeface="Calibri" pitchFamily="34" charset="-120"/>
              </a:rPr>
              <a:t>800ms </a:t>
            </a:r>
            <a:r>
              <a:rPr lang="zh-CN" altLang="en-US" sz="1100" dirty="0">
                <a:solidFill>
                  <a:srgbClr val="2C1810"/>
                </a:solidFill>
                <a:latin typeface="Calibri" pitchFamily="34" charset="0"/>
                <a:cs typeface="Calibri" pitchFamily="34" charset="-120"/>
              </a:rPr>
              <a:t>定时驱动循环：</a:t>
            </a:r>
            <a:r>
              <a:rPr lang="en-US" altLang="zh-CN" sz="1100" dirty="0">
                <a:solidFill>
                  <a:srgbClr val="2C1810"/>
                </a:solidFill>
                <a:latin typeface="Calibri" pitchFamily="34" charset="0"/>
                <a:ea typeface="Calibri" pitchFamily="34" charset="-122"/>
                <a:cs typeface="Calibri" pitchFamily="34" charset="-120"/>
              </a:rPr>
              <a:t>UpdateTemperatures()</a:t>
            </a:r>
            <a:r>
              <a:rPr lang="zh-CN" altLang="en-US" sz="1100" dirty="0">
                <a:solidFill>
                  <a:srgbClr val="2C1810"/>
                </a:solidFill>
                <a:latin typeface="Calibri" pitchFamily="34" charset="0"/>
                <a:cs typeface="Calibri" pitchFamily="34" charset="-120"/>
              </a:rPr>
              <a:t> 根据当前试验状态执行对应阶段的温度仿真算法，计算完成后通过 </a:t>
            </a:r>
            <a:r>
              <a:rPr lang="en-US" altLang="zh-CN" sz="1100" dirty="0" err="1">
                <a:solidFill>
                  <a:srgbClr val="2C1810"/>
                </a:solidFill>
                <a:latin typeface="Calibri" pitchFamily="34" charset="0"/>
                <a:ea typeface="Calibri" pitchFamily="34" charset="-122"/>
                <a:cs typeface="Calibri" pitchFamily="34" charset="-120"/>
              </a:rPr>
              <a:t>DataBroadcast</a:t>
            </a:r>
            <a:r>
              <a:rPr lang="zh-CN" altLang="en-US" sz="1100" dirty="0">
                <a:solidFill>
                  <a:srgbClr val="2C1810"/>
                </a:solidFill>
                <a:latin typeface="Calibri" pitchFamily="34" charset="0"/>
                <a:cs typeface="Calibri" pitchFamily="34" charset="-120"/>
              </a:rPr>
              <a:t> 事件在后台线程广播温度数据与系统消息。</a:t>
            </a:r>
            <a:r>
              <a:rPr lang="en-US" altLang="zh-CN" sz="1100" dirty="0">
                <a:solidFill>
                  <a:srgbClr val="2C1810"/>
                </a:solidFill>
                <a:latin typeface="Calibri" pitchFamily="34" charset="0"/>
                <a:ea typeface="Calibri" pitchFamily="34" charset="-122"/>
                <a:cs typeface="Calibri" pitchFamily="34" charset="-120"/>
              </a:rPr>
              <a:t>UI </a:t>
            </a:r>
            <a:r>
              <a:rPr lang="zh-CN" altLang="en-US" sz="1100" dirty="0">
                <a:solidFill>
                  <a:srgbClr val="2C1810"/>
                </a:solidFill>
                <a:latin typeface="Calibri" pitchFamily="34" charset="0"/>
                <a:cs typeface="Calibri" pitchFamily="34" charset="-120"/>
              </a:rPr>
              <a:t>层订阅该事件后通过 </a:t>
            </a:r>
            <a:r>
              <a:rPr lang="en-US" altLang="zh-CN" sz="1100" dirty="0" err="1">
                <a:solidFill>
                  <a:srgbClr val="2C1810"/>
                </a:solidFill>
                <a:latin typeface="Calibri" pitchFamily="34" charset="0"/>
                <a:ea typeface="Calibri" pitchFamily="34" charset="-122"/>
                <a:cs typeface="Calibri" pitchFamily="34" charset="-120"/>
              </a:rPr>
              <a:t>Control.Invoke</a:t>
            </a:r>
            <a:r>
              <a:rPr lang="en-US" altLang="zh-CN" sz="1100" dirty="0">
                <a:solidFill>
                  <a:srgbClr val="2C1810"/>
                </a:solidFill>
                <a:latin typeface="Calibri" pitchFamily="34" charset="0"/>
                <a:ea typeface="Calibri" pitchFamily="34" charset="-122"/>
                <a:cs typeface="Calibri" pitchFamily="34" charset="-120"/>
              </a:rPr>
              <a:t>()</a:t>
            </a:r>
            <a:r>
              <a:rPr lang="zh-CN" altLang="en-US" sz="1100" dirty="0">
                <a:solidFill>
                  <a:srgbClr val="2C1810"/>
                </a:solidFill>
                <a:latin typeface="Calibri" pitchFamily="34" charset="0"/>
                <a:cs typeface="Calibri" pitchFamily="34" charset="-120"/>
              </a:rPr>
              <a:t> 安全切换至主线程，更新实时温度数值、</a:t>
            </a:r>
            <a:r>
              <a:rPr lang="en-US" altLang="zh-CN" sz="1100" dirty="0">
                <a:solidFill>
                  <a:srgbClr val="2C1810"/>
                </a:solidFill>
                <a:latin typeface="Calibri" pitchFamily="34" charset="0"/>
                <a:ea typeface="Calibri" pitchFamily="34" charset="-122"/>
                <a:cs typeface="Calibri" pitchFamily="34" charset="-120"/>
              </a:rPr>
              <a:t>OxyPlot </a:t>
            </a:r>
            <a:r>
              <a:rPr lang="zh-CN" altLang="en-US" sz="1100" dirty="0">
                <a:solidFill>
                  <a:srgbClr val="2C1810"/>
                </a:solidFill>
                <a:latin typeface="Calibri" pitchFamily="34" charset="0"/>
                <a:cs typeface="Calibri" pitchFamily="34" charset="-120"/>
              </a:rPr>
              <a:t>曲线图、计时器及消息日志，形成</a:t>
            </a:r>
            <a:r>
              <a:rPr lang="en-US" altLang="zh-CN" sz="1100" dirty="0">
                <a:solidFill>
                  <a:srgbClr val="2C1810"/>
                </a:solidFill>
                <a:latin typeface="Calibri" pitchFamily="34" charset="0"/>
                <a:ea typeface="Calibri" pitchFamily="34" charset="-122"/>
                <a:cs typeface="Calibri" pitchFamily="34" charset="-120"/>
              </a:rPr>
              <a:t>"</a:t>
            </a:r>
            <a:r>
              <a:rPr lang="zh-CN" altLang="en-US" sz="1100" dirty="0">
                <a:solidFill>
                  <a:srgbClr val="2C1810"/>
                </a:solidFill>
                <a:latin typeface="Calibri" pitchFamily="34" charset="0"/>
                <a:cs typeface="Calibri" pitchFamily="34" charset="-120"/>
              </a:rPr>
              <a:t>用户动作 → 状态机推进 → 仿真计算 → 事件广播 → </a:t>
            </a:r>
            <a:r>
              <a:rPr lang="en-US" altLang="zh-CN" sz="1100" dirty="0">
                <a:solidFill>
                  <a:srgbClr val="2C1810"/>
                </a:solidFill>
                <a:latin typeface="Calibri" pitchFamily="34" charset="0"/>
                <a:ea typeface="Calibri" pitchFamily="34" charset="-122"/>
                <a:cs typeface="Calibri" pitchFamily="34" charset="-120"/>
              </a:rPr>
              <a:t>UI </a:t>
            </a:r>
            <a:r>
              <a:rPr lang="zh-CN" altLang="en-US" sz="1100" dirty="0">
                <a:solidFill>
                  <a:srgbClr val="2C1810"/>
                </a:solidFill>
                <a:latin typeface="Calibri" pitchFamily="34" charset="0"/>
                <a:cs typeface="Calibri" pitchFamily="34" charset="-120"/>
              </a:rPr>
              <a:t>刷新</a:t>
            </a:r>
            <a:r>
              <a:rPr lang="en-US" altLang="zh-CN" sz="1100" dirty="0">
                <a:solidFill>
                  <a:srgbClr val="2C1810"/>
                </a:solidFill>
                <a:latin typeface="Calibri" pitchFamily="34" charset="0"/>
                <a:ea typeface="Calibri" pitchFamily="34" charset="-122"/>
                <a:cs typeface="Calibri" pitchFamily="34" charset="-120"/>
              </a:rPr>
              <a:t>"</a:t>
            </a:r>
            <a:r>
              <a:rPr lang="zh-CN" altLang="en-US" sz="1100" dirty="0">
                <a:solidFill>
                  <a:srgbClr val="2C1810"/>
                </a:solidFill>
                <a:latin typeface="Calibri" pitchFamily="34" charset="0"/>
                <a:cs typeface="Calibri" pitchFamily="34" charset="-120"/>
              </a:rPr>
              <a:t>的完整闭环。整条链路实现了分层解耦与线程安全保障。</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03</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关键成果展示</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KEY ACHIEVEMENTS</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17</a:t>
            </a:r>
            <a:endParaRPr lang="en-US" sz="1000" dirty="0"/>
          </a:p>
        </p:txBody>
      </p:sp>
      <p:sp>
        <p:nvSpPr>
          <p:cNvPr id="14" name="Text 12"/>
          <p:cNvSpPr/>
          <p:nvPr/>
        </p:nvSpPr>
        <p:spPr>
          <a:xfrm>
            <a:off x="17781" y="1692115"/>
            <a:ext cx="4937760" cy="0"/>
          </a:xfrm>
          <a:prstGeom prst="rect">
            <a:avLst/>
          </a:prstGeom>
          <a:noFill/>
          <a:ln/>
        </p:spPr>
        <p:txBody>
          <a:bodyPr wrap="square" rtlCol="0" anchor="t"/>
          <a:lstStyle/>
          <a:p>
            <a:pPr marL="0" indent="0" algn="ctr">
              <a:buNone/>
            </a:pPr>
            <a:r>
              <a:rPr lang="en-US" sz="1100" dirty="0">
                <a:solidFill>
                  <a:srgbClr val="5D4E44"/>
                </a:solidFill>
                <a:latin typeface="Calibri" pitchFamily="34" charset="0"/>
                <a:ea typeface="Calibri" pitchFamily="34" charset="-122"/>
                <a:cs typeface="Calibri" pitchFamily="34" charset="-120"/>
              </a:rPr>
              <a:t>实时温度曲线图</a:t>
            </a:r>
            <a:endParaRPr lang="en-US" sz="1100" dirty="0"/>
          </a:p>
        </p:txBody>
      </p:sp>
      <p:sp>
        <p:nvSpPr>
          <p:cNvPr id="18" name="Text 16"/>
          <p:cNvSpPr/>
          <p:nvPr/>
        </p:nvSpPr>
        <p:spPr>
          <a:xfrm>
            <a:off x="8080773" y="1694015"/>
            <a:ext cx="5394960" cy="0"/>
          </a:xfrm>
          <a:prstGeom prst="rect">
            <a:avLst/>
          </a:prstGeom>
          <a:noFill/>
          <a:ln/>
        </p:spPr>
        <p:txBody>
          <a:bodyPr wrap="square" rtlCol="0" anchor="t"/>
          <a:lstStyle/>
          <a:p>
            <a:pPr marL="0" indent="0" algn="ctr">
              <a:buNone/>
            </a:pPr>
            <a:r>
              <a:rPr lang="en-US" sz="1100" dirty="0">
                <a:solidFill>
                  <a:srgbClr val="5D4E44"/>
                </a:solidFill>
                <a:latin typeface="Calibri" pitchFamily="34" charset="0"/>
                <a:ea typeface="Calibri" pitchFamily="34" charset="-122"/>
                <a:cs typeface="Calibri" pitchFamily="34" charset="-120"/>
              </a:rPr>
              <a:t>Excel 试验报告导出</a:t>
            </a:r>
            <a:endParaRPr lang="en-US" sz="1100" dirty="0"/>
          </a:p>
        </p:txBody>
      </p:sp>
      <p:sp>
        <p:nvSpPr>
          <p:cNvPr id="22" name="Text 20"/>
          <p:cNvSpPr/>
          <p:nvPr/>
        </p:nvSpPr>
        <p:spPr>
          <a:xfrm>
            <a:off x="3449003" y="1694015"/>
            <a:ext cx="4937760" cy="0"/>
          </a:xfrm>
          <a:prstGeom prst="rect">
            <a:avLst/>
          </a:prstGeom>
          <a:noFill/>
          <a:ln/>
        </p:spPr>
        <p:txBody>
          <a:bodyPr wrap="square" rtlCol="0" anchor="t"/>
          <a:lstStyle/>
          <a:p>
            <a:pPr marL="0" indent="0" algn="ctr">
              <a:buNone/>
            </a:pPr>
            <a:r>
              <a:rPr lang="en-US" sz="1100" dirty="0">
                <a:solidFill>
                  <a:srgbClr val="5D4E44"/>
                </a:solidFill>
                <a:latin typeface="Calibri" pitchFamily="34" charset="0"/>
                <a:ea typeface="Calibri" pitchFamily="34" charset="-122"/>
                <a:cs typeface="Calibri" pitchFamily="34" charset="-120"/>
              </a:rPr>
              <a:t>CSV 温度数据示例</a:t>
            </a:r>
            <a:endParaRPr lang="en-US" sz="1100" dirty="0"/>
          </a:p>
        </p:txBody>
      </p:sp>
      <p:sp>
        <p:nvSpPr>
          <p:cNvPr id="26" name="Text 24"/>
          <p:cNvSpPr/>
          <p:nvPr/>
        </p:nvSpPr>
        <p:spPr>
          <a:xfrm>
            <a:off x="5624321" y="1694015"/>
            <a:ext cx="5394960" cy="0"/>
          </a:xfrm>
          <a:prstGeom prst="rect">
            <a:avLst/>
          </a:prstGeom>
          <a:noFill/>
          <a:ln/>
        </p:spPr>
        <p:txBody>
          <a:bodyPr wrap="square" rtlCol="0" anchor="t"/>
          <a:lstStyle/>
          <a:p>
            <a:pPr marL="0" indent="0" algn="ctr">
              <a:buNone/>
            </a:pPr>
            <a:r>
              <a:rPr lang="en-US" sz="1100" dirty="0">
                <a:solidFill>
                  <a:srgbClr val="5D4E44"/>
                </a:solidFill>
                <a:latin typeface="Calibri" pitchFamily="34" charset="0"/>
                <a:ea typeface="Calibri" pitchFamily="34" charset="-122"/>
                <a:cs typeface="Calibri" pitchFamily="34" charset="-120"/>
              </a:rPr>
              <a:t>PDF 报告封面示例</a:t>
            </a:r>
            <a:endParaRPr lang="en-US" sz="1100" dirty="0"/>
          </a:p>
        </p:txBody>
      </p:sp>
      <p:pic>
        <p:nvPicPr>
          <p:cNvPr id="32" name="图片 31" descr="电脑萤幕的截图&#10;&#10;AI 生成的内容可能不正确。">
            <a:extLst>
              <a:ext uri="{FF2B5EF4-FFF2-40B4-BE49-F238E27FC236}">
                <a16:creationId xmlns:a16="http://schemas.microsoft.com/office/drawing/2014/main" id="{CCE1BCD1-0C4D-1729-0B2F-218F8296D2E5}"/>
              </a:ext>
            </a:extLst>
          </p:cNvPr>
          <p:cNvPicPr>
            <a:picLocks noChangeAspect="1"/>
          </p:cNvPicPr>
          <p:nvPr/>
        </p:nvPicPr>
        <p:blipFill>
          <a:blip r:embed="rId3"/>
          <a:srcRect l="-1" r="-2048" b="9603"/>
          <a:stretch>
            <a:fillRect/>
          </a:stretch>
        </p:blipFill>
        <p:spPr>
          <a:xfrm>
            <a:off x="228284" y="1989296"/>
            <a:ext cx="4516755" cy="2479763"/>
          </a:xfrm>
          <a:prstGeom prst="rect">
            <a:avLst/>
          </a:prstGeom>
        </p:spPr>
      </p:pic>
      <p:pic>
        <p:nvPicPr>
          <p:cNvPr id="36" name="图片 35" descr="表格&#10;&#10;AI 生成的内容可能不正确。">
            <a:extLst>
              <a:ext uri="{FF2B5EF4-FFF2-40B4-BE49-F238E27FC236}">
                <a16:creationId xmlns:a16="http://schemas.microsoft.com/office/drawing/2014/main" id="{57AF9472-0361-6D37-1FC5-73656F809CEA}"/>
              </a:ext>
            </a:extLst>
          </p:cNvPr>
          <p:cNvPicPr>
            <a:picLocks noChangeAspect="1"/>
          </p:cNvPicPr>
          <p:nvPr/>
        </p:nvPicPr>
        <p:blipFill>
          <a:blip r:embed="rId4"/>
          <a:stretch>
            <a:fillRect/>
          </a:stretch>
        </p:blipFill>
        <p:spPr>
          <a:xfrm>
            <a:off x="7200059" y="2030283"/>
            <a:ext cx="2372376" cy="3347027"/>
          </a:xfrm>
          <a:prstGeom prst="rect">
            <a:avLst/>
          </a:prstGeom>
        </p:spPr>
      </p:pic>
      <p:pic>
        <p:nvPicPr>
          <p:cNvPr id="38" name="图片 37" descr="手机屏幕截图&#10;&#10;AI 生成的内容可能不正确。">
            <a:extLst>
              <a:ext uri="{FF2B5EF4-FFF2-40B4-BE49-F238E27FC236}">
                <a16:creationId xmlns:a16="http://schemas.microsoft.com/office/drawing/2014/main" id="{EA374FB1-8821-003A-F6B9-40CA28165D35}"/>
              </a:ext>
            </a:extLst>
          </p:cNvPr>
          <p:cNvPicPr>
            <a:picLocks noChangeAspect="1"/>
          </p:cNvPicPr>
          <p:nvPr/>
        </p:nvPicPr>
        <p:blipFill>
          <a:blip r:embed="rId5"/>
          <a:stretch>
            <a:fillRect/>
          </a:stretch>
        </p:blipFill>
        <p:spPr>
          <a:xfrm>
            <a:off x="9725151" y="2037142"/>
            <a:ext cx="2310785" cy="3333308"/>
          </a:xfrm>
          <a:prstGeom prst="rect">
            <a:avLst/>
          </a:prstGeom>
        </p:spPr>
      </p:pic>
      <p:pic>
        <p:nvPicPr>
          <p:cNvPr id="40" name="图片 39" descr="表格&#10;&#10;AI 生成的内容可能不正确。">
            <a:extLst>
              <a:ext uri="{FF2B5EF4-FFF2-40B4-BE49-F238E27FC236}">
                <a16:creationId xmlns:a16="http://schemas.microsoft.com/office/drawing/2014/main" id="{7C321EC2-979A-FDF2-FDCE-980E009C2E83}"/>
              </a:ext>
            </a:extLst>
          </p:cNvPr>
          <p:cNvPicPr>
            <a:picLocks noChangeAspect="1"/>
          </p:cNvPicPr>
          <p:nvPr/>
        </p:nvPicPr>
        <p:blipFill>
          <a:blip r:embed="rId6"/>
          <a:stretch>
            <a:fillRect/>
          </a:stretch>
        </p:blipFill>
        <p:spPr>
          <a:xfrm>
            <a:off x="4897755" y="1989296"/>
            <a:ext cx="2075688" cy="3429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04</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测试与验证</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TESTING &amp; VERIFICATION</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18</a:t>
            </a:r>
            <a:endParaRPr lang="en-US" sz="1000" dirty="0"/>
          </a:p>
        </p:txBody>
      </p:sp>
      <p:sp>
        <p:nvSpPr>
          <p:cNvPr id="11" name="Shape 9"/>
          <p:cNvSpPr/>
          <p:nvPr/>
        </p:nvSpPr>
        <p:spPr>
          <a:xfrm>
            <a:off x="548640" y="1554480"/>
            <a:ext cx="530352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2" name="Shape 10"/>
          <p:cNvSpPr/>
          <p:nvPr/>
        </p:nvSpPr>
        <p:spPr>
          <a:xfrm>
            <a:off x="548640" y="1554480"/>
            <a:ext cx="5303520" cy="54864"/>
          </a:xfrm>
          <a:prstGeom prst="rect">
            <a:avLst/>
          </a:prstGeom>
          <a:solidFill>
            <a:srgbClr val="C0392B"/>
          </a:solidFill>
          <a:ln/>
        </p:spPr>
        <p:txBody>
          <a:bodyPr/>
          <a:lstStyle/>
          <a:p>
            <a:endParaRPr lang="zh-CN" altLang="en-US"/>
          </a:p>
        </p:txBody>
      </p:sp>
      <p:sp>
        <p:nvSpPr>
          <p:cNvPr id="13" name="Text 11"/>
          <p:cNvSpPr/>
          <p:nvPr/>
        </p:nvSpPr>
        <p:spPr>
          <a:xfrm>
            <a:off x="822960" y="1783080"/>
            <a:ext cx="4754880" cy="32004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三层测试策略</a:t>
            </a:r>
            <a:endParaRPr lang="en-US" sz="1400" dirty="0"/>
          </a:p>
        </p:txBody>
      </p:sp>
      <p:sp>
        <p:nvSpPr>
          <p:cNvPr id="14" name="Shape 12"/>
          <p:cNvSpPr/>
          <p:nvPr/>
        </p:nvSpPr>
        <p:spPr>
          <a:xfrm>
            <a:off x="822960" y="2331720"/>
            <a:ext cx="320040" cy="320040"/>
          </a:xfrm>
          <a:prstGeom prst="ellipse">
            <a:avLst/>
          </a:prstGeom>
          <a:solidFill>
            <a:srgbClr val="C0392B"/>
          </a:solidFill>
          <a:ln/>
        </p:spPr>
        <p:txBody>
          <a:bodyPr/>
          <a:lstStyle/>
          <a:p>
            <a:endParaRPr lang="zh-CN" altLang="en-US"/>
          </a:p>
        </p:txBody>
      </p:sp>
      <p:sp>
        <p:nvSpPr>
          <p:cNvPr id="15" name="Text 13"/>
          <p:cNvSpPr/>
          <p:nvPr/>
        </p:nvSpPr>
        <p:spPr>
          <a:xfrm>
            <a:off x="822960" y="2331720"/>
            <a:ext cx="320040" cy="320040"/>
          </a:xfrm>
          <a:prstGeom prst="rect">
            <a:avLst/>
          </a:prstGeom>
          <a:noFill/>
          <a:ln/>
        </p:spPr>
        <p:txBody>
          <a:bodyPr wrap="square" rtlCol="0" anchor="ctr"/>
          <a:lstStyle/>
          <a:p>
            <a:pPr marL="0" indent="0" algn="ctr">
              <a:buNone/>
            </a:pPr>
            <a:r>
              <a:rPr lang="en-US" sz="1200" b="1" dirty="0">
                <a:solidFill>
                  <a:srgbClr val="FAFAF7"/>
                </a:solidFill>
                <a:latin typeface="Impact" pitchFamily="34" charset="0"/>
                <a:ea typeface="Impact" pitchFamily="34" charset="-122"/>
                <a:cs typeface="Impact" pitchFamily="34" charset="-120"/>
              </a:rPr>
              <a:t>1</a:t>
            </a:r>
            <a:endParaRPr lang="en-US" sz="1200" dirty="0"/>
          </a:p>
        </p:txBody>
      </p:sp>
      <p:sp>
        <p:nvSpPr>
          <p:cNvPr id="16" name="Text 14"/>
          <p:cNvSpPr/>
          <p:nvPr/>
        </p:nvSpPr>
        <p:spPr>
          <a:xfrm>
            <a:off x="1325880" y="2286000"/>
            <a:ext cx="1828800" cy="228600"/>
          </a:xfrm>
          <a:prstGeom prst="rect">
            <a:avLst/>
          </a:prstGeom>
          <a:noFill/>
          <a:ln/>
        </p:spPr>
        <p:txBody>
          <a:bodyPr wrap="square" rtlCol="0" anchor="ctr"/>
          <a:lstStyle/>
          <a:p>
            <a:pPr marL="0" indent="0">
              <a:buNone/>
            </a:pPr>
            <a:r>
              <a:rPr lang="en-US" sz="1200" b="1" dirty="0">
                <a:solidFill>
                  <a:srgbClr val="2C1810"/>
                </a:solidFill>
                <a:latin typeface="Microsoft YaHei" pitchFamily="34" charset="0"/>
                <a:ea typeface="Microsoft YaHei" pitchFamily="34" charset="-122"/>
                <a:cs typeface="Microsoft YaHei" pitchFamily="34" charset="-120"/>
              </a:rPr>
              <a:t>功能测试 (模块级)</a:t>
            </a:r>
            <a:endParaRPr lang="en-US" sz="1200" dirty="0"/>
          </a:p>
        </p:txBody>
      </p:sp>
      <p:sp>
        <p:nvSpPr>
          <p:cNvPr id="17" name="Text 15"/>
          <p:cNvSpPr/>
          <p:nvPr/>
        </p:nvSpPr>
        <p:spPr>
          <a:xfrm>
            <a:off x="1325880" y="2514600"/>
            <a:ext cx="4297680" cy="22860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各模块开发者自测 · 确保方法调用、数据读写正确</a:t>
            </a:r>
            <a:endParaRPr lang="en-US" sz="900" dirty="0"/>
          </a:p>
        </p:txBody>
      </p:sp>
      <p:sp>
        <p:nvSpPr>
          <p:cNvPr id="18" name="Shape 16"/>
          <p:cNvSpPr/>
          <p:nvPr/>
        </p:nvSpPr>
        <p:spPr>
          <a:xfrm>
            <a:off x="822960" y="2834640"/>
            <a:ext cx="320040" cy="320040"/>
          </a:xfrm>
          <a:prstGeom prst="ellipse">
            <a:avLst/>
          </a:prstGeom>
          <a:solidFill>
            <a:srgbClr val="C0392B"/>
          </a:solidFill>
          <a:ln/>
        </p:spPr>
        <p:txBody>
          <a:bodyPr/>
          <a:lstStyle/>
          <a:p>
            <a:endParaRPr lang="zh-CN" altLang="en-US"/>
          </a:p>
        </p:txBody>
      </p:sp>
      <p:sp>
        <p:nvSpPr>
          <p:cNvPr id="19" name="Text 17"/>
          <p:cNvSpPr/>
          <p:nvPr/>
        </p:nvSpPr>
        <p:spPr>
          <a:xfrm>
            <a:off x="822960" y="2834640"/>
            <a:ext cx="320040" cy="320040"/>
          </a:xfrm>
          <a:prstGeom prst="rect">
            <a:avLst/>
          </a:prstGeom>
          <a:noFill/>
          <a:ln/>
        </p:spPr>
        <p:txBody>
          <a:bodyPr wrap="square" rtlCol="0" anchor="ctr"/>
          <a:lstStyle/>
          <a:p>
            <a:pPr marL="0" indent="0" algn="ctr">
              <a:buNone/>
            </a:pPr>
            <a:r>
              <a:rPr lang="en-US" sz="1200" b="1" dirty="0">
                <a:solidFill>
                  <a:srgbClr val="FAFAF7"/>
                </a:solidFill>
                <a:latin typeface="Impact" pitchFamily="34" charset="0"/>
                <a:ea typeface="Impact" pitchFamily="34" charset="-122"/>
                <a:cs typeface="Impact" pitchFamily="34" charset="-120"/>
              </a:rPr>
              <a:t>2</a:t>
            </a:r>
            <a:endParaRPr lang="en-US" sz="1200" dirty="0"/>
          </a:p>
        </p:txBody>
      </p:sp>
      <p:sp>
        <p:nvSpPr>
          <p:cNvPr id="20" name="Text 18"/>
          <p:cNvSpPr/>
          <p:nvPr/>
        </p:nvSpPr>
        <p:spPr>
          <a:xfrm>
            <a:off x="1325880" y="2788920"/>
            <a:ext cx="1828800" cy="228600"/>
          </a:xfrm>
          <a:prstGeom prst="rect">
            <a:avLst/>
          </a:prstGeom>
          <a:noFill/>
          <a:ln/>
        </p:spPr>
        <p:txBody>
          <a:bodyPr wrap="square" rtlCol="0" anchor="ctr"/>
          <a:lstStyle/>
          <a:p>
            <a:pPr marL="0" indent="0">
              <a:buNone/>
            </a:pPr>
            <a:r>
              <a:rPr lang="en-US" sz="1200" b="1" dirty="0">
                <a:solidFill>
                  <a:srgbClr val="2C1810"/>
                </a:solidFill>
                <a:latin typeface="Microsoft YaHei" pitchFamily="34" charset="0"/>
                <a:ea typeface="Microsoft YaHei" pitchFamily="34" charset="-122"/>
                <a:cs typeface="Microsoft YaHei" pitchFamily="34" charset="-120"/>
              </a:rPr>
              <a:t>集成测试 (流程级)</a:t>
            </a:r>
            <a:endParaRPr lang="en-US" sz="1200" dirty="0"/>
          </a:p>
        </p:txBody>
      </p:sp>
      <p:sp>
        <p:nvSpPr>
          <p:cNvPr id="21" name="Text 19"/>
          <p:cNvSpPr/>
          <p:nvPr/>
        </p:nvSpPr>
        <p:spPr>
          <a:xfrm>
            <a:off x="1325880" y="3017520"/>
            <a:ext cx="4297680" cy="22860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组长串联全模块 · 验证接口对接、完整试验流程</a:t>
            </a:r>
            <a:endParaRPr lang="en-US" sz="900" dirty="0"/>
          </a:p>
        </p:txBody>
      </p:sp>
      <p:sp>
        <p:nvSpPr>
          <p:cNvPr id="22" name="Shape 20"/>
          <p:cNvSpPr/>
          <p:nvPr/>
        </p:nvSpPr>
        <p:spPr>
          <a:xfrm>
            <a:off x="822960" y="3337560"/>
            <a:ext cx="320040" cy="320040"/>
          </a:xfrm>
          <a:prstGeom prst="ellipse">
            <a:avLst/>
          </a:prstGeom>
          <a:solidFill>
            <a:srgbClr val="C0392B"/>
          </a:solidFill>
          <a:ln/>
        </p:spPr>
        <p:txBody>
          <a:bodyPr/>
          <a:lstStyle/>
          <a:p>
            <a:endParaRPr lang="zh-CN" altLang="en-US"/>
          </a:p>
        </p:txBody>
      </p:sp>
      <p:sp>
        <p:nvSpPr>
          <p:cNvPr id="23" name="Text 21"/>
          <p:cNvSpPr/>
          <p:nvPr/>
        </p:nvSpPr>
        <p:spPr>
          <a:xfrm>
            <a:off x="822960" y="3337560"/>
            <a:ext cx="320040" cy="320040"/>
          </a:xfrm>
          <a:prstGeom prst="rect">
            <a:avLst/>
          </a:prstGeom>
          <a:noFill/>
          <a:ln/>
        </p:spPr>
        <p:txBody>
          <a:bodyPr wrap="square" rtlCol="0" anchor="ctr"/>
          <a:lstStyle/>
          <a:p>
            <a:pPr marL="0" indent="0" algn="ctr">
              <a:buNone/>
            </a:pPr>
            <a:r>
              <a:rPr lang="en-US" sz="1200" b="1" dirty="0">
                <a:solidFill>
                  <a:srgbClr val="FAFAF7"/>
                </a:solidFill>
                <a:latin typeface="Impact" pitchFamily="34" charset="0"/>
                <a:ea typeface="Impact" pitchFamily="34" charset="-122"/>
                <a:cs typeface="Impact" pitchFamily="34" charset="-120"/>
              </a:rPr>
              <a:t>3</a:t>
            </a:r>
            <a:endParaRPr lang="en-US" sz="1200" dirty="0"/>
          </a:p>
        </p:txBody>
      </p:sp>
      <p:sp>
        <p:nvSpPr>
          <p:cNvPr id="24" name="Text 22"/>
          <p:cNvSpPr/>
          <p:nvPr/>
        </p:nvSpPr>
        <p:spPr>
          <a:xfrm>
            <a:off x="1325880" y="3291840"/>
            <a:ext cx="1828800" cy="228600"/>
          </a:xfrm>
          <a:prstGeom prst="rect">
            <a:avLst/>
          </a:prstGeom>
          <a:noFill/>
          <a:ln/>
        </p:spPr>
        <p:txBody>
          <a:bodyPr wrap="square" rtlCol="0" anchor="ctr"/>
          <a:lstStyle/>
          <a:p>
            <a:pPr marL="0" indent="0">
              <a:buNone/>
            </a:pPr>
            <a:r>
              <a:rPr lang="en-US" sz="1200" b="1" dirty="0">
                <a:solidFill>
                  <a:srgbClr val="2C1810"/>
                </a:solidFill>
                <a:latin typeface="Microsoft YaHei" pitchFamily="34" charset="0"/>
                <a:ea typeface="Microsoft YaHei" pitchFamily="34" charset="-122"/>
                <a:cs typeface="Microsoft YaHei" pitchFamily="34" charset="-120"/>
              </a:rPr>
              <a:t>回归测试 (全流程)</a:t>
            </a:r>
            <a:endParaRPr lang="en-US" sz="1200" dirty="0"/>
          </a:p>
        </p:txBody>
      </p:sp>
      <p:sp>
        <p:nvSpPr>
          <p:cNvPr id="25" name="Text 23"/>
          <p:cNvSpPr/>
          <p:nvPr/>
        </p:nvSpPr>
        <p:spPr>
          <a:xfrm>
            <a:off x="1325880" y="3520440"/>
            <a:ext cx="4297680" cy="228600"/>
          </a:xfrm>
          <a:prstGeom prst="rect">
            <a:avLst/>
          </a:prstGeom>
          <a:noFill/>
          <a:ln/>
        </p:spPr>
        <p:txBody>
          <a:bodyPr wrap="square" rtlCol="0" anchor="ctr"/>
          <a:lstStyle/>
          <a:p>
            <a:pPr marL="0" indent="0">
              <a:buNone/>
            </a:pPr>
            <a:r>
              <a:rPr lang="en-US" sz="900" dirty="0" err="1">
                <a:solidFill>
                  <a:srgbClr val="5D4E44"/>
                </a:solidFill>
                <a:latin typeface="Calibri" pitchFamily="34" charset="0"/>
                <a:ea typeface="Calibri" pitchFamily="34" charset="-122"/>
                <a:cs typeface="Calibri" pitchFamily="34" charset="-120"/>
              </a:rPr>
              <a:t>全量回归</a:t>
            </a:r>
            <a:r>
              <a:rPr lang="en-US" sz="900" dirty="0">
                <a:solidFill>
                  <a:srgbClr val="5D4E44"/>
                </a:solidFill>
                <a:latin typeface="Calibri" pitchFamily="34" charset="0"/>
                <a:ea typeface="Calibri" pitchFamily="34" charset="-122"/>
                <a:cs typeface="Calibri" pitchFamily="34" charset="-120"/>
              </a:rPr>
              <a:t> · 遍历按钮状态、异常分支</a:t>
            </a:r>
            <a:endParaRPr lang="en-US" sz="900" dirty="0"/>
          </a:p>
        </p:txBody>
      </p:sp>
      <p:sp>
        <p:nvSpPr>
          <p:cNvPr id="26" name="Shape 24"/>
          <p:cNvSpPr/>
          <p:nvPr/>
        </p:nvSpPr>
        <p:spPr>
          <a:xfrm>
            <a:off x="6217920" y="1554480"/>
            <a:ext cx="539496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7" name="Shape 25"/>
          <p:cNvSpPr/>
          <p:nvPr/>
        </p:nvSpPr>
        <p:spPr>
          <a:xfrm>
            <a:off x="6217920" y="1554480"/>
            <a:ext cx="5394960" cy="54864"/>
          </a:xfrm>
          <a:prstGeom prst="rect">
            <a:avLst/>
          </a:prstGeom>
          <a:solidFill>
            <a:srgbClr val="E67E22"/>
          </a:solidFill>
          <a:ln/>
        </p:spPr>
        <p:txBody>
          <a:bodyPr/>
          <a:lstStyle/>
          <a:p>
            <a:endParaRPr lang="zh-CN" altLang="en-US"/>
          </a:p>
        </p:txBody>
      </p:sp>
      <p:sp>
        <p:nvSpPr>
          <p:cNvPr id="28" name="Text 26"/>
          <p:cNvSpPr/>
          <p:nvPr/>
        </p:nvSpPr>
        <p:spPr>
          <a:xfrm>
            <a:off x="6492240" y="1783080"/>
            <a:ext cx="4846320" cy="32004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核心测试用例与结果统计</a:t>
            </a:r>
            <a:endParaRPr lang="en-US" sz="1400" dirty="0"/>
          </a:p>
        </p:txBody>
      </p:sp>
      <p:sp>
        <p:nvSpPr>
          <p:cNvPr id="29" name="Text 27"/>
          <p:cNvSpPr/>
          <p:nvPr/>
        </p:nvSpPr>
        <p:spPr>
          <a:xfrm>
            <a:off x="6675120" y="2286000"/>
            <a:ext cx="1645920" cy="640080"/>
          </a:xfrm>
          <a:prstGeom prst="rect">
            <a:avLst/>
          </a:prstGeom>
          <a:noFill/>
          <a:ln/>
        </p:spPr>
        <p:txBody>
          <a:bodyPr wrap="square" rtlCol="0" anchor="ctr"/>
          <a:lstStyle/>
          <a:p>
            <a:pPr marL="0" indent="0" algn="ctr">
              <a:buNone/>
            </a:pPr>
            <a:r>
              <a:rPr lang="en-US" sz="3200" b="1" dirty="0">
                <a:solidFill>
                  <a:srgbClr val="C0392B"/>
                </a:solidFill>
                <a:latin typeface="Impact" pitchFamily="34" charset="0"/>
                <a:ea typeface="Impact" pitchFamily="34" charset="-122"/>
                <a:cs typeface="Impact" pitchFamily="34" charset="-120"/>
              </a:rPr>
              <a:t>23</a:t>
            </a:r>
            <a:endParaRPr lang="en-US" sz="3200" dirty="0"/>
          </a:p>
        </p:txBody>
      </p:sp>
      <p:sp>
        <p:nvSpPr>
          <p:cNvPr id="30" name="Text 28"/>
          <p:cNvSpPr/>
          <p:nvPr/>
        </p:nvSpPr>
        <p:spPr>
          <a:xfrm>
            <a:off x="6675120" y="2880360"/>
            <a:ext cx="1645920" cy="320040"/>
          </a:xfrm>
          <a:prstGeom prst="rect">
            <a:avLst/>
          </a:prstGeom>
          <a:noFill/>
          <a:ln/>
        </p:spPr>
        <p:txBody>
          <a:bodyPr wrap="square" rtlCol="0" anchor="ctr"/>
          <a:lstStyle/>
          <a:p>
            <a:pPr marL="0" indent="0" algn="ctr">
              <a:buNone/>
            </a:pPr>
            <a:r>
              <a:rPr lang="en-US" sz="1000" dirty="0">
                <a:solidFill>
                  <a:srgbClr val="5D4E44"/>
                </a:solidFill>
                <a:latin typeface="Calibri" pitchFamily="34" charset="0"/>
                <a:ea typeface="Calibri" pitchFamily="34" charset="-122"/>
                <a:cs typeface="Calibri" pitchFamily="34" charset="-120"/>
              </a:rPr>
              <a:t>测试用例总数</a:t>
            </a:r>
            <a:endParaRPr lang="en-US" sz="1000" dirty="0"/>
          </a:p>
        </p:txBody>
      </p:sp>
      <p:sp>
        <p:nvSpPr>
          <p:cNvPr id="31" name="Text 29"/>
          <p:cNvSpPr/>
          <p:nvPr/>
        </p:nvSpPr>
        <p:spPr>
          <a:xfrm>
            <a:off x="8321040" y="2286000"/>
            <a:ext cx="1645920" cy="640080"/>
          </a:xfrm>
          <a:prstGeom prst="rect">
            <a:avLst/>
          </a:prstGeom>
          <a:noFill/>
          <a:ln/>
        </p:spPr>
        <p:txBody>
          <a:bodyPr wrap="square" rtlCol="0" anchor="ctr"/>
          <a:lstStyle/>
          <a:p>
            <a:pPr marL="0" indent="0" algn="ctr">
              <a:buNone/>
            </a:pPr>
            <a:r>
              <a:rPr lang="en-US" sz="3200" b="1" dirty="0">
                <a:solidFill>
                  <a:srgbClr val="27AE60"/>
                </a:solidFill>
                <a:latin typeface="Impact" pitchFamily="34" charset="0"/>
                <a:ea typeface="Impact" pitchFamily="34" charset="-122"/>
                <a:cs typeface="Impact" pitchFamily="34" charset="-120"/>
              </a:rPr>
              <a:t>23/23</a:t>
            </a:r>
            <a:endParaRPr lang="en-US" sz="3200" dirty="0"/>
          </a:p>
        </p:txBody>
      </p:sp>
      <p:sp>
        <p:nvSpPr>
          <p:cNvPr id="32" name="Text 30"/>
          <p:cNvSpPr/>
          <p:nvPr/>
        </p:nvSpPr>
        <p:spPr>
          <a:xfrm>
            <a:off x="8321040" y="2880360"/>
            <a:ext cx="1645920" cy="320040"/>
          </a:xfrm>
          <a:prstGeom prst="rect">
            <a:avLst/>
          </a:prstGeom>
          <a:noFill/>
          <a:ln/>
        </p:spPr>
        <p:txBody>
          <a:bodyPr wrap="square" rtlCol="0" anchor="ctr"/>
          <a:lstStyle/>
          <a:p>
            <a:pPr marL="0" indent="0" algn="ctr">
              <a:buNone/>
            </a:pPr>
            <a:r>
              <a:rPr lang="en-US" sz="1000" dirty="0">
                <a:solidFill>
                  <a:srgbClr val="5D4E44"/>
                </a:solidFill>
                <a:latin typeface="Calibri" pitchFamily="34" charset="0"/>
                <a:ea typeface="Calibri" pitchFamily="34" charset="-122"/>
                <a:cs typeface="Calibri" pitchFamily="34" charset="-120"/>
              </a:rPr>
              <a:t>通过率</a:t>
            </a:r>
            <a:endParaRPr lang="en-US" sz="1000" dirty="0"/>
          </a:p>
        </p:txBody>
      </p:sp>
      <p:sp>
        <p:nvSpPr>
          <p:cNvPr id="33" name="Text 31"/>
          <p:cNvSpPr/>
          <p:nvPr/>
        </p:nvSpPr>
        <p:spPr>
          <a:xfrm>
            <a:off x="9966960" y="2286000"/>
            <a:ext cx="1645920" cy="640080"/>
          </a:xfrm>
          <a:prstGeom prst="rect">
            <a:avLst/>
          </a:prstGeom>
          <a:noFill/>
          <a:ln/>
        </p:spPr>
        <p:txBody>
          <a:bodyPr wrap="square" rtlCol="0" anchor="ctr"/>
          <a:lstStyle/>
          <a:p>
            <a:pPr marL="0" indent="0" algn="ctr">
              <a:buNone/>
            </a:pPr>
            <a:r>
              <a:rPr lang="en-US" sz="3200" b="1" dirty="0">
                <a:solidFill>
                  <a:srgbClr val="5D4E44"/>
                </a:solidFill>
                <a:latin typeface="Impact" pitchFamily="34" charset="0"/>
                <a:ea typeface="Impact" pitchFamily="34" charset="-122"/>
                <a:cs typeface="Impact" pitchFamily="34" charset="-120"/>
              </a:rPr>
              <a:t>0</a:t>
            </a:r>
            <a:endParaRPr lang="en-US" sz="3200" dirty="0"/>
          </a:p>
        </p:txBody>
      </p:sp>
      <p:sp>
        <p:nvSpPr>
          <p:cNvPr id="34" name="Text 32"/>
          <p:cNvSpPr/>
          <p:nvPr/>
        </p:nvSpPr>
        <p:spPr>
          <a:xfrm>
            <a:off x="9966960" y="2880360"/>
            <a:ext cx="1645920" cy="320040"/>
          </a:xfrm>
          <a:prstGeom prst="rect">
            <a:avLst/>
          </a:prstGeom>
          <a:noFill/>
          <a:ln/>
        </p:spPr>
        <p:txBody>
          <a:bodyPr wrap="square" rtlCol="0" anchor="ctr"/>
          <a:lstStyle/>
          <a:p>
            <a:pPr marL="0" indent="0" algn="ctr">
              <a:buNone/>
            </a:pPr>
            <a:r>
              <a:rPr lang="en-US" sz="1000" dirty="0">
                <a:solidFill>
                  <a:srgbClr val="5D4E44"/>
                </a:solidFill>
                <a:latin typeface="Calibri" pitchFamily="34" charset="0"/>
                <a:ea typeface="Calibri" pitchFamily="34" charset="-122"/>
                <a:cs typeface="Calibri" pitchFamily="34" charset="-120"/>
              </a:rPr>
              <a:t>未修复缺陷</a:t>
            </a:r>
            <a:endParaRPr lang="en-US" sz="1000" dirty="0"/>
          </a:p>
        </p:txBody>
      </p:sp>
      <p:sp>
        <p:nvSpPr>
          <p:cNvPr id="35" name="Text 33"/>
          <p:cNvSpPr/>
          <p:nvPr/>
        </p:nvSpPr>
        <p:spPr>
          <a:xfrm>
            <a:off x="6492240" y="3063240"/>
            <a:ext cx="4846320" cy="640080"/>
          </a:xfrm>
          <a:prstGeom prst="rect">
            <a:avLst/>
          </a:prstGeom>
          <a:noFill/>
          <a:ln/>
        </p:spPr>
        <p:txBody>
          <a:bodyPr wrap="square" rtlCol="0" anchor="ctr"/>
          <a:lstStyle/>
          <a:p>
            <a:pPr marL="0" indent="0">
              <a:lnSpc>
                <a:spcPts val="1600"/>
              </a:lnSpc>
              <a:buNone/>
            </a:pPr>
            <a:r>
              <a:rPr lang="en-US" sz="1000" dirty="0">
                <a:solidFill>
                  <a:srgbClr val="2C1810"/>
                </a:solidFill>
                <a:latin typeface="Calibri" pitchFamily="34" charset="0"/>
                <a:ea typeface="Calibri" pitchFamily="34" charset="-122"/>
                <a:cs typeface="Calibri" pitchFamily="34" charset="-120"/>
              </a:rPr>
              <a:t>关键测试场景：登录鉴权 / 新建试验 / 升温→就绪→记录→完成 / 按钮矩阵校验 / CSV/Excel/PDF导出 / 温漂判定 / 异常保护</a:t>
            </a:r>
            <a:endParaRPr lang="en-US" sz="1000" dirty="0"/>
          </a:p>
        </p:txBody>
      </p:sp>
      <p:sp>
        <p:nvSpPr>
          <p:cNvPr id="36" name="Shape 34"/>
          <p:cNvSpPr/>
          <p:nvPr/>
        </p:nvSpPr>
        <p:spPr>
          <a:xfrm>
            <a:off x="548640" y="4114800"/>
            <a:ext cx="11064240" cy="219456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37" name="Shape 35"/>
          <p:cNvSpPr/>
          <p:nvPr/>
        </p:nvSpPr>
        <p:spPr>
          <a:xfrm>
            <a:off x="548640" y="4114800"/>
            <a:ext cx="11064240" cy="54864"/>
          </a:xfrm>
          <a:prstGeom prst="rect">
            <a:avLst/>
          </a:prstGeom>
          <a:solidFill>
            <a:srgbClr val="D35400"/>
          </a:solidFill>
          <a:ln/>
        </p:spPr>
        <p:txBody>
          <a:bodyPr/>
          <a:lstStyle/>
          <a:p>
            <a:endParaRPr lang="zh-CN" altLang="en-US"/>
          </a:p>
        </p:txBody>
      </p:sp>
      <p:sp>
        <p:nvSpPr>
          <p:cNvPr id="38" name="Text 36"/>
          <p:cNvSpPr/>
          <p:nvPr/>
        </p:nvSpPr>
        <p:spPr>
          <a:xfrm>
            <a:off x="822960" y="4297680"/>
            <a:ext cx="4572000" cy="32004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缺陷分析与验收标准</a:t>
            </a:r>
            <a:endParaRPr lang="en-US" sz="1400" dirty="0"/>
          </a:p>
        </p:txBody>
      </p:sp>
      <p:sp>
        <p:nvSpPr>
          <p:cNvPr id="39" name="Text 37"/>
          <p:cNvSpPr/>
          <p:nvPr/>
        </p:nvSpPr>
        <p:spPr>
          <a:xfrm>
            <a:off x="822960" y="4754880"/>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核心流程 14 个用例全部通过</a:t>
            </a:r>
            <a:endParaRPr lang="en-US" sz="1100" dirty="0"/>
          </a:p>
        </p:txBody>
      </p:sp>
      <p:sp>
        <p:nvSpPr>
          <p:cNvPr id="40" name="Text 38"/>
          <p:cNvSpPr/>
          <p:nvPr/>
        </p:nvSpPr>
        <p:spPr>
          <a:xfrm>
            <a:off x="6492240" y="4754880"/>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边界 / 异常 5 个用例全部通过</a:t>
            </a:r>
            <a:endParaRPr lang="en-US" sz="1100" dirty="0"/>
          </a:p>
        </p:txBody>
      </p:sp>
      <p:sp>
        <p:nvSpPr>
          <p:cNvPr id="41" name="Text 39"/>
          <p:cNvSpPr/>
          <p:nvPr/>
        </p:nvSpPr>
        <p:spPr>
          <a:xfrm>
            <a:off x="822960" y="5074920"/>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5 状态 × 6 按钮 = 30 个状态位全部正确</a:t>
            </a:r>
            <a:endParaRPr lang="en-US" sz="1100" dirty="0"/>
          </a:p>
        </p:txBody>
      </p:sp>
      <p:sp>
        <p:nvSpPr>
          <p:cNvPr id="42" name="Text 40"/>
          <p:cNvSpPr/>
          <p:nvPr/>
        </p:nvSpPr>
        <p:spPr>
          <a:xfrm>
            <a:off x="6492240" y="5074920"/>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CSV / Excel / PDF 三种格式导出验证通过</a:t>
            </a:r>
            <a:endParaRPr lang="en-US" sz="1100" dirty="0"/>
          </a:p>
        </p:txBody>
      </p:sp>
      <p:sp>
        <p:nvSpPr>
          <p:cNvPr id="43" name="Text 41"/>
          <p:cNvSpPr/>
          <p:nvPr/>
        </p:nvSpPr>
        <p:spPr>
          <a:xfrm>
            <a:off x="822960" y="5394960"/>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完整 60 分钟流程不崩溃、不卡死</a:t>
            </a:r>
            <a:endParaRPr lang="en-US" sz="1100" dirty="0"/>
          </a:p>
        </p:txBody>
      </p:sp>
      <p:sp>
        <p:nvSpPr>
          <p:cNvPr id="44" name="Text 42"/>
          <p:cNvSpPr/>
          <p:nvPr/>
        </p:nvSpPr>
        <p:spPr>
          <a:xfrm>
            <a:off x="6492240" y="5394960"/>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无跨线程 UI 操作导致 InvalidOperationException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18288"/>
          </a:xfrm>
          <a:prstGeom prst="rect">
            <a:avLst/>
          </a:prstGeom>
          <a:solidFill>
            <a:srgbClr val="E67E22"/>
          </a:solidFill>
          <a:ln/>
        </p:spPr>
        <p:txBody>
          <a:bodyPr/>
          <a:lstStyle/>
          <a:p>
            <a:endParaRPr lang="zh-CN" altLang="en-US"/>
          </a:p>
        </p:txBody>
      </p:sp>
      <p:sp>
        <p:nvSpPr>
          <p:cNvPr id="4" name="Text 2"/>
          <p:cNvSpPr/>
          <p:nvPr/>
        </p:nvSpPr>
        <p:spPr>
          <a:xfrm>
            <a:off x="548640" y="274320"/>
            <a:ext cx="731520" cy="640080"/>
          </a:xfrm>
          <a:prstGeom prst="rect">
            <a:avLst/>
          </a:prstGeom>
          <a:noFill/>
          <a:ln/>
        </p:spPr>
        <p:txBody>
          <a:bodyPr wrap="square" rtlCol="0" anchor="ctr"/>
          <a:lstStyle/>
          <a:p>
            <a:pPr marL="0" indent="0">
              <a:buNone/>
            </a:pPr>
            <a:r>
              <a:rPr lang="en-US" sz="2200" b="1" dirty="0">
                <a:solidFill>
                  <a:srgbClr val="C0392B"/>
                </a:solidFill>
                <a:latin typeface="Impact" pitchFamily="34" charset="0"/>
                <a:ea typeface="Impact" pitchFamily="34" charset="-122"/>
                <a:cs typeface="Impact" pitchFamily="34" charset="-120"/>
              </a:rPr>
              <a:t>04</a:t>
            </a:r>
            <a:endParaRPr lang="en-US" sz="2200" dirty="0"/>
          </a:p>
        </p:txBody>
      </p:sp>
      <p:sp>
        <p:nvSpPr>
          <p:cNvPr id="5" name="Shape 3"/>
          <p:cNvSpPr/>
          <p:nvPr/>
        </p:nvSpPr>
        <p:spPr>
          <a:xfrm>
            <a:off x="1280160" y="274320"/>
            <a:ext cx="36576" cy="548640"/>
          </a:xfrm>
          <a:prstGeom prst="rect">
            <a:avLst/>
          </a:prstGeom>
          <a:solidFill>
            <a:srgbClr val="E67E22"/>
          </a:solidFill>
          <a:ln/>
        </p:spPr>
        <p:txBody>
          <a:bodyPr/>
          <a:lstStyle/>
          <a:p>
            <a:endParaRPr lang="zh-CN" altLang="en-US"/>
          </a:p>
        </p:txBody>
      </p:sp>
      <p:sp>
        <p:nvSpPr>
          <p:cNvPr id="6" name="Text 4"/>
          <p:cNvSpPr/>
          <p:nvPr/>
        </p:nvSpPr>
        <p:spPr>
          <a:xfrm>
            <a:off x="1554480" y="274320"/>
            <a:ext cx="9144000" cy="502920"/>
          </a:xfrm>
          <a:prstGeom prst="rect">
            <a:avLst/>
          </a:prstGeom>
          <a:noFill/>
          <a:ln/>
        </p:spPr>
        <p:txBody>
          <a:bodyPr wrap="square" rtlCol="0" anchor="ctr"/>
          <a:lstStyle/>
          <a:p>
            <a:pPr marL="0" indent="0">
              <a:buNone/>
            </a:pPr>
            <a:r>
              <a:rPr lang="en-US" sz="2600" b="1" dirty="0">
                <a:solidFill>
                  <a:srgbClr val="2C1810"/>
                </a:solidFill>
                <a:latin typeface="Microsoft YaHei" pitchFamily="34" charset="0"/>
                <a:ea typeface="Microsoft YaHei" pitchFamily="34" charset="-122"/>
                <a:cs typeface="Microsoft YaHei" pitchFamily="34" charset="-120"/>
              </a:rPr>
              <a:t>总结与创新点</a:t>
            </a:r>
            <a:endParaRPr lang="en-US" sz="2600" dirty="0"/>
          </a:p>
        </p:txBody>
      </p:sp>
      <p:sp>
        <p:nvSpPr>
          <p:cNvPr id="7" name="Text 5"/>
          <p:cNvSpPr/>
          <p:nvPr/>
        </p:nvSpPr>
        <p:spPr>
          <a:xfrm>
            <a:off x="1554480" y="777240"/>
            <a:ext cx="9144000" cy="365760"/>
          </a:xfrm>
          <a:prstGeom prst="rect">
            <a:avLst/>
          </a:prstGeom>
          <a:noFill/>
          <a:ln/>
        </p:spPr>
        <p:txBody>
          <a:bodyPr wrap="square" rtlCol="0" anchor="ctr"/>
          <a:lstStyle/>
          <a:p>
            <a:pPr marL="0" indent="0">
              <a:buNone/>
            </a:pPr>
            <a:r>
              <a:rPr lang="en-US" sz="1200" dirty="0">
                <a:solidFill>
                  <a:srgbClr val="5D4E44"/>
                </a:solidFill>
                <a:latin typeface="Calibri" pitchFamily="34" charset="0"/>
                <a:ea typeface="Calibri" pitchFamily="34" charset="-122"/>
                <a:cs typeface="Calibri" pitchFamily="34" charset="-120"/>
              </a:rPr>
              <a:t>SUMMARY &amp; INNOVATION</a:t>
            </a:r>
            <a:endParaRPr lang="en-US" sz="1200" dirty="0"/>
          </a:p>
        </p:txBody>
      </p:sp>
      <p:sp>
        <p:nvSpPr>
          <p:cNvPr id="8" name="Shape 6"/>
          <p:cNvSpPr/>
          <p:nvPr/>
        </p:nvSpPr>
        <p:spPr>
          <a:xfrm>
            <a:off x="1554480" y="1143000"/>
            <a:ext cx="9601200" cy="13716"/>
          </a:xfrm>
          <a:prstGeom prst="rect">
            <a:avLst/>
          </a:prstGeom>
          <a:solidFill>
            <a:srgbClr val="F0E8E0"/>
          </a:solidFill>
          <a:ln/>
        </p:spPr>
        <p:txBody>
          <a:bodyPr/>
          <a:lstStyle/>
          <a:p>
            <a:endParaRPr lang="zh-CN" altLang="en-US"/>
          </a:p>
        </p:txBody>
      </p:sp>
      <p:sp>
        <p:nvSpPr>
          <p:cNvPr id="9" name="Text 7"/>
          <p:cNvSpPr/>
          <p:nvPr/>
        </p:nvSpPr>
        <p:spPr>
          <a:xfrm>
            <a:off x="548640" y="6446520"/>
            <a:ext cx="4572000" cy="320040"/>
          </a:xfrm>
          <a:prstGeom prst="rect">
            <a:avLst/>
          </a:prstGeom>
          <a:noFill/>
          <a:ln/>
        </p:spPr>
        <p:txBody>
          <a:bodyPr wrap="square" rtlCol="0" anchor="ctr"/>
          <a:lstStyle/>
          <a:p>
            <a:pPr marL="0" indent="0">
              <a:buNone/>
            </a:pPr>
            <a:r>
              <a:rPr lang="en-US" sz="800" dirty="0">
                <a:solidFill>
                  <a:srgbClr val="A09088"/>
                </a:solidFill>
                <a:latin typeface="Calibri" pitchFamily="34" charset="0"/>
                <a:ea typeface="Calibri" pitchFamily="34" charset="-122"/>
                <a:cs typeface="Calibri" pitchFamily="34" charset="-120"/>
              </a:rPr>
              <a:t>ISO 11820 不燃性试验仿真系统</a:t>
            </a:r>
            <a:endParaRPr lang="en-US" sz="800" dirty="0"/>
          </a:p>
        </p:txBody>
      </p:sp>
      <p:sp>
        <p:nvSpPr>
          <p:cNvPr id="10" name="Text 8"/>
          <p:cNvSpPr/>
          <p:nvPr/>
        </p:nvSpPr>
        <p:spPr>
          <a:xfrm>
            <a:off x="10515600" y="6446520"/>
            <a:ext cx="1371600" cy="320040"/>
          </a:xfrm>
          <a:prstGeom prst="rect">
            <a:avLst/>
          </a:prstGeom>
          <a:noFill/>
          <a:ln/>
        </p:spPr>
        <p:txBody>
          <a:bodyPr wrap="square" rtlCol="0" anchor="ctr"/>
          <a:lstStyle/>
          <a:p>
            <a:pPr marL="0" indent="0" algn="r">
              <a:buNone/>
            </a:pPr>
            <a:r>
              <a:rPr lang="en-US" sz="1000" dirty="0">
                <a:solidFill>
                  <a:srgbClr val="A09088"/>
                </a:solidFill>
                <a:latin typeface="Calibri" pitchFamily="34" charset="0"/>
                <a:ea typeface="Calibri" pitchFamily="34" charset="-122"/>
                <a:cs typeface="Calibri" pitchFamily="34" charset="-120"/>
              </a:rPr>
              <a:t>19</a:t>
            </a:r>
            <a:endParaRPr lang="en-US" sz="1000" dirty="0"/>
          </a:p>
        </p:txBody>
      </p:sp>
      <p:sp>
        <p:nvSpPr>
          <p:cNvPr id="11" name="Shape 9"/>
          <p:cNvSpPr/>
          <p:nvPr/>
        </p:nvSpPr>
        <p:spPr>
          <a:xfrm>
            <a:off x="548640" y="1554480"/>
            <a:ext cx="530352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12" name="Shape 10"/>
          <p:cNvSpPr/>
          <p:nvPr/>
        </p:nvSpPr>
        <p:spPr>
          <a:xfrm>
            <a:off x="548640" y="1554480"/>
            <a:ext cx="5303520" cy="54864"/>
          </a:xfrm>
          <a:prstGeom prst="rect">
            <a:avLst/>
          </a:prstGeom>
          <a:solidFill>
            <a:srgbClr val="C0392B"/>
          </a:solidFill>
          <a:ln/>
        </p:spPr>
        <p:txBody>
          <a:bodyPr/>
          <a:lstStyle/>
          <a:p>
            <a:endParaRPr lang="zh-CN" altLang="en-US"/>
          </a:p>
        </p:txBody>
      </p:sp>
      <p:sp>
        <p:nvSpPr>
          <p:cNvPr id="13" name="Text 11"/>
          <p:cNvSpPr/>
          <p:nvPr/>
        </p:nvSpPr>
        <p:spPr>
          <a:xfrm>
            <a:off x="822960" y="1783080"/>
            <a:ext cx="4754880" cy="32004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工作成果总结</a:t>
            </a:r>
            <a:endParaRPr lang="en-US" sz="1400" dirty="0"/>
          </a:p>
        </p:txBody>
      </p:sp>
      <p:sp>
        <p:nvSpPr>
          <p:cNvPr id="14" name="Text 12"/>
          <p:cNvSpPr/>
          <p:nvPr/>
        </p:nvSpPr>
        <p:spPr>
          <a:xfrm>
            <a:off x="822960" y="2240280"/>
            <a:ext cx="4754880" cy="256032"/>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6 份完整技术文档（需求分析 / 概览设计 / 详细设计 / 研究报告 / 数据需求 / 项目开发文档）</a:t>
            </a:r>
            <a:endParaRPr lang="en-US" sz="1100" dirty="0"/>
          </a:p>
        </p:txBody>
      </p:sp>
      <p:sp>
        <p:nvSpPr>
          <p:cNvPr id="15" name="Text 13"/>
          <p:cNvSpPr/>
          <p:nvPr/>
        </p:nvSpPr>
        <p:spPr>
          <a:xfrm>
            <a:off x="822960" y="2532888"/>
            <a:ext cx="4754880" cy="256032"/>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4 层架构代码实现（Forms / Core / Data / Services）</a:t>
            </a:r>
            <a:endParaRPr lang="en-US" sz="1100" dirty="0"/>
          </a:p>
        </p:txBody>
      </p:sp>
      <p:sp>
        <p:nvSpPr>
          <p:cNvPr id="16" name="Text 14"/>
          <p:cNvSpPr/>
          <p:nvPr/>
        </p:nvSpPr>
        <p:spPr>
          <a:xfrm>
            <a:off x="822960" y="2825496"/>
            <a:ext cx="4754880" cy="256032"/>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6 表 SQLite 数据库 + 5 个优化索引</a:t>
            </a:r>
            <a:endParaRPr lang="en-US" sz="1100" dirty="0"/>
          </a:p>
        </p:txBody>
      </p:sp>
      <p:sp>
        <p:nvSpPr>
          <p:cNvPr id="17" name="Text 15"/>
          <p:cNvSpPr/>
          <p:nvPr/>
        </p:nvSpPr>
        <p:spPr>
          <a:xfrm>
            <a:off x="822960" y="3118104"/>
            <a:ext cx="4754880" cy="256032"/>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5 阶段状态机 + 4 模式温度仿真算法</a:t>
            </a:r>
            <a:endParaRPr lang="en-US" sz="1100" dirty="0"/>
          </a:p>
        </p:txBody>
      </p:sp>
      <p:sp>
        <p:nvSpPr>
          <p:cNvPr id="18" name="Text 16"/>
          <p:cNvSpPr/>
          <p:nvPr/>
        </p:nvSpPr>
        <p:spPr>
          <a:xfrm>
            <a:off x="822960" y="3410712"/>
            <a:ext cx="4754880" cy="256032"/>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3 种格式报告导出（CSV / Excel / PDF）</a:t>
            </a:r>
            <a:endParaRPr lang="en-US" sz="1100" dirty="0"/>
          </a:p>
        </p:txBody>
      </p:sp>
      <p:sp>
        <p:nvSpPr>
          <p:cNvPr id="19" name="Shape 17"/>
          <p:cNvSpPr/>
          <p:nvPr/>
        </p:nvSpPr>
        <p:spPr>
          <a:xfrm>
            <a:off x="6217920" y="1554480"/>
            <a:ext cx="539496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20" name="Shape 18"/>
          <p:cNvSpPr/>
          <p:nvPr/>
        </p:nvSpPr>
        <p:spPr>
          <a:xfrm>
            <a:off x="6217920" y="1554480"/>
            <a:ext cx="5394960" cy="54864"/>
          </a:xfrm>
          <a:prstGeom prst="rect">
            <a:avLst/>
          </a:prstGeom>
          <a:solidFill>
            <a:srgbClr val="E67E22"/>
          </a:solidFill>
          <a:ln/>
        </p:spPr>
        <p:txBody>
          <a:bodyPr/>
          <a:lstStyle/>
          <a:p>
            <a:endParaRPr lang="zh-CN" altLang="en-US"/>
          </a:p>
        </p:txBody>
      </p:sp>
      <p:sp>
        <p:nvSpPr>
          <p:cNvPr id="21" name="Text 19"/>
          <p:cNvSpPr/>
          <p:nvPr/>
        </p:nvSpPr>
        <p:spPr>
          <a:xfrm>
            <a:off x="6492240" y="1783080"/>
            <a:ext cx="4846320" cy="32004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三大创新点</a:t>
            </a:r>
            <a:endParaRPr lang="en-US" sz="1400" dirty="0"/>
          </a:p>
        </p:txBody>
      </p:sp>
      <p:sp>
        <p:nvSpPr>
          <p:cNvPr id="22" name="Shape 20"/>
          <p:cNvSpPr/>
          <p:nvPr/>
        </p:nvSpPr>
        <p:spPr>
          <a:xfrm>
            <a:off x="6492240" y="2286000"/>
            <a:ext cx="411480" cy="411480"/>
          </a:xfrm>
          <a:prstGeom prst="rect">
            <a:avLst/>
          </a:prstGeom>
          <a:solidFill>
            <a:srgbClr val="C0392B"/>
          </a:solidFill>
          <a:ln/>
        </p:spPr>
        <p:txBody>
          <a:bodyPr/>
          <a:lstStyle/>
          <a:p>
            <a:endParaRPr lang="zh-CN" altLang="en-US"/>
          </a:p>
        </p:txBody>
      </p:sp>
      <p:sp>
        <p:nvSpPr>
          <p:cNvPr id="23" name="Text 21"/>
          <p:cNvSpPr/>
          <p:nvPr/>
        </p:nvSpPr>
        <p:spPr>
          <a:xfrm>
            <a:off x="6492240" y="2286000"/>
            <a:ext cx="411480" cy="411480"/>
          </a:xfrm>
          <a:prstGeom prst="rect">
            <a:avLst/>
          </a:prstGeom>
          <a:noFill/>
          <a:ln/>
        </p:spPr>
        <p:txBody>
          <a:bodyPr wrap="square" rtlCol="0" anchor="ctr"/>
          <a:lstStyle/>
          <a:p>
            <a:pPr marL="0" indent="0" algn="ctr">
              <a:buNone/>
            </a:pPr>
            <a:r>
              <a:rPr lang="en-US" sz="1400" b="1" dirty="0">
                <a:solidFill>
                  <a:srgbClr val="FAFAF7"/>
                </a:solidFill>
                <a:latin typeface="Impact" pitchFamily="34" charset="0"/>
                <a:ea typeface="Impact" pitchFamily="34" charset="-122"/>
                <a:cs typeface="Impact" pitchFamily="34" charset="-120"/>
              </a:rPr>
              <a:t>01</a:t>
            </a:r>
            <a:endParaRPr lang="en-US" sz="1400" dirty="0"/>
          </a:p>
        </p:txBody>
      </p:sp>
      <p:sp>
        <p:nvSpPr>
          <p:cNvPr id="24" name="Text 22"/>
          <p:cNvSpPr/>
          <p:nvPr/>
        </p:nvSpPr>
        <p:spPr>
          <a:xfrm>
            <a:off x="7040880" y="2304288"/>
            <a:ext cx="4297680" cy="228600"/>
          </a:xfrm>
          <a:prstGeom prst="rect">
            <a:avLst/>
          </a:prstGeom>
          <a:noFill/>
          <a:ln/>
        </p:spPr>
        <p:txBody>
          <a:bodyPr wrap="square" rtlCol="0" anchor="ctr"/>
          <a:lstStyle/>
          <a:p>
            <a:pPr marL="0" indent="0">
              <a:buNone/>
            </a:pPr>
            <a:r>
              <a:rPr lang="en-US" sz="1200" b="1" dirty="0">
                <a:solidFill>
                  <a:srgbClr val="2C1810"/>
                </a:solidFill>
                <a:latin typeface="Microsoft YaHei" pitchFamily="34" charset="0"/>
                <a:ea typeface="Microsoft YaHei" pitchFamily="34" charset="-122"/>
                <a:cs typeface="Microsoft YaHei" pitchFamily="34" charset="-120"/>
              </a:rPr>
              <a:t>纯仿真模式</a:t>
            </a:r>
            <a:endParaRPr lang="en-US" sz="1200" dirty="0"/>
          </a:p>
        </p:txBody>
      </p:sp>
      <p:sp>
        <p:nvSpPr>
          <p:cNvPr id="25" name="Text 23"/>
          <p:cNvSpPr/>
          <p:nvPr/>
        </p:nvSpPr>
        <p:spPr>
          <a:xfrm>
            <a:off x="7040880" y="2532888"/>
            <a:ext cx="4297680" cy="22860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零硬件需求，部署于任意 Windows 10/11，降低 90%+ 教学设备投入；可无限次实验</a:t>
            </a:r>
            <a:endParaRPr lang="en-US" sz="900" dirty="0"/>
          </a:p>
        </p:txBody>
      </p:sp>
      <p:sp>
        <p:nvSpPr>
          <p:cNvPr id="26" name="Shape 24"/>
          <p:cNvSpPr/>
          <p:nvPr/>
        </p:nvSpPr>
        <p:spPr>
          <a:xfrm>
            <a:off x="6492240" y="2788920"/>
            <a:ext cx="411480" cy="411480"/>
          </a:xfrm>
          <a:prstGeom prst="rect">
            <a:avLst/>
          </a:prstGeom>
          <a:solidFill>
            <a:srgbClr val="C0392B"/>
          </a:solidFill>
          <a:ln/>
        </p:spPr>
        <p:txBody>
          <a:bodyPr/>
          <a:lstStyle/>
          <a:p>
            <a:endParaRPr lang="zh-CN" altLang="en-US"/>
          </a:p>
        </p:txBody>
      </p:sp>
      <p:sp>
        <p:nvSpPr>
          <p:cNvPr id="27" name="Text 25"/>
          <p:cNvSpPr/>
          <p:nvPr/>
        </p:nvSpPr>
        <p:spPr>
          <a:xfrm>
            <a:off x="6492240" y="2788920"/>
            <a:ext cx="411480" cy="411480"/>
          </a:xfrm>
          <a:prstGeom prst="rect">
            <a:avLst/>
          </a:prstGeom>
          <a:noFill/>
          <a:ln/>
        </p:spPr>
        <p:txBody>
          <a:bodyPr wrap="square" rtlCol="0" anchor="ctr"/>
          <a:lstStyle/>
          <a:p>
            <a:pPr marL="0" indent="0" algn="ctr">
              <a:buNone/>
            </a:pPr>
            <a:r>
              <a:rPr lang="en-US" sz="1400" b="1" dirty="0">
                <a:solidFill>
                  <a:srgbClr val="FAFAF7"/>
                </a:solidFill>
                <a:latin typeface="Impact" pitchFamily="34" charset="0"/>
                <a:ea typeface="Impact" pitchFamily="34" charset="-122"/>
                <a:cs typeface="Impact" pitchFamily="34" charset="-120"/>
              </a:rPr>
              <a:t>02</a:t>
            </a:r>
            <a:endParaRPr lang="en-US" sz="1400" dirty="0"/>
          </a:p>
        </p:txBody>
      </p:sp>
      <p:sp>
        <p:nvSpPr>
          <p:cNvPr id="28" name="Text 26"/>
          <p:cNvSpPr/>
          <p:nvPr/>
        </p:nvSpPr>
        <p:spPr>
          <a:xfrm>
            <a:off x="7040880" y="2807208"/>
            <a:ext cx="4297680" cy="228600"/>
          </a:xfrm>
          <a:prstGeom prst="rect">
            <a:avLst/>
          </a:prstGeom>
          <a:noFill/>
          <a:ln/>
        </p:spPr>
        <p:txBody>
          <a:bodyPr wrap="square" rtlCol="0" anchor="ctr"/>
          <a:lstStyle/>
          <a:p>
            <a:pPr marL="0" indent="0">
              <a:buNone/>
            </a:pPr>
            <a:r>
              <a:rPr lang="en-US" sz="1200" b="1" dirty="0">
                <a:solidFill>
                  <a:srgbClr val="2C1810"/>
                </a:solidFill>
                <a:latin typeface="Microsoft YaHei" pitchFamily="34" charset="0"/>
                <a:ea typeface="Microsoft YaHei" pitchFamily="34" charset="-122"/>
                <a:cs typeface="Microsoft YaHei" pitchFamily="34" charset="-120"/>
              </a:rPr>
              <a:t>四层松耦合架构</a:t>
            </a:r>
            <a:endParaRPr lang="en-US" sz="1200" dirty="0"/>
          </a:p>
        </p:txBody>
      </p:sp>
      <p:sp>
        <p:nvSpPr>
          <p:cNvPr id="29" name="Text 27"/>
          <p:cNvSpPr/>
          <p:nvPr/>
        </p:nvSpPr>
        <p:spPr>
          <a:xfrm>
            <a:off x="7040880" y="3035808"/>
            <a:ext cx="4297680" cy="22860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事件驱动通信，上层不依赖下层实现；单一职责模块化设计，便于扩展与维护</a:t>
            </a:r>
            <a:endParaRPr lang="en-US" sz="900" dirty="0"/>
          </a:p>
        </p:txBody>
      </p:sp>
      <p:sp>
        <p:nvSpPr>
          <p:cNvPr id="30" name="Shape 28"/>
          <p:cNvSpPr/>
          <p:nvPr/>
        </p:nvSpPr>
        <p:spPr>
          <a:xfrm>
            <a:off x="6492240" y="3291840"/>
            <a:ext cx="411480" cy="411480"/>
          </a:xfrm>
          <a:prstGeom prst="rect">
            <a:avLst/>
          </a:prstGeom>
          <a:solidFill>
            <a:srgbClr val="C0392B"/>
          </a:solidFill>
          <a:ln/>
        </p:spPr>
        <p:txBody>
          <a:bodyPr/>
          <a:lstStyle/>
          <a:p>
            <a:endParaRPr lang="zh-CN" altLang="en-US"/>
          </a:p>
        </p:txBody>
      </p:sp>
      <p:sp>
        <p:nvSpPr>
          <p:cNvPr id="31" name="Text 29"/>
          <p:cNvSpPr/>
          <p:nvPr/>
        </p:nvSpPr>
        <p:spPr>
          <a:xfrm>
            <a:off x="6492240" y="3291840"/>
            <a:ext cx="411480" cy="411480"/>
          </a:xfrm>
          <a:prstGeom prst="rect">
            <a:avLst/>
          </a:prstGeom>
          <a:noFill/>
          <a:ln/>
        </p:spPr>
        <p:txBody>
          <a:bodyPr wrap="square" rtlCol="0" anchor="ctr"/>
          <a:lstStyle/>
          <a:p>
            <a:pPr marL="0" indent="0" algn="ctr">
              <a:buNone/>
            </a:pPr>
            <a:r>
              <a:rPr lang="en-US" sz="1400" b="1" dirty="0">
                <a:solidFill>
                  <a:srgbClr val="FAFAF7"/>
                </a:solidFill>
                <a:latin typeface="Impact" pitchFamily="34" charset="0"/>
                <a:ea typeface="Impact" pitchFamily="34" charset="-122"/>
                <a:cs typeface="Impact" pitchFamily="34" charset="-120"/>
              </a:rPr>
              <a:t>03</a:t>
            </a:r>
            <a:endParaRPr lang="en-US" sz="1400" dirty="0"/>
          </a:p>
        </p:txBody>
      </p:sp>
      <p:sp>
        <p:nvSpPr>
          <p:cNvPr id="32" name="Text 30"/>
          <p:cNvSpPr/>
          <p:nvPr/>
        </p:nvSpPr>
        <p:spPr>
          <a:xfrm>
            <a:off x="7040880" y="3310128"/>
            <a:ext cx="4297680" cy="228600"/>
          </a:xfrm>
          <a:prstGeom prst="rect">
            <a:avLst/>
          </a:prstGeom>
          <a:noFill/>
          <a:ln/>
        </p:spPr>
        <p:txBody>
          <a:bodyPr wrap="square" rtlCol="0" anchor="ctr"/>
          <a:lstStyle/>
          <a:p>
            <a:pPr marL="0" indent="0">
              <a:buNone/>
            </a:pPr>
            <a:r>
              <a:rPr lang="en-US" sz="1200" b="1" dirty="0">
                <a:solidFill>
                  <a:srgbClr val="2C1810"/>
                </a:solidFill>
                <a:latin typeface="Microsoft YaHei" pitchFamily="34" charset="0"/>
                <a:ea typeface="Microsoft YaHei" pitchFamily="34" charset="-122"/>
                <a:cs typeface="Microsoft YaHei" pitchFamily="34" charset="-120"/>
              </a:rPr>
              <a:t>数学算法替代人工判定</a:t>
            </a:r>
            <a:endParaRPr lang="en-US" sz="1200" dirty="0"/>
          </a:p>
        </p:txBody>
      </p:sp>
      <p:sp>
        <p:nvSpPr>
          <p:cNvPr id="33" name="Text 31"/>
          <p:cNvSpPr/>
          <p:nvPr/>
        </p:nvSpPr>
        <p:spPr>
          <a:xfrm>
            <a:off x="7040880" y="3538728"/>
            <a:ext cx="4297680" cy="228600"/>
          </a:xfrm>
          <a:prstGeom prst="rect">
            <a:avLst/>
          </a:prstGeom>
          <a:noFill/>
          <a:ln/>
        </p:spPr>
        <p:txBody>
          <a:bodyPr wrap="square" rtlCol="0" anchor="ctr"/>
          <a:lstStyle/>
          <a:p>
            <a:pPr marL="0" indent="0">
              <a:buNone/>
            </a:pPr>
            <a:r>
              <a:rPr lang="en-US" sz="900" dirty="0">
                <a:solidFill>
                  <a:srgbClr val="5D4E44"/>
                </a:solidFill>
                <a:latin typeface="Calibri" pitchFamily="34" charset="0"/>
                <a:ea typeface="Calibri" pitchFamily="34" charset="-122"/>
                <a:cs typeface="Calibri" pitchFamily="34" charset="-120"/>
              </a:rPr>
              <a:t>MathNet 线性回归自动判定温漂，替代人工经验判断；标准化终止条件与 Pass/Fail 公式</a:t>
            </a:r>
            <a:endParaRPr lang="en-US" sz="900" dirty="0"/>
          </a:p>
        </p:txBody>
      </p:sp>
      <p:sp>
        <p:nvSpPr>
          <p:cNvPr id="34" name="Shape 32"/>
          <p:cNvSpPr/>
          <p:nvPr/>
        </p:nvSpPr>
        <p:spPr>
          <a:xfrm>
            <a:off x="548640" y="4114800"/>
            <a:ext cx="11064240" cy="2286000"/>
          </a:xfrm>
          <a:prstGeom prst="rect">
            <a:avLst/>
          </a:prstGeom>
          <a:solidFill>
            <a:srgbClr val="FFFFFF"/>
          </a:solidFill>
          <a:ln w="12700">
            <a:solidFill>
              <a:srgbClr val="F0E8E0"/>
            </a:solidFill>
            <a:prstDash val="solid"/>
          </a:ln>
          <a:effectLst>
            <a:outerShdw blurRad="508" dist="254" dir="16200000" algn="bl" rotWithShape="0">
              <a:srgbClr val="000000">
                <a:alpha val="5000"/>
              </a:srgbClr>
            </a:outerShdw>
          </a:effectLst>
        </p:spPr>
        <p:txBody>
          <a:bodyPr/>
          <a:lstStyle/>
          <a:p>
            <a:endParaRPr lang="zh-CN" altLang="en-US"/>
          </a:p>
        </p:txBody>
      </p:sp>
      <p:sp>
        <p:nvSpPr>
          <p:cNvPr id="35" name="Shape 33"/>
          <p:cNvSpPr/>
          <p:nvPr/>
        </p:nvSpPr>
        <p:spPr>
          <a:xfrm>
            <a:off x="548640" y="4114800"/>
            <a:ext cx="11064240" cy="54864"/>
          </a:xfrm>
          <a:prstGeom prst="rect">
            <a:avLst/>
          </a:prstGeom>
          <a:solidFill>
            <a:srgbClr val="D35400"/>
          </a:solidFill>
          <a:ln/>
        </p:spPr>
        <p:txBody>
          <a:bodyPr/>
          <a:lstStyle/>
          <a:p>
            <a:endParaRPr lang="zh-CN" altLang="en-US"/>
          </a:p>
        </p:txBody>
      </p:sp>
      <p:sp>
        <p:nvSpPr>
          <p:cNvPr id="36" name="Text 34"/>
          <p:cNvSpPr/>
          <p:nvPr/>
        </p:nvSpPr>
        <p:spPr>
          <a:xfrm>
            <a:off x="822960" y="4297680"/>
            <a:ext cx="4572000" cy="320040"/>
          </a:xfrm>
          <a:prstGeom prst="rect">
            <a:avLst/>
          </a:prstGeom>
          <a:noFill/>
          <a:ln/>
        </p:spPr>
        <p:txBody>
          <a:bodyPr wrap="square" rtlCol="0" anchor="ctr"/>
          <a:lstStyle/>
          <a:p>
            <a:pPr marL="0" indent="0">
              <a:buNone/>
            </a:pPr>
            <a:r>
              <a:rPr lang="en-US" sz="1400" b="1" dirty="0">
                <a:solidFill>
                  <a:srgbClr val="2C1810"/>
                </a:solidFill>
                <a:latin typeface="Microsoft YaHei" pitchFamily="34" charset="0"/>
                <a:ea typeface="Microsoft YaHei" pitchFamily="34" charset="-122"/>
                <a:cs typeface="Microsoft YaHei" pitchFamily="34" charset="-120"/>
              </a:rPr>
              <a:t>不足与未来展望</a:t>
            </a:r>
            <a:endParaRPr lang="en-US" sz="1400" dirty="0"/>
          </a:p>
        </p:txBody>
      </p:sp>
      <p:sp>
        <p:nvSpPr>
          <p:cNvPr id="37" name="Text 35"/>
          <p:cNvSpPr/>
          <p:nvPr/>
        </p:nvSpPr>
        <p:spPr>
          <a:xfrm>
            <a:off x="822960" y="4754880"/>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跨平台迁移：评估 Avalonia UI / MAUI，支持 macOS 与 Linux</a:t>
            </a:r>
            <a:endParaRPr lang="en-US" sz="1100" dirty="0"/>
          </a:p>
        </p:txBody>
      </p:sp>
      <p:sp>
        <p:nvSpPr>
          <p:cNvPr id="38" name="Text 36"/>
          <p:cNvSpPr/>
          <p:nvPr/>
        </p:nvSpPr>
        <p:spPr>
          <a:xfrm>
            <a:off x="822960" y="5065776"/>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智能连接：与真实传感器硬件接口对接，实现虚实结合</a:t>
            </a:r>
            <a:endParaRPr lang="en-US" sz="1100" dirty="0"/>
          </a:p>
        </p:txBody>
      </p:sp>
      <p:sp>
        <p:nvSpPr>
          <p:cNvPr id="39" name="Text 37"/>
          <p:cNvSpPr/>
          <p:nvPr/>
        </p:nvSpPr>
        <p:spPr>
          <a:xfrm>
            <a:off x="6492240" y="4754880"/>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AI 增强：引入机器学习模型预测高温下材料行为趋势</a:t>
            </a:r>
            <a:endParaRPr lang="en-US" sz="1100" dirty="0"/>
          </a:p>
        </p:txBody>
      </p:sp>
      <p:sp>
        <p:nvSpPr>
          <p:cNvPr id="40" name="Text 38"/>
          <p:cNvSpPr/>
          <p:nvPr/>
        </p:nvSpPr>
        <p:spPr>
          <a:xfrm>
            <a:off x="6492240" y="5065776"/>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云端化：试验数据云同步 + Web 端远程监控 Dashboard</a:t>
            </a:r>
            <a:endParaRPr lang="en-US" sz="1100" dirty="0"/>
          </a:p>
        </p:txBody>
      </p:sp>
      <p:sp>
        <p:nvSpPr>
          <p:cNvPr id="41" name="Text 39"/>
          <p:cNvSpPr/>
          <p:nvPr/>
        </p:nvSpPr>
        <p:spPr>
          <a:xfrm>
            <a:off x="6492240" y="5376672"/>
            <a:ext cx="5303520" cy="274320"/>
          </a:xfrm>
          <a:prstGeom prst="rect">
            <a:avLst/>
          </a:prstGeom>
          <a:noFill/>
          <a:ln/>
        </p:spPr>
        <p:txBody>
          <a:bodyPr wrap="square" rtlCol="0" anchor="ctr"/>
          <a:lstStyle/>
          <a:p>
            <a:pPr marL="0" indent="0">
              <a:buNone/>
            </a:pPr>
            <a:r>
              <a:rPr lang="en-US" sz="1100" dirty="0">
                <a:solidFill>
                  <a:srgbClr val="2C1810"/>
                </a:solidFill>
                <a:latin typeface="Calibri" pitchFamily="34" charset="0"/>
                <a:ea typeface="Calibri" pitchFamily="34" charset="-122"/>
                <a:cs typeface="Calibri" pitchFamily="34" charset="-120"/>
              </a:rPr>
              <a:t>📦 批量测试：支持多通道并行仿真，满足大规模教学需求</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0392B"/>
          </a:solidFill>
          <a:ln/>
        </p:spPr>
        <p:txBody>
          <a:bodyPr/>
          <a:lstStyle/>
          <a:p>
            <a:endParaRPr lang="zh-CN" altLang="en-US"/>
          </a:p>
        </p:txBody>
      </p:sp>
      <p:sp>
        <p:nvSpPr>
          <p:cNvPr id="3" name="Shape 1"/>
          <p:cNvSpPr/>
          <p:nvPr/>
        </p:nvSpPr>
        <p:spPr>
          <a:xfrm>
            <a:off x="0" y="54864"/>
            <a:ext cx="12191695" cy="27432"/>
          </a:xfrm>
          <a:prstGeom prst="rect">
            <a:avLst/>
          </a:prstGeom>
          <a:solidFill>
            <a:srgbClr val="E67E22"/>
          </a:solidFill>
          <a:ln/>
        </p:spPr>
        <p:txBody>
          <a:bodyPr/>
          <a:lstStyle/>
          <a:p>
            <a:endParaRPr lang="zh-CN" altLang="en-US"/>
          </a:p>
        </p:txBody>
      </p:sp>
      <p:sp>
        <p:nvSpPr>
          <p:cNvPr id="4" name="Shape 2"/>
          <p:cNvSpPr/>
          <p:nvPr/>
        </p:nvSpPr>
        <p:spPr>
          <a:xfrm>
            <a:off x="0" y="82296"/>
            <a:ext cx="12191695" cy="18288"/>
          </a:xfrm>
          <a:prstGeom prst="rect">
            <a:avLst/>
          </a:prstGeom>
          <a:solidFill>
            <a:srgbClr val="F39C12"/>
          </a:solidFill>
          <a:ln/>
        </p:spPr>
        <p:txBody>
          <a:bodyPr/>
          <a:lstStyle/>
          <a:p>
            <a:endParaRPr lang="zh-CN" altLang="en-US"/>
          </a:p>
        </p:txBody>
      </p:sp>
      <p:sp>
        <p:nvSpPr>
          <p:cNvPr id="5" name="Shape 3"/>
          <p:cNvSpPr/>
          <p:nvPr/>
        </p:nvSpPr>
        <p:spPr>
          <a:xfrm>
            <a:off x="5394960" y="1828800"/>
            <a:ext cx="1371600" cy="36576"/>
          </a:xfrm>
          <a:prstGeom prst="rect">
            <a:avLst/>
          </a:prstGeom>
          <a:solidFill>
            <a:srgbClr val="C0392B"/>
          </a:solidFill>
          <a:ln/>
        </p:spPr>
        <p:txBody>
          <a:bodyPr/>
          <a:lstStyle/>
          <a:p>
            <a:endParaRPr lang="zh-CN" altLang="en-US"/>
          </a:p>
        </p:txBody>
      </p:sp>
      <p:sp>
        <p:nvSpPr>
          <p:cNvPr id="6" name="Text 4"/>
          <p:cNvSpPr/>
          <p:nvPr/>
        </p:nvSpPr>
        <p:spPr>
          <a:xfrm>
            <a:off x="1371600" y="2103120"/>
            <a:ext cx="9418320" cy="1097280"/>
          </a:xfrm>
          <a:prstGeom prst="rect">
            <a:avLst/>
          </a:prstGeom>
          <a:noFill/>
          <a:ln/>
        </p:spPr>
        <p:txBody>
          <a:bodyPr wrap="square" rtlCol="0" anchor="ctr"/>
          <a:lstStyle/>
          <a:p>
            <a:pPr marL="0" indent="0" algn="ctr">
              <a:buNone/>
            </a:pPr>
            <a:r>
              <a:rPr lang="en-US" sz="4200" b="1" dirty="0">
                <a:solidFill>
                  <a:srgbClr val="FAFAF7"/>
                </a:solidFill>
                <a:latin typeface="Microsoft YaHei" pitchFamily="34" charset="0"/>
                <a:ea typeface="Microsoft YaHei" pitchFamily="34" charset="-122"/>
                <a:cs typeface="Microsoft YaHei" pitchFamily="34" charset="-120"/>
              </a:rPr>
              <a:t>敬请各位老师批评指正</a:t>
            </a:r>
            <a:endParaRPr lang="en-US" sz="4200" dirty="0"/>
          </a:p>
        </p:txBody>
      </p:sp>
      <p:sp>
        <p:nvSpPr>
          <p:cNvPr id="7" name="Shape 5"/>
          <p:cNvSpPr/>
          <p:nvPr/>
        </p:nvSpPr>
        <p:spPr>
          <a:xfrm>
            <a:off x="5394960" y="3383280"/>
            <a:ext cx="1371600" cy="36576"/>
          </a:xfrm>
          <a:prstGeom prst="rect">
            <a:avLst/>
          </a:prstGeom>
          <a:solidFill>
            <a:srgbClr val="E67E22"/>
          </a:solidFill>
          <a:ln/>
        </p:spPr>
        <p:txBody>
          <a:bodyPr/>
          <a:lstStyle/>
          <a:p>
            <a:endParaRPr lang="zh-CN" altLang="en-US"/>
          </a:p>
        </p:txBody>
      </p:sp>
      <p:sp>
        <p:nvSpPr>
          <p:cNvPr id="8" name="Text 6"/>
          <p:cNvSpPr/>
          <p:nvPr/>
        </p:nvSpPr>
        <p:spPr>
          <a:xfrm>
            <a:off x="1371600" y="3657600"/>
            <a:ext cx="9418320" cy="731520"/>
          </a:xfrm>
          <a:prstGeom prst="rect">
            <a:avLst/>
          </a:prstGeom>
          <a:noFill/>
          <a:ln/>
        </p:spPr>
        <p:txBody>
          <a:bodyPr wrap="square" rtlCol="0" anchor="ctr"/>
          <a:lstStyle/>
          <a:p>
            <a:pPr marL="0" indent="0" algn="ctr">
              <a:buNone/>
            </a:pPr>
            <a:r>
              <a:rPr lang="en-US" sz="2000" kern="0" spc="600" dirty="0">
                <a:solidFill>
                  <a:srgbClr val="E67E22"/>
                </a:solidFill>
                <a:latin typeface="Calibri" pitchFamily="34" charset="0"/>
                <a:ea typeface="Calibri" pitchFamily="34" charset="-122"/>
                <a:cs typeface="Calibri" pitchFamily="34" charset="-120"/>
              </a:rPr>
              <a:t>THANK YOU</a:t>
            </a:r>
            <a:endParaRPr lang="en-US" sz="2000" dirty="0"/>
          </a:p>
        </p:txBody>
      </p:sp>
      <p:sp>
        <p:nvSpPr>
          <p:cNvPr id="9" name="Text 7"/>
          <p:cNvSpPr/>
          <p:nvPr/>
        </p:nvSpPr>
        <p:spPr>
          <a:xfrm>
            <a:off x="1371600" y="5029200"/>
            <a:ext cx="9418320" cy="457200"/>
          </a:xfrm>
          <a:prstGeom prst="rect">
            <a:avLst/>
          </a:prstGeom>
          <a:noFill/>
          <a:ln/>
        </p:spPr>
        <p:txBody>
          <a:bodyPr wrap="square" rtlCol="0" anchor="ctr"/>
          <a:lstStyle/>
          <a:p>
            <a:pPr algn="ctr"/>
            <a:r>
              <a:rPr lang="en-US" sz="1400" dirty="0" err="1">
                <a:solidFill>
                  <a:srgbClr val="A09088"/>
                </a:solidFill>
                <a:latin typeface="Microsoft YaHei" pitchFamily="34" charset="0"/>
                <a:ea typeface="Microsoft YaHei" pitchFamily="34" charset="-122"/>
                <a:cs typeface="Microsoft YaHei" pitchFamily="34" charset="-120"/>
              </a:rPr>
              <a:t>团队成员</a:t>
            </a:r>
            <a:r>
              <a:rPr lang="zh-CN" altLang="en-US" sz="1400" dirty="0">
                <a:solidFill>
                  <a:srgbClr val="A09088"/>
                </a:solidFill>
                <a:latin typeface="Microsoft YaHei" pitchFamily="34" charset="0"/>
                <a:ea typeface="Microsoft YaHei" pitchFamily="34" charset="-122"/>
                <a:cs typeface="Microsoft YaHei" pitchFamily="34" charset="-120"/>
              </a:rPr>
              <a:t>：</a:t>
            </a:r>
            <a:r>
              <a:rPr lang="zh-CN" altLang="en-US" sz="1400" dirty="0">
                <a:solidFill>
                  <a:srgbClr val="BFB5AF"/>
                </a:solidFill>
                <a:latin typeface="Calibri" pitchFamily="34" charset="0"/>
                <a:ea typeface="Calibri" pitchFamily="34" charset="-122"/>
                <a:cs typeface="Calibri" pitchFamily="34" charset="-120"/>
              </a:rPr>
              <a:t>李孟鲜、兰竣雯、廖紫彤、龚小倩</a:t>
            </a:r>
            <a:endParaRPr lang="en-US" sz="1400" dirty="0"/>
          </a:p>
        </p:txBody>
      </p:sp>
      <p:sp>
        <p:nvSpPr>
          <p:cNvPr id="10" name="Text 8"/>
          <p:cNvSpPr/>
          <p:nvPr/>
        </p:nvSpPr>
        <p:spPr>
          <a:xfrm>
            <a:off x="1371600" y="5669280"/>
            <a:ext cx="9418320" cy="365760"/>
          </a:xfrm>
          <a:prstGeom prst="rect">
            <a:avLst/>
          </a:prstGeom>
          <a:noFill/>
          <a:ln/>
        </p:spPr>
        <p:txBody>
          <a:bodyPr wrap="square" rtlCol="0" anchor="ctr"/>
          <a:lstStyle/>
          <a:p>
            <a:pPr marL="0" indent="0" algn="ctr">
              <a:buNone/>
            </a:pPr>
            <a:r>
              <a:rPr lang="en-US" sz="1200" dirty="0">
                <a:solidFill>
                  <a:srgbClr val="BFB5AF"/>
                </a:solidFill>
                <a:latin typeface="Calibri" pitchFamily="34" charset="0"/>
                <a:ea typeface="Calibri" pitchFamily="34" charset="-122"/>
                <a:cs typeface="Calibri" pitchFamily="34" charset="-120"/>
              </a:rPr>
              <a:t>ISO 11820 建筑材料不燃性试验仿真系统</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310</TotalTime>
  <Words>1571</Words>
  <Application>Microsoft Office PowerPoint</Application>
  <PresentationFormat>宽屏</PresentationFormat>
  <Paragraphs>476</Paragraphs>
  <Slides>20</Slides>
  <Notes>20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Microsoft YaHei</vt:lpstr>
      <vt:lpstr>Microsoft YaHei</vt:lpstr>
      <vt:lpstr>Arial</vt:lpstr>
      <vt:lpstr>Arial Black</vt:lpstr>
      <vt:lpstr>Calibri</vt:lpstr>
      <vt:lpstr>Consolas</vt:lpstr>
      <vt:lpstr>Impact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mengxian li</cp:lastModifiedBy>
  <cp:revision>3</cp:revision>
  <dcterms:created xsi:type="dcterms:W3CDTF">2026-07-04T09:37:28Z</dcterms:created>
  <dcterms:modified xsi:type="dcterms:W3CDTF">2026-07-04T15:03:29Z</dcterms:modified>
</cp:coreProperties>
</file>